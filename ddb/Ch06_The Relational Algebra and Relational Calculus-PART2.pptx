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notesMasterIdLst>
    <p:notesMasterId r:id="rId22"/>
  </p:notesMasterIdLst>
  <p:handoutMasterIdLst>
    <p:handoutMasterId r:id="rId23"/>
  </p:handoutMasterIdLst>
  <p:sldIdLst>
    <p:sldId id="282" r:id="rId2"/>
    <p:sldId id="324" r:id="rId3"/>
    <p:sldId id="339" r:id="rId4"/>
    <p:sldId id="441" r:id="rId5"/>
    <p:sldId id="442" r:id="rId6"/>
    <p:sldId id="380" r:id="rId7"/>
    <p:sldId id="443" r:id="rId8"/>
    <p:sldId id="405" r:id="rId9"/>
    <p:sldId id="340" r:id="rId10"/>
    <p:sldId id="343" r:id="rId11"/>
    <p:sldId id="344" r:id="rId12"/>
    <p:sldId id="404" r:id="rId13"/>
    <p:sldId id="345" r:id="rId14"/>
    <p:sldId id="346" r:id="rId15"/>
    <p:sldId id="348" r:id="rId16"/>
    <p:sldId id="349" r:id="rId17"/>
    <p:sldId id="407" r:id="rId18"/>
    <p:sldId id="350" r:id="rId19"/>
    <p:sldId id="364" r:id="rId20"/>
    <p:sldId id="430" r:id="rId21"/>
  </p:sldIdLst>
  <p:sldSz cx="9144000" cy="6858000" type="letter"/>
  <p:notesSz cx="6858000" cy="9144000"/>
  <p:defaultTextStyle>
    <a:defPPr>
      <a:defRPr lang="en-CA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77228"/>
    <a:srgbClr val="6E792B"/>
    <a:srgbClr val="76822E"/>
    <a:srgbClr val="4F571F"/>
    <a:srgbClr val="6F6A07"/>
    <a:srgbClr val="827C08"/>
    <a:srgbClr val="FFFF00"/>
    <a:srgbClr val="99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000" autoAdjust="0"/>
    <p:restoredTop sz="94660"/>
  </p:normalViewPr>
  <p:slideViewPr>
    <p:cSldViewPr snapToObjects="1">
      <p:cViewPr varScale="1">
        <p:scale>
          <a:sx n="74" d="100"/>
          <a:sy n="74" d="100"/>
        </p:scale>
        <p:origin x="1494" y="66"/>
      </p:cViewPr>
      <p:guideLst>
        <p:guide orient="horz" pos="19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8851"/>
    </p:cViewPr>
  </p:sorterViewPr>
  <p:notesViewPr>
    <p:cSldViewPr snapToObjects="1">
      <p:cViewPr>
        <p:scale>
          <a:sx n="100" d="100"/>
          <a:sy n="100" d="100"/>
        </p:scale>
        <p:origin x="-780" y="2172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>
            <a:extLst>
              <a:ext uri="{FF2B5EF4-FFF2-40B4-BE49-F238E27FC236}">
                <a16:creationId xmlns:a16="http://schemas.microsoft.com/office/drawing/2014/main" xmlns="" id="{E4D9269F-9750-497B-AD96-D883F086C492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smtClean="0">
                <a:latin typeface="Tahoma" pitchFamily="34" charset="0"/>
              </a:defRPr>
            </a:lvl1pPr>
          </a:lstStyle>
          <a:p>
            <a:pPr>
              <a:defRPr/>
            </a:pPr>
            <a:endParaRPr lang="en-CA"/>
          </a:p>
        </p:txBody>
      </p:sp>
      <p:sp>
        <p:nvSpPr>
          <p:cNvPr id="60419" name="Rectangle 3">
            <a:extLst>
              <a:ext uri="{FF2B5EF4-FFF2-40B4-BE49-F238E27FC236}">
                <a16:creationId xmlns:a16="http://schemas.microsoft.com/office/drawing/2014/main" xmlns="" id="{D3CD46B8-156E-4DD2-888A-43756FC9C6E8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smtClean="0">
                <a:latin typeface="Tahoma" pitchFamily="34" charset="0"/>
              </a:defRPr>
            </a:lvl1pPr>
          </a:lstStyle>
          <a:p>
            <a:pPr>
              <a:defRPr/>
            </a:pPr>
            <a:endParaRPr lang="en-CA"/>
          </a:p>
        </p:txBody>
      </p:sp>
      <p:sp>
        <p:nvSpPr>
          <p:cNvPr id="60420" name="Rectangle 4">
            <a:extLst>
              <a:ext uri="{FF2B5EF4-FFF2-40B4-BE49-F238E27FC236}">
                <a16:creationId xmlns:a16="http://schemas.microsoft.com/office/drawing/2014/main" xmlns="" id="{04DE0EC8-298E-484C-8285-CCE219335EE3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smtClean="0">
                <a:latin typeface="Tahoma" pitchFamily="34" charset="0"/>
              </a:defRPr>
            </a:lvl1pPr>
          </a:lstStyle>
          <a:p>
            <a:pPr>
              <a:defRPr/>
            </a:pPr>
            <a:endParaRPr lang="en-CA"/>
          </a:p>
        </p:txBody>
      </p:sp>
      <p:sp>
        <p:nvSpPr>
          <p:cNvPr id="60421" name="Rectangle 5">
            <a:extLst>
              <a:ext uri="{FF2B5EF4-FFF2-40B4-BE49-F238E27FC236}">
                <a16:creationId xmlns:a16="http://schemas.microsoft.com/office/drawing/2014/main" xmlns="" id="{CDF97F75-ABFB-4D1D-A2D6-88BC0B943333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ahoma" panose="020B0604030504040204" pitchFamily="34" charset="0"/>
              </a:defRPr>
            </a:lvl1pPr>
          </a:lstStyle>
          <a:p>
            <a:fld id="{8F085953-BAF3-4C72-A6F6-6915AB1E7CC5}" type="slidenum">
              <a:rPr lang="en-CA" altLang="en-US"/>
              <a:pPr/>
              <a:t>‹#›</a:t>
            </a:fld>
            <a:endParaRPr lang="en-CA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>
            <a:extLst>
              <a:ext uri="{FF2B5EF4-FFF2-40B4-BE49-F238E27FC236}">
                <a16:creationId xmlns:a16="http://schemas.microsoft.com/office/drawing/2014/main" xmlns="" id="{4FD04E48-6264-4456-A384-0322E3B8C527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smtClean="0">
                <a:latin typeface="Tahoma" pitchFamily="34" charset="0"/>
              </a:defRPr>
            </a:lvl1pPr>
          </a:lstStyle>
          <a:p>
            <a:pPr>
              <a:defRPr/>
            </a:pPr>
            <a:endParaRPr lang="en-CA"/>
          </a:p>
        </p:txBody>
      </p:sp>
      <p:sp>
        <p:nvSpPr>
          <p:cNvPr id="61443" name="Rectangle 3">
            <a:extLst>
              <a:ext uri="{FF2B5EF4-FFF2-40B4-BE49-F238E27FC236}">
                <a16:creationId xmlns:a16="http://schemas.microsoft.com/office/drawing/2014/main" xmlns="" id="{2E2F5BB9-5635-4731-A1CD-37D76F53CBEB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smtClean="0">
                <a:latin typeface="Tahoma" pitchFamily="34" charset="0"/>
              </a:defRPr>
            </a:lvl1pPr>
          </a:lstStyle>
          <a:p>
            <a:pPr>
              <a:defRPr/>
            </a:pPr>
            <a:endParaRPr lang="en-CA"/>
          </a:p>
        </p:txBody>
      </p:sp>
      <p:sp>
        <p:nvSpPr>
          <p:cNvPr id="77828" name="Rectangle 4">
            <a:extLst>
              <a:ext uri="{FF2B5EF4-FFF2-40B4-BE49-F238E27FC236}">
                <a16:creationId xmlns:a16="http://schemas.microsoft.com/office/drawing/2014/main" xmlns="" id="{A10F0E43-AE07-402B-A430-A7AC802D3B42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61445" name="Rectangle 5">
            <a:extLst>
              <a:ext uri="{FF2B5EF4-FFF2-40B4-BE49-F238E27FC236}">
                <a16:creationId xmlns:a16="http://schemas.microsoft.com/office/drawing/2014/main" xmlns="" id="{75E84622-930F-425D-8515-2480F33F00E2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CA" noProof="0"/>
              <a:t>Click to edit Master text styles</a:t>
            </a:r>
          </a:p>
          <a:p>
            <a:pPr lvl="1"/>
            <a:r>
              <a:rPr lang="en-CA" noProof="0"/>
              <a:t>Second level</a:t>
            </a:r>
          </a:p>
          <a:p>
            <a:pPr lvl="2"/>
            <a:r>
              <a:rPr lang="en-CA" noProof="0"/>
              <a:t>Third level</a:t>
            </a:r>
          </a:p>
          <a:p>
            <a:pPr lvl="3"/>
            <a:r>
              <a:rPr lang="en-CA" noProof="0"/>
              <a:t>Fourth level</a:t>
            </a:r>
          </a:p>
          <a:p>
            <a:pPr lvl="4"/>
            <a:r>
              <a:rPr lang="en-CA" noProof="0"/>
              <a:t>Fifth level</a:t>
            </a:r>
          </a:p>
        </p:txBody>
      </p:sp>
      <p:sp>
        <p:nvSpPr>
          <p:cNvPr id="61446" name="Rectangle 6">
            <a:extLst>
              <a:ext uri="{FF2B5EF4-FFF2-40B4-BE49-F238E27FC236}">
                <a16:creationId xmlns:a16="http://schemas.microsoft.com/office/drawing/2014/main" xmlns="" id="{6A5B32B9-CDD8-48B2-B7EC-E4E179FE2D59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smtClean="0">
                <a:latin typeface="Tahoma" pitchFamily="34" charset="0"/>
              </a:defRPr>
            </a:lvl1pPr>
          </a:lstStyle>
          <a:p>
            <a:pPr>
              <a:defRPr/>
            </a:pPr>
            <a:endParaRPr lang="en-CA"/>
          </a:p>
        </p:txBody>
      </p:sp>
      <p:sp>
        <p:nvSpPr>
          <p:cNvPr id="61447" name="Rectangle 7">
            <a:extLst>
              <a:ext uri="{FF2B5EF4-FFF2-40B4-BE49-F238E27FC236}">
                <a16:creationId xmlns:a16="http://schemas.microsoft.com/office/drawing/2014/main" xmlns="" id="{414F9324-2DE5-481B-84EA-FA8086479F7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ahoma" panose="020B0604030504040204" pitchFamily="34" charset="0"/>
              </a:defRPr>
            </a:lvl1pPr>
          </a:lstStyle>
          <a:p>
            <a:fld id="{72E9EF88-0635-4F78-9CD7-64FE7DAE829C}" type="slidenum">
              <a:rPr lang="en-CA" altLang="en-US"/>
              <a:pPr/>
              <a:t>‹#›</a:t>
            </a:fld>
            <a:endParaRPr lang="en-CA" altLang="en-US"/>
          </a:p>
        </p:txBody>
      </p:sp>
    </p:spTree>
    <p:extLst>
      <p:ext uri="{BB962C8B-B14F-4D97-AF65-F5344CB8AC3E}">
        <p14:creationId xmlns:p14="http://schemas.microsoft.com/office/powerpoint/2010/main" val="169502804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6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7">
            <a:extLst>
              <a:ext uri="{FF2B5EF4-FFF2-40B4-BE49-F238E27FC236}">
                <a16:creationId xmlns:a16="http://schemas.microsoft.com/office/drawing/2014/main" xmlns="" id="{981205CF-5575-435E-999F-8855BC41542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EED7C5A1-2E58-4077-988F-7D486E3637B4}" type="slidenum">
              <a:rPr lang="en-CA" altLang="en-US" sz="1200">
                <a:latin typeface="Tahoma" panose="020B0604030504040204" pitchFamily="34" charset="0"/>
              </a:rPr>
              <a:pPr eaLnBrk="1" hangingPunct="1"/>
              <a:t>1</a:t>
            </a:fld>
            <a:endParaRPr lang="en-CA" altLang="en-US" sz="1200">
              <a:latin typeface="Tahoma" panose="020B0604030504040204" pitchFamily="34" charset="0"/>
            </a:endParaRPr>
          </a:p>
        </p:txBody>
      </p:sp>
      <p:sp>
        <p:nvSpPr>
          <p:cNvPr id="78851" name="Rectangle 2">
            <a:extLst>
              <a:ext uri="{FF2B5EF4-FFF2-40B4-BE49-F238E27FC236}">
                <a16:creationId xmlns:a16="http://schemas.microsoft.com/office/drawing/2014/main" xmlns="" id="{A8CD1621-09C0-4B39-BC7D-3322E553455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8852" name="Rectangle 3">
            <a:extLst>
              <a:ext uri="{FF2B5EF4-FFF2-40B4-BE49-F238E27FC236}">
                <a16:creationId xmlns:a16="http://schemas.microsoft.com/office/drawing/2014/main" xmlns="" id="{35A21750-1671-4DF4-B097-457474D4806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655726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7">
            <a:extLst>
              <a:ext uri="{FF2B5EF4-FFF2-40B4-BE49-F238E27FC236}">
                <a16:creationId xmlns:a16="http://schemas.microsoft.com/office/drawing/2014/main" xmlns="" id="{43DD7132-0447-454F-8239-FB336883122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C7EEDF52-20AE-471A-938A-C41E37FC65BD}" type="slidenum">
              <a:rPr lang="en-CA" altLang="en-US" sz="1200">
                <a:latin typeface="Tahoma" panose="020B0604030504040204" pitchFamily="34" charset="0"/>
              </a:rPr>
              <a:pPr eaLnBrk="1" hangingPunct="1"/>
              <a:t>2</a:t>
            </a:fld>
            <a:endParaRPr lang="en-CA" altLang="en-US" sz="1200">
              <a:latin typeface="Tahoma" panose="020B0604030504040204" pitchFamily="34" charset="0"/>
            </a:endParaRPr>
          </a:p>
        </p:txBody>
      </p:sp>
      <p:sp>
        <p:nvSpPr>
          <p:cNvPr id="79875" name="Rectangle 2">
            <a:extLst>
              <a:ext uri="{FF2B5EF4-FFF2-40B4-BE49-F238E27FC236}">
                <a16:creationId xmlns:a16="http://schemas.microsoft.com/office/drawing/2014/main" xmlns="" id="{BF9038E4-78DE-436B-8EA3-B04922A093B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9876" name="Rectangle 3">
            <a:extLst>
              <a:ext uri="{FF2B5EF4-FFF2-40B4-BE49-F238E27FC236}">
                <a16:creationId xmlns:a16="http://schemas.microsoft.com/office/drawing/2014/main" xmlns="" id="{7E7D9A64-9F79-41A5-81B1-35625325D99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896582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Rectangle 7">
            <a:extLst>
              <a:ext uri="{FF2B5EF4-FFF2-40B4-BE49-F238E27FC236}">
                <a16:creationId xmlns:a16="http://schemas.microsoft.com/office/drawing/2014/main" xmlns="" id="{C9513843-F563-4F74-B082-3911D8E88F4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2F6C1C42-5102-4199-BED6-BEDC349AF236}" type="slidenum">
              <a:rPr lang="en-CA" altLang="en-US" sz="1200">
                <a:latin typeface="Tahoma" panose="020B0604030504040204" pitchFamily="34" charset="0"/>
              </a:rPr>
              <a:pPr eaLnBrk="1" hangingPunct="1"/>
              <a:t>3</a:t>
            </a:fld>
            <a:endParaRPr lang="en-CA" altLang="en-US" sz="1200">
              <a:latin typeface="Tahoma" panose="020B0604030504040204" pitchFamily="34" charset="0"/>
            </a:endParaRPr>
          </a:p>
        </p:txBody>
      </p:sp>
      <p:sp>
        <p:nvSpPr>
          <p:cNvPr id="100355" name="Rectangle 2">
            <a:extLst>
              <a:ext uri="{FF2B5EF4-FFF2-40B4-BE49-F238E27FC236}">
                <a16:creationId xmlns:a16="http://schemas.microsoft.com/office/drawing/2014/main" xmlns="" id="{D630D22F-288A-4D6F-B6BF-B48976DF155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0356" name="Rectangle 3">
            <a:extLst>
              <a:ext uri="{FF2B5EF4-FFF2-40B4-BE49-F238E27FC236}">
                <a16:creationId xmlns:a16="http://schemas.microsoft.com/office/drawing/2014/main" xmlns="" id="{D98FAA70-5807-4772-88CD-AA050B757D4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180937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7">
            <a:extLst>
              <a:ext uri="{FF2B5EF4-FFF2-40B4-BE49-F238E27FC236}">
                <a16:creationId xmlns:a16="http://schemas.microsoft.com/office/drawing/2014/main" xmlns="" id="{7E808062-AED5-43F6-ADC8-F39ED6DA2DD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ABF2D544-BA6A-40A0-91F2-659DC725B39D}" type="slidenum">
              <a:rPr lang="en-CA" altLang="en-US" sz="1200">
                <a:latin typeface="Tahoma" panose="020B0604030504040204" pitchFamily="34" charset="0"/>
              </a:rPr>
              <a:pPr eaLnBrk="1" hangingPunct="1"/>
              <a:t>4</a:t>
            </a:fld>
            <a:endParaRPr lang="en-CA" altLang="en-US" sz="1200">
              <a:latin typeface="Tahoma" panose="020B0604030504040204" pitchFamily="34" charset="0"/>
            </a:endParaRPr>
          </a:p>
        </p:txBody>
      </p:sp>
      <p:sp>
        <p:nvSpPr>
          <p:cNvPr id="101379" name="Rectangle 2">
            <a:extLst>
              <a:ext uri="{FF2B5EF4-FFF2-40B4-BE49-F238E27FC236}">
                <a16:creationId xmlns:a16="http://schemas.microsoft.com/office/drawing/2014/main" xmlns="" id="{0FECFFFC-68A0-48C1-9CE3-A1FE74C71D5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1380" name="Rectangle 3">
            <a:extLst>
              <a:ext uri="{FF2B5EF4-FFF2-40B4-BE49-F238E27FC236}">
                <a16:creationId xmlns:a16="http://schemas.microsoft.com/office/drawing/2014/main" xmlns="" id="{13491CF4-9D91-476F-951D-B3AEC66628D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3925749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7">
            <a:extLst>
              <a:ext uri="{FF2B5EF4-FFF2-40B4-BE49-F238E27FC236}">
                <a16:creationId xmlns:a16="http://schemas.microsoft.com/office/drawing/2014/main" xmlns="" id="{7E808062-AED5-43F6-ADC8-F39ED6DA2DD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ABF2D544-BA6A-40A0-91F2-659DC725B39D}" type="slidenum">
              <a:rPr lang="en-CA" altLang="en-US" sz="1200">
                <a:latin typeface="Tahoma" panose="020B0604030504040204" pitchFamily="34" charset="0"/>
              </a:rPr>
              <a:pPr eaLnBrk="1" hangingPunct="1"/>
              <a:t>6</a:t>
            </a:fld>
            <a:endParaRPr lang="en-CA" altLang="en-US" sz="1200">
              <a:latin typeface="Tahoma" panose="020B0604030504040204" pitchFamily="34" charset="0"/>
            </a:endParaRPr>
          </a:p>
        </p:txBody>
      </p:sp>
      <p:sp>
        <p:nvSpPr>
          <p:cNvPr id="101379" name="Rectangle 2">
            <a:extLst>
              <a:ext uri="{FF2B5EF4-FFF2-40B4-BE49-F238E27FC236}">
                <a16:creationId xmlns:a16="http://schemas.microsoft.com/office/drawing/2014/main" xmlns="" id="{0FECFFFC-68A0-48C1-9CE3-A1FE74C71D5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1380" name="Rectangle 3">
            <a:extLst>
              <a:ext uri="{FF2B5EF4-FFF2-40B4-BE49-F238E27FC236}">
                <a16:creationId xmlns:a16="http://schemas.microsoft.com/office/drawing/2014/main" xmlns="" id="{13491CF4-9D91-476F-951D-B3AEC66628D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3224155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7">
            <a:extLst>
              <a:ext uri="{FF2B5EF4-FFF2-40B4-BE49-F238E27FC236}">
                <a16:creationId xmlns:a16="http://schemas.microsoft.com/office/drawing/2014/main" xmlns="" id="{38B96084-7CE7-4A66-BEF2-C0BD6D841D7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D934D27A-D9E7-48E4-A2D7-06850A9093C0}" type="slidenum">
              <a:rPr lang="en-CA" altLang="en-US" sz="1200">
                <a:latin typeface="Tahoma" panose="020B0604030504040204" pitchFamily="34" charset="0"/>
              </a:rPr>
              <a:pPr eaLnBrk="1" hangingPunct="1"/>
              <a:t>8</a:t>
            </a:fld>
            <a:endParaRPr lang="en-CA" altLang="en-US" sz="1200">
              <a:latin typeface="Tahoma" panose="020B0604030504040204" pitchFamily="34" charset="0"/>
            </a:endParaRPr>
          </a:p>
        </p:txBody>
      </p:sp>
      <p:sp>
        <p:nvSpPr>
          <p:cNvPr id="102403" name="Rectangle 2">
            <a:extLst>
              <a:ext uri="{FF2B5EF4-FFF2-40B4-BE49-F238E27FC236}">
                <a16:creationId xmlns:a16="http://schemas.microsoft.com/office/drawing/2014/main" xmlns="" id="{9B9A5576-3F10-41AD-B7DD-EDAE4742219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04" name="Rectangle 3">
            <a:extLst>
              <a:ext uri="{FF2B5EF4-FFF2-40B4-BE49-F238E27FC236}">
                <a16:creationId xmlns:a16="http://schemas.microsoft.com/office/drawing/2014/main" xmlns="" id="{F73065AD-EC3F-4E3E-B236-CB4D55173AD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7890441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Rectangle 7">
            <a:extLst>
              <a:ext uri="{FF2B5EF4-FFF2-40B4-BE49-F238E27FC236}">
                <a16:creationId xmlns:a16="http://schemas.microsoft.com/office/drawing/2014/main" xmlns="" id="{799269E0-7E65-44C2-8B15-644BB22D5D1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21C910EF-CEB3-416F-A72F-2F59CDB1B69E}" type="slidenum">
              <a:rPr lang="en-CA" altLang="en-US" sz="1200">
                <a:latin typeface="Tahoma" panose="020B0604030504040204" pitchFamily="34" charset="0"/>
              </a:rPr>
              <a:pPr eaLnBrk="1" hangingPunct="1"/>
              <a:t>9</a:t>
            </a:fld>
            <a:endParaRPr lang="en-CA" altLang="en-US" sz="1200">
              <a:latin typeface="Tahoma" panose="020B0604030504040204" pitchFamily="34" charset="0"/>
            </a:endParaRPr>
          </a:p>
        </p:txBody>
      </p:sp>
      <p:sp>
        <p:nvSpPr>
          <p:cNvPr id="103427" name="Rectangle 2">
            <a:extLst>
              <a:ext uri="{FF2B5EF4-FFF2-40B4-BE49-F238E27FC236}">
                <a16:creationId xmlns:a16="http://schemas.microsoft.com/office/drawing/2014/main" xmlns="" id="{BA9A5887-4FF8-406B-A7DD-948D86E459D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3428" name="Rectangle 3">
            <a:extLst>
              <a:ext uri="{FF2B5EF4-FFF2-40B4-BE49-F238E27FC236}">
                <a16:creationId xmlns:a16="http://schemas.microsoft.com/office/drawing/2014/main" xmlns="" id="{90A379D5-40C4-4C44-A910-460A8CD5F6D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4888128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Rectangle 7">
            <a:extLst>
              <a:ext uri="{FF2B5EF4-FFF2-40B4-BE49-F238E27FC236}">
                <a16:creationId xmlns:a16="http://schemas.microsoft.com/office/drawing/2014/main" xmlns="" id="{C93A1230-86D3-4050-9368-300D457B60D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F1861F8C-A51C-4C03-8CE8-45BF38FD5F42}" type="slidenum">
              <a:rPr lang="en-CA" altLang="en-US" sz="1200">
                <a:latin typeface="Tahoma" panose="020B0604030504040204" pitchFamily="34" charset="0"/>
              </a:rPr>
              <a:pPr eaLnBrk="1" hangingPunct="1"/>
              <a:t>10</a:t>
            </a:fld>
            <a:endParaRPr lang="en-CA" altLang="en-US" sz="1200">
              <a:latin typeface="Tahoma" panose="020B0604030504040204" pitchFamily="34" charset="0"/>
            </a:endParaRPr>
          </a:p>
        </p:txBody>
      </p:sp>
      <p:sp>
        <p:nvSpPr>
          <p:cNvPr id="104451" name="Rectangle 2">
            <a:extLst>
              <a:ext uri="{FF2B5EF4-FFF2-40B4-BE49-F238E27FC236}">
                <a16:creationId xmlns:a16="http://schemas.microsoft.com/office/drawing/2014/main" xmlns="" id="{0CB1F08F-0C53-40B8-872D-F6B5B7F8083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4452" name="Rectangle 3">
            <a:extLst>
              <a:ext uri="{FF2B5EF4-FFF2-40B4-BE49-F238E27FC236}">
                <a16:creationId xmlns:a16="http://schemas.microsoft.com/office/drawing/2014/main" xmlns="" id="{83BA0BC7-7E38-4D6D-9604-AC155E4BF8A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1501170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Rectangle 7">
            <a:extLst>
              <a:ext uri="{FF2B5EF4-FFF2-40B4-BE49-F238E27FC236}">
                <a16:creationId xmlns:a16="http://schemas.microsoft.com/office/drawing/2014/main" xmlns="" id="{05ADDD05-3241-4382-A696-8972D09BD3A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6A20EE2D-51D9-4C8E-A95C-52010FA9BCC2}" type="slidenum">
              <a:rPr lang="en-CA" altLang="en-US" sz="1200">
                <a:latin typeface="Tahoma" panose="020B0604030504040204" pitchFamily="34" charset="0"/>
              </a:rPr>
              <a:pPr eaLnBrk="1" hangingPunct="1"/>
              <a:t>11</a:t>
            </a:fld>
            <a:endParaRPr lang="en-CA" altLang="en-US" sz="1200">
              <a:latin typeface="Tahoma" panose="020B0604030504040204" pitchFamily="34" charset="0"/>
            </a:endParaRPr>
          </a:p>
        </p:txBody>
      </p:sp>
      <p:sp>
        <p:nvSpPr>
          <p:cNvPr id="105475" name="Rectangle 2">
            <a:extLst>
              <a:ext uri="{FF2B5EF4-FFF2-40B4-BE49-F238E27FC236}">
                <a16:creationId xmlns:a16="http://schemas.microsoft.com/office/drawing/2014/main" xmlns="" id="{D1957441-2E73-441B-AED4-1D10F73BAAA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5476" name="Rectangle 3">
            <a:extLst>
              <a:ext uri="{FF2B5EF4-FFF2-40B4-BE49-F238E27FC236}">
                <a16:creationId xmlns:a16="http://schemas.microsoft.com/office/drawing/2014/main" xmlns="" id="{6FD5E716-6A07-425F-B9D6-4E5AD61942C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6849469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Rectangle 7">
            <a:extLst>
              <a:ext uri="{FF2B5EF4-FFF2-40B4-BE49-F238E27FC236}">
                <a16:creationId xmlns:a16="http://schemas.microsoft.com/office/drawing/2014/main" xmlns="" id="{25FAD170-7915-4BD4-B6E6-4B659F4073F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4F0C4252-4FE1-4CE4-B40F-1BA0C5B25739}" type="slidenum">
              <a:rPr lang="en-CA" altLang="en-US" sz="1200">
                <a:latin typeface="Tahoma" panose="020B0604030504040204" pitchFamily="34" charset="0"/>
              </a:rPr>
              <a:pPr eaLnBrk="1" hangingPunct="1"/>
              <a:t>12</a:t>
            </a:fld>
            <a:endParaRPr lang="en-CA" altLang="en-US" sz="1200">
              <a:latin typeface="Tahoma" panose="020B0604030504040204" pitchFamily="34" charset="0"/>
            </a:endParaRPr>
          </a:p>
        </p:txBody>
      </p:sp>
      <p:sp>
        <p:nvSpPr>
          <p:cNvPr id="106499" name="Rectangle 2">
            <a:extLst>
              <a:ext uri="{FF2B5EF4-FFF2-40B4-BE49-F238E27FC236}">
                <a16:creationId xmlns:a16="http://schemas.microsoft.com/office/drawing/2014/main" xmlns="" id="{F8B4BBFB-832D-419F-A1C3-9193503466C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6500" name="Rectangle 3">
            <a:extLst>
              <a:ext uri="{FF2B5EF4-FFF2-40B4-BE49-F238E27FC236}">
                <a16:creationId xmlns:a16="http://schemas.microsoft.com/office/drawing/2014/main" xmlns="" id="{C1EBA54E-9AB0-4099-AC84-54C1F36FE3B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7360020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Rectangle 7">
            <a:extLst>
              <a:ext uri="{FF2B5EF4-FFF2-40B4-BE49-F238E27FC236}">
                <a16:creationId xmlns:a16="http://schemas.microsoft.com/office/drawing/2014/main" xmlns="" id="{24D57F5C-0913-46BE-9268-61E26ADF928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68D22F16-B2D2-4D2D-AD59-6F7A29A8BAA1}" type="slidenum">
              <a:rPr lang="en-CA" altLang="en-US" sz="1200">
                <a:latin typeface="Tahoma" panose="020B0604030504040204" pitchFamily="34" charset="0"/>
              </a:rPr>
              <a:pPr eaLnBrk="1" hangingPunct="1"/>
              <a:t>13</a:t>
            </a:fld>
            <a:endParaRPr lang="en-CA" altLang="en-US" sz="1200">
              <a:latin typeface="Tahoma" panose="020B0604030504040204" pitchFamily="34" charset="0"/>
            </a:endParaRPr>
          </a:p>
        </p:txBody>
      </p:sp>
      <p:sp>
        <p:nvSpPr>
          <p:cNvPr id="107523" name="Rectangle 2">
            <a:extLst>
              <a:ext uri="{FF2B5EF4-FFF2-40B4-BE49-F238E27FC236}">
                <a16:creationId xmlns:a16="http://schemas.microsoft.com/office/drawing/2014/main" xmlns="" id="{E43069CE-62EA-40EF-B4B1-735BF336F3B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7524" name="Rectangle 3">
            <a:extLst>
              <a:ext uri="{FF2B5EF4-FFF2-40B4-BE49-F238E27FC236}">
                <a16:creationId xmlns:a16="http://schemas.microsoft.com/office/drawing/2014/main" xmlns="" id="{50DBDC00-AABE-44E4-8152-18F69008B03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9447639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Rectangle 7">
            <a:extLst>
              <a:ext uri="{FF2B5EF4-FFF2-40B4-BE49-F238E27FC236}">
                <a16:creationId xmlns:a16="http://schemas.microsoft.com/office/drawing/2014/main" xmlns="" id="{19A85989-824C-4C10-961E-DCD3B788F3C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37F3BF0B-B884-450A-8113-1C2AAFC42197}" type="slidenum">
              <a:rPr lang="en-CA" altLang="en-US" sz="1200">
                <a:latin typeface="Tahoma" panose="020B0604030504040204" pitchFamily="34" charset="0"/>
              </a:rPr>
              <a:pPr eaLnBrk="1" hangingPunct="1"/>
              <a:t>14</a:t>
            </a:fld>
            <a:endParaRPr lang="en-CA" altLang="en-US" sz="1200">
              <a:latin typeface="Tahoma" panose="020B0604030504040204" pitchFamily="34" charset="0"/>
            </a:endParaRPr>
          </a:p>
        </p:txBody>
      </p:sp>
      <p:sp>
        <p:nvSpPr>
          <p:cNvPr id="108547" name="Rectangle 2">
            <a:extLst>
              <a:ext uri="{FF2B5EF4-FFF2-40B4-BE49-F238E27FC236}">
                <a16:creationId xmlns:a16="http://schemas.microsoft.com/office/drawing/2014/main" xmlns="" id="{166CF630-CBAC-4662-ADB1-C2212524C90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8548" name="Rectangle 3">
            <a:extLst>
              <a:ext uri="{FF2B5EF4-FFF2-40B4-BE49-F238E27FC236}">
                <a16:creationId xmlns:a16="http://schemas.microsoft.com/office/drawing/2014/main" xmlns="" id="{1765B6B5-77B4-4F0C-AB9F-9A47F703602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5401043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7">
            <a:extLst>
              <a:ext uri="{FF2B5EF4-FFF2-40B4-BE49-F238E27FC236}">
                <a16:creationId xmlns:a16="http://schemas.microsoft.com/office/drawing/2014/main" xmlns="" id="{5810DF7E-FF88-4772-82BD-3BCB610A4F3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8499A0B4-6F60-489E-B48F-3C4DA596FC39}" type="slidenum">
              <a:rPr lang="en-CA" altLang="en-US" sz="1200">
                <a:latin typeface="Tahoma" panose="020B0604030504040204" pitchFamily="34" charset="0"/>
              </a:rPr>
              <a:pPr eaLnBrk="1" hangingPunct="1"/>
              <a:t>15</a:t>
            </a:fld>
            <a:endParaRPr lang="en-CA" altLang="en-US" sz="1200">
              <a:latin typeface="Tahoma" panose="020B0604030504040204" pitchFamily="34" charset="0"/>
            </a:endParaRPr>
          </a:p>
        </p:txBody>
      </p:sp>
      <p:sp>
        <p:nvSpPr>
          <p:cNvPr id="112643" name="Rectangle 2">
            <a:extLst>
              <a:ext uri="{FF2B5EF4-FFF2-40B4-BE49-F238E27FC236}">
                <a16:creationId xmlns:a16="http://schemas.microsoft.com/office/drawing/2014/main" xmlns="" id="{9550C80A-51BB-471C-B349-D93D2555734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44" name="Rectangle 3">
            <a:extLst>
              <a:ext uri="{FF2B5EF4-FFF2-40B4-BE49-F238E27FC236}">
                <a16:creationId xmlns:a16="http://schemas.microsoft.com/office/drawing/2014/main" xmlns="" id="{76555876-292F-4085-B254-9E39B79C903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6742693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Rectangle 7">
            <a:extLst>
              <a:ext uri="{FF2B5EF4-FFF2-40B4-BE49-F238E27FC236}">
                <a16:creationId xmlns:a16="http://schemas.microsoft.com/office/drawing/2014/main" xmlns="" id="{18F120FD-CC44-41BC-BF9B-45FE53B4EA9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AC689AA0-9AFE-4BC2-8B68-E1922E1E8E3A}" type="slidenum">
              <a:rPr lang="en-CA" altLang="en-US" sz="1200">
                <a:latin typeface="Tahoma" panose="020B0604030504040204" pitchFamily="34" charset="0"/>
              </a:rPr>
              <a:pPr eaLnBrk="1" hangingPunct="1"/>
              <a:t>16</a:t>
            </a:fld>
            <a:endParaRPr lang="en-CA" altLang="en-US" sz="1200">
              <a:latin typeface="Tahoma" panose="020B0604030504040204" pitchFamily="34" charset="0"/>
            </a:endParaRPr>
          </a:p>
        </p:txBody>
      </p:sp>
      <p:sp>
        <p:nvSpPr>
          <p:cNvPr id="113667" name="Rectangle 2">
            <a:extLst>
              <a:ext uri="{FF2B5EF4-FFF2-40B4-BE49-F238E27FC236}">
                <a16:creationId xmlns:a16="http://schemas.microsoft.com/office/drawing/2014/main" xmlns="" id="{D1F72B1C-9C87-4350-ACE6-37094029453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3668" name="Rectangle 3">
            <a:extLst>
              <a:ext uri="{FF2B5EF4-FFF2-40B4-BE49-F238E27FC236}">
                <a16:creationId xmlns:a16="http://schemas.microsoft.com/office/drawing/2014/main" xmlns="" id="{E6FA4E0D-8F3A-476D-9B62-636F563966C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260323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Rectangle 7">
            <a:extLst>
              <a:ext uri="{FF2B5EF4-FFF2-40B4-BE49-F238E27FC236}">
                <a16:creationId xmlns:a16="http://schemas.microsoft.com/office/drawing/2014/main" xmlns="" id="{3586D1E6-5E08-435A-ACED-37D8B1FD417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9EA6EC79-7CA1-4EAB-B3AF-3CE85E76612C}" type="slidenum">
              <a:rPr lang="en-CA" altLang="en-US" sz="1200">
                <a:latin typeface="Tahoma" panose="020B0604030504040204" pitchFamily="34" charset="0"/>
              </a:rPr>
              <a:pPr eaLnBrk="1" hangingPunct="1"/>
              <a:t>17</a:t>
            </a:fld>
            <a:endParaRPr lang="en-CA" altLang="en-US" sz="1200">
              <a:latin typeface="Tahoma" panose="020B0604030504040204" pitchFamily="34" charset="0"/>
            </a:endParaRPr>
          </a:p>
        </p:txBody>
      </p:sp>
      <p:sp>
        <p:nvSpPr>
          <p:cNvPr id="114691" name="Rectangle 2">
            <a:extLst>
              <a:ext uri="{FF2B5EF4-FFF2-40B4-BE49-F238E27FC236}">
                <a16:creationId xmlns:a16="http://schemas.microsoft.com/office/drawing/2014/main" xmlns="" id="{91547714-EAA2-4ADA-BD5F-C5D468DCE5E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4692" name="Rectangle 3">
            <a:extLst>
              <a:ext uri="{FF2B5EF4-FFF2-40B4-BE49-F238E27FC236}">
                <a16:creationId xmlns:a16="http://schemas.microsoft.com/office/drawing/2014/main" xmlns="" id="{7E6BEE60-F577-4986-9F44-425CDA699E2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169100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Rectangle 7">
            <a:extLst>
              <a:ext uri="{FF2B5EF4-FFF2-40B4-BE49-F238E27FC236}">
                <a16:creationId xmlns:a16="http://schemas.microsoft.com/office/drawing/2014/main" xmlns="" id="{22E8D8F2-E41E-442B-B3FB-E6934908064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5C513C5B-A538-4E67-A996-D99539FACF12}" type="slidenum">
              <a:rPr lang="en-CA" altLang="en-US" sz="1200">
                <a:latin typeface="Tahoma" panose="020B0604030504040204" pitchFamily="34" charset="0"/>
              </a:rPr>
              <a:pPr eaLnBrk="1" hangingPunct="1"/>
              <a:t>18</a:t>
            </a:fld>
            <a:endParaRPr lang="en-CA" altLang="en-US" sz="1200">
              <a:latin typeface="Tahoma" panose="020B0604030504040204" pitchFamily="34" charset="0"/>
            </a:endParaRPr>
          </a:p>
        </p:txBody>
      </p:sp>
      <p:sp>
        <p:nvSpPr>
          <p:cNvPr id="115715" name="Rectangle 2">
            <a:extLst>
              <a:ext uri="{FF2B5EF4-FFF2-40B4-BE49-F238E27FC236}">
                <a16:creationId xmlns:a16="http://schemas.microsoft.com/office/drawing/2014/main" xmlns="" id="{D2A3530C-25C9-4261-A486-921280DF9EC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5716" name="Rectangle 3">
            <a:extLst>
              <a:ext uri="{FF2B5EF4-FFF2-40B4-BE49-F238E27FC236}">
                <a16:creationId xmlns:a16="http://schemas.microsoft.com/office/drawing/2014/main" xmlns="" id="{899214A3-255F-4E0F-8CBF-9C40DB57D24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3695690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98" name="Rectangle 7">
            <a:extLst>
              <a:ext uri="{FF2B5EF4-FFF2-40B4-BE49-F238E27FC236}">
                <a16:creationId xmlns:a16="http://schemas.microsoft.com/office/drawing/2014/main" xmlns="" id="{1B6A58F2-BD1D-43AB-86B9-BD11091D362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33B1E61E-CF5E-4E6B-957F-97B9F60A9588}" type="slidenum">
              <a:rPr lang="en-CA" altLang="en-US" sz="1200">
                <a:latin typeface="Tahoma" panose="020B0604030504040204" pitchFamily="34" charset="0"/>
              </a:rPr>
              <a:pPr eaLnBrk="1" hangingPunct="1"/>
              <a:t>19</a:t>
            </a:fld>
            <a:endParaRPr lang="en-CA" altLang="en-US" sz="1200">
              <a:latin typeface="Tahoma" panose="020B0604030504040204" pitchFamily="34" charset="0"/>
            </a:endParaRPr>
          </a:p>
        </p:txBody>
      </p:sp>
      <p:sp>
        <p:nvSpPr>
          <p:cNvPr id="132099" name="Rectangle 2">
            <a:extLst>
              <a:ext uri="{FF2B5EF4-FFF2-40B4-BE49-F238E27FC236}">
                <a16:creationId xmlns:a16="http://schemas.microsoft.com/office/drawing/2014/main" xmlns="" id="{66502941-F389-41E4-8A04-55D4AF0A360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2100" name="Rectangle 3">
            <a:extLst>
              <a:ext uri="{FF2B5EF4-FFF2-40B4-BE49-F238E27FC236}">
                <a16:creationId xmlns:a16="http://schemas.microsoft.com/office/drawing/2014/main" xmlns="" id="{3E02A843-6F27-49DE-A68A-A611E0AE1F1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337403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jpe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4">
            <a:extLst>
              <a:ext uri="{FF2B5EF4-FFF2-40B4-BE49-F238E27FC236}">
                <a16:creationId xmlns:a16="http://schemas.microsoft.com/office/drawing/2014/main" xmlns="" id="{75692D9B-53C5-40FB-A2FE-2BBF41A900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05800" y="0"/>
            <a:ext cx="609600" cy="6858000"/>
          </a:xfrm>
          <a:prstGeom prst="rect">
            <a:avLst/>
          </a:prstGeom>
          <a:gradFill rotWithShape="1">
            <a:gsLst>
              <a:gs pos="0">
                <a:srgbClr val="677228">
                  <a:alpha val="43999"/>
                </a:srgbClr>
              </a:gs>
              <a:gs pos="100000">
                <a:srgbClr val="5A6423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5" name="Rectangle 47">
            <a:extLst>
              <a:ext uri="{FF2B5EF4-FFF2-40B4-BE49-F238E27FC236}">
                <a16:creationId xmlns:a16="http://schemas.microsoft.com/office/drawing/2014/main" xmlns="" id="{57D5F7C4-0F0A-4B33-BB36-D892D81E323E}"/>
              </a:ext>
            </a:extLst>
          </p:cNvPr>
          <p:cNvSpPr>
            <a:spLocks noChangeArrowheads="1"/>
          </p:cNvSpPr>
          <p:nvPr userDrawn="1"/>
        </p:nvSpPr>
        <p:spPr bwMode="auto">
          <a:xfrm rot="16200000">
            <a:off x="3500437" y="-985837"/>
            <a:ext cx="2143125" cy="9144000"/>
          </a:xfrm>
          <a:prstGeom prst="rect">
            <a:avLst/>
          </a:prstGeom>
          <a:solidFill>
            <a:srgbClr val="677228">
              <a:alpha val="43921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6" name="Rectangle 48">
            <a:extLst>
              <a:ext uri="{FF2B5EF4-FFF2-40B4-BE49-F238E27FC236}">
                <a16:creationId xmlns:a16="http://schemas.microsoft.com/office/drawing/2014/main" xmlns="" id="{F62521B8-08E4-40AD-95E8-D30D89B9DBB2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315200" y="2438400"/>
            <a:ext cx="1828800" cy="229076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pic>
        <p:nvPicPr>
          <p:cNvPr id="7" name="Picture 35" descr="awtri_4c UPDATE_color">
            <a:extLst>
              <a:ext uri="{FF2B5EF4-FFF2-40B4-BE49-F238E27FC236}">
                <a16:creationId xmlns:a16="http://schemas.microsoft.com/office/drawing/2014/main" xmlns="" id="{9177D811-B09E-41FB-BB88-E1D498B47C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" y="5949950"/>
            <a:ext cx="684213" cy="831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46" descr="elmasri_thumb">
            <a:extLst>
              <a:ext uri="{FF2B5EF4-FFF2-40B4-BE49-F238E27FC236}">
                <a16:creationId xmlns:a16="http://schemas.microsoft.com/office/drawing/2014/main" xmlns="" id="{5BB13B45-84F3-4D7D-A14D-C0F187D8EB0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19975" y="2514600"/>
            <a:ext cx="1724025" cy="2143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126" name="Rectangle 30" descr="Pink tissue paper"/>
          <p:cNvSpPr>
            <a:spLocks noGrp="1" noChangeArrowheads="1"/>
          </p:cNvSpPr>
          <p:nvPr>
            <p:ph type="ctrTitle" sz="quarter"/>
          </p:nvPr>
        </p:nvSpPr>
        <p:spPr>
          <a:xfrm>
            <a:off x="228600" y="152400"/>
            <a:ext cx="7086600" cy="2286000"/>
          </a:xfrm>
          <a:extLst>
            <a:ext uri="{909E8E84-426E-40DD-AFC4-6F175D3DCCD1}">
              <a14:hiddenFill xmlns:a14="http://schemas.microsoft.com/office/drawing/2010/main">
                <a:blipFill dpi="0" rotWithShape="0">
                  <a:blip r:embed="rId4"/>
                  <a:srcRect/>
                  <a:tile tx="0" ty="0" sx="100000" sy="100000" flip="none" algn="tl"/>
                </a:blipFill>
              </a14:hiddenFill>
            </a:ext>
          </a:extLst>
        </p:spPr>
        <p:txBody>
          <a:bodyPr wrap="none" anchor="ctr"/>
          <a:lstStyle>
            <a:lvl1pPr>
              <a:defRPr sz="6600">
                <a:solidFill>
                  <a:srgbClr val="990033"/>
                </a:solidFill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sp>
        <p:nvSpPr>
          <p:cNvPr id="4134" name="Rectangle 38" descr="Pink tissue paper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304800" y="2590800"/>
            <a:ext cx="6629400" cy="1905000"/>
          </a:xfrm>
          <a:extLst>
            <a:ext uri="{909E8E84-426E-40DD-AFC4-6F175D3DCCD1}">
              <a14:hiddenFill xmlns:a14="http://schemas.microsoft.com/office/drawing/2010/main">
                <a:blipFill dpi="0" rotWithShape="0">
                  <a:blip r:embed="rId4"/>
                  <a:srcRect/>
                  <a:tile tx="0" ty="0" sx="100000" sy="100000" flip="none" algn="tl"/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0" indent="0">
              <a:buFont typeface="Wingdings" pitchFamily="2" charset="2"/>
              <a:buNone/>
              <a:defRPr sz="3200"/>
            </a:lvl1pPr>
          </a:lstStyle>
          <a:p>
            <a:pPr lvl="0"/>
            <a:r>
              <a:rPr lang="en-US" noProof="0"/>
              <a:t>Click to edit Master subtitle style</a:t>
            </a:r>
          </a:p>
        </p:txBody>
      </p:sp>
      <p:sp>
        <p:nvSpPr>
          <p:cNvPr id="9" name="Rectangle 29">
            <a:extLst>
              <a:ext uri="{FF2B5EF4-FFF2-40B4-BE49-F238E27FC236}">
                <a16:creationId xmlns:a16="http://schemas.microsoft.com/office/drawing/2014/main" xmlns="" id="{73E27DE3-1028-4B3C-95A7-2C17E2470C3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 bwMode="auto">
          <a:xfrm>
            <a:off x="838200" y="6397625"/>
            <a:ext cx="4495800" cy="4572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900" smtClean="0">
                <a:latin typeface="Arial" charset="0"/>
              </a:defRPr>
            </a:lvl1pPr>
          </a:lstStyle>
          <a:p>
            <a:pPr>
              <a:defRPr/>
            </a:pPr>
            <a:r>
              <a:rPr lang="en-US"/>
              <a:t>Copyright © 2007 </a:t>
            </a:r>
            <a:r>
              <a:rPr lang="en-US">
                <a:solidFill>
                  <a:srgbClr val="000000"/>
                </a:solidFill>
              </a:rPr>
              <a:t>Ramez Elmasri and Shamkant B. Navathe</a:t>
            </a:r>
          </a:p>
        </p:txBody>
      </p:sp>
    </p:spTree>
    <p:extLst>
      <p:ext uri="{BB962C8B-B14F-4D97-AF65-F5344CB8AC3E}">
        <p14:creationId xmlns:p14="http://schemas.microsoft.com/office/powerpoint/2010/main" val="1117510554"/>
      </p:ext>
    </p:extLst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3">
            <a:extLst>
              <a:ext uri="{FF2B5EF4-FFF2-40B4-BE49-F238E27FC236}">
                <a16:creationId xmlns:a16="http://schemas.microsoft.com/office/drawing/2014/main" xmlns="" id="{4A6C1DA6-A383-4940-84B9-2B662AB87E28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en-US"/>
              <a:t>Slide 6- </a:t>
            </a:r>
            <a:fld id="{FEB8EDCB-4292-4ED5-8B00-20E21538EECC}" type="slidenum">
              <a:rPr lang="en-US" altLang="en-US"/>
              <a:pPr/>
              <a:t>‹#›</a:t>
            </a:fld>
            <a:endParaRPr lang="en-CA" altLang="en-US"/>
          </a:p>
        </p:txBody>
      </p:sp>
    </p:spTree>
    <p:extLst>
      <p:ext uri="{BB962C8B-B14F-4D97-AF65-F5344CB8AC3E}">
        <p14:creationId xmlns:p14="http://schemas.microsoft.com/office/powerpoint/2010/main" val="1782826578"/>
      </p:ext>
    </p:extLst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13">
            <a:extLst>
              <a:ext uri="{FF2B5EF4-FFF2-40B4-BE49-F238E27FC236}">
                <a16:creationId xmlns:a16="http://schemas.microsoft.com/office/drawing/2014/main" xmlns="" id="{C7C4D88B-37FF-4347-9101-723BC8630D3D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en-US"/>
              <a:t>Slide 6- </a:t>
            </a:r>
            <a:fld id="{7729CF4D-6E68-4F31-BC8A-F58E58D246BD}" type="slidenum">
              <a:rPr lang="en-US" altLang="en-US"/>
              <a:pPr/>
              <a:t>‹#›</a:t>
            </a:fld>
            <a:endParaRPr lang="en-CA" altLang="en-US"/>
          </a:p>
        </p:txBody>
      </p:sp>
    </p:spTree>
    <p:extLst>
      <p:ext uri="{BB962C8B-B14F-4D97-AF65-F5344CB8AC3E}">
        <p14:creationId xmlns:p14="http://schemas.microsoft.com/office/powerpoint/2010/main" val="3431068489"/>
      </p:ext>
    </p:extLst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39713" y="1600200"/>
            <a:ext cx="4070350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62463" y="1600200"/>
            <a:ext cx="4071937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13">
            <a:extLst>
              <a:ext uri="{FF2B5EF4-FFF2-40B4-BE49-F238E27FC236}">
                <a16:creationId xmlns:a16="http://schemas.microsoft.com/office/drawing/2014/main" xmlns="" id="{164DF53D-B7E5-4667-9249-E55AB36A272D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en-US"/>
              <a:t>Slide 6- </a:t>
            </a:r>
            <a:fld id="{A309E4A8-FB48-4162-9F44-0EE2648A4F5C}" type="slidenum">
              <a:rPr lang="en-US" altLang="en-US"/>
              <a:pPr/>
              <a:t>‹#›</a:t>
            </a:fld>
            <a:endParaRPr lang="en-CA" altLang="en-US"/>
          </a:p>
        </p:txBody>
      </p:sp>
    </p:spTree>
    <p:extLst>
      <p:ext uri="{BB962C8B-B14F-4D97-AF65-F5344CB8AC3E}">
        <p14:creationId xmlns:p14="http://schemas.microsoft.com/office/powerpoint/2010/main" val="4184407057"/>
      </p:ext>
    </p:extLst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13">
            <a:extLst>
              <a:ext uri="{FF2B5EF4-FFF2-40B4-BE49-F238E27FC236}">
                <a16:creationId xmlns:a16="http://schemas.microsoft.com/office/drawing/2014/main" xmlns="" id="{54D6F0FA-13AF-4CF1-921B-B8C193E87A36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en-US"/>
              <a:t>Slide 6- </a:t>
            </a:r>
            <a:fld id="{0878602E-D07E-4895-BDE8-65319342C7F0}" type="slidenum">
              <a:rPr lang="en-US" altLang="en-US"/>
              <a:pPr/>
              <a:t>‹#›</a:t>
            </a:fld>
            <a:endParaRPr lang="en-CA" altLang="en-US"/>
          </a:p>
        </p:txBody>
      </p:sp>
    </p:spTree>
    <p:extLst>
      <p:ext uri="{BB962C8B-B14F-4D97-AF65-F5344CB8AC3E}">
        <p14:creationId xmlns:p14="http://schemas.microsoft.com/office/powerpoint/2010/main" val="2280710160"/>
      </p:ext>
    </p:extLst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13">
            <a:extLst>
              <a:ext uri="{FF2B5EF4-FFF2-40B4-BE49-F238E27FC236}">
                <a16:creationId xmlns:a16="http://schemas.microsoft.com/office/drawing/2014/main" xmlns="" id="{99CB381D-925B-4AFD-BF16-4281C640E76F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en-US"/>
              <a:t>Slide 6- </a:t>
            </a:r>
            <a:fld id="{5DEE1029-C792-46AE-93D4-EE57F9B1EC31}" type="slidenum">
              <a:rPr lang="en-US" altLang="en-US"/>
              <a:pPr/>
              <a:t>‹#›</a:t>
            </a:fld>
            <a:endParaRPr lang="en-CA" altLang="en-US"/>
          </a:p>
        </p:txBody>
      </p:sp>
    </p:spTree>
    <p:extLst>
      <p:ext uri="{BB962C8B-B14F-4D97-AF65-F5344CB8AC3E}">
        <p14:creationId xmlns:p14="http://schemas.microsoft.com/office/powerpoint/2010/main" val="3023606556"/>
      </p:ext>
    </p:extLst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3">
            <a:extLst>
              <a:ext uri="{FF2B5EF4-FFF2-40B4-BE49-F238E27FC236}">
                <a16:creationId xmlns:a16="http://schemas.microsoft.com/office/drawing/2014/main" xmlns="" id="{79A9CB21-84DA-49C3-86EC-F2AE5A632270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en-US"/>
              <a:t>Slide 6- </a:t>
            </a:r>
            <a:fld id="{D47AF73B-E90B-49A2-9332-63DB46FE0909}" type="slidenum">
              <a:rPr lang="en-US" altLang="en-US"/>
              <a:pPr/>
              <a:t>‹#›</a:t>
            </a:fld>
            <a:endParaRPr lang="en-CA" altLang="en-US"/>
          </a:p>
        </p:txBody>
      </p:sp>
    </p:spTree>
    <p:extLst>
      <p:ext uri="{BB962C8B-B14F-4D97-AF65-F5344CB8AC3E}">
        <p14:creationId xmlns:p14="http://schemas.microsoft.com/office/powerpoint/2010/main" val="1977006168"/>
      </p:ext>
    </p:extLst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13">
            <a:extLst>
              <a:ext uri="{FF2B5EF4-FFF2-40B4-BE49-F238E27FC236}">
                <a16:creationId xmlns:a16="http://schemas.microsoft.com/office/drawing/2014/main" xmlns="" id="{67281897-CB46-4985-B95E-2CB9CC766B43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en-US"/>
              <a:t>Slide 6- </a:t>
            </a:r>
            <a:fld id="{7DB3E006-A249-424E-9188-458D6B63E777}" type="slidenum">
              <a:rPr lang="en-US" altLang="en-US"/>
              <a:pPr/>
              <a:t>‹#›</a:t>
            </a:fld>
            <a:endParaRPr lang="en-CA" altLang="en-US"/>
          </a:p>
        </p:txBody>
      </p:sp>
    </p:spTree>
    <p:extLst>
      <p:ext uri="{BB962C8B-B14F-4D97-AF65-F5344CB8AC3E}">
        <p14:creationId xmlns:p14="http://schemas.microsoft.com/office/powerpoint/2010/main" val="1214534028"/>
      </p:ext>
    </p:extLst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13">
            <a:extLst>
              <a:ext uri="{FF2B5EF4-FFF2-40B4-BE49-F238E27FC236}">
                <a16:creationId xmlns:a16="http://schemas.microsoft.com/office/drawing/2014/main" xmlns="" id="{4C3AB8C3-CCE3-4581-95E2-FB6CCEB902D6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en-US"/>
              <a:t>Slide 6- </a:t>
            </a:r>
            <a:fld id="{52FF7977-D71F-434C-9775-433A3716570F}" type="slidenum">
              <a:rPr lang="en-US" altLang="en-US"/>
              <a:pPr/>
              <a:t>‹#›</a:t>
            </a:fld>
            <a:endParaRPr lang="en-CA" altLang="en-US"/>
          </a:p>
        </p:txBody>
      </p:sp>
    </p:spTree>
    <p:extLst>
      <p:ext uri="{BB962C8B-B14F-4D97-AF65-F5344CB8AC3E}">
        <p14:creationId xmlns:p14="http://schemas.microsoft.com/office/powerpoint/2010/main" val="2596608272"/>
      </p:ext>
    </p:extLst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3">
            <a:extLst>
              <a:ext uri="{FF2B5EF4-FFF2-40B4-BE49-F238E27FC236}">
                <a16:creationId xmlns:a16="http://schemas.microsoft.com/office/drawing/2014/main" xmlns="" id="{1D520232-D0B3-4311-81F4-58AF4BB9A9F5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en-US"/>
              <a:t>Slide 6- </a:t>
            </a:r>
            <a:fld id="{FBC61856-8FE2-4746-B619-2E65D993AF99}" type="slidenum">
              <a:rPr lang="en-US" altLang="en-US"/>
              <a:pPr/>
              <a:t>‹#›</a:t>
            </a:fld>
            <a:endParaRPr lang="en-CA" altLang="en-US"/>
          </a:p>
        </p:txBody>
      </p:sp>
    </p:spTree>
    <p:extLst>
      <p:ext uri="{BB962C8B-B14F-4D97-AF65-F5344CB8AC3E}">
        <p14:creationId xmlns:p14="http://schemas.microsoft.com/office/powerpoint/2010/main" val="975920886"/>
      </p:ext>
    </p:extLst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457950" y="303213"/>
            <a:ext cx="2076450" cy="5868987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8600" y="303213"/>
            <a:ext cx="6076950" cy="586898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3">
            <a:extLst>
              <a:ext uri="{FF2B5EF4-FFF2-40B4-BE49-F238E27FC236}">
                <a16:creationId xmlns:a16="http://schemas.microsoft.com/office/drawing/2014/main" xmlns="" id="{977C781D-6482-4562-A2FD-12B0C1D53D95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en-US"/>
              <a:t>Slide 6- </a:t>
            </a:r>
            <a:fld id="{BBD342A5-4818-49BA-855E-605A9F837D8C}" type="slidenum">
              <a:rPr lang="en-US" altLang="en-US"/>
              <a:pPr/>
              <a:t>‹#›</a:t>
            </a:fld>
            <a:endParaRPr lang="en-CA" altLang="en-US"/>
          </a:p>
        </p:txBody>
      </p:sp>
    </p:spTree>
    <p:extLst>
      <p:ext uri="{BB962C8B-B14F-4D97-AF65-F5344CB8AC3E}">
        <p14:creationId xmlns:p14="http://schemas.microsoft.com/office/powerpoint/2010/main" val="1022902630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Group 45">
            <a:extLst>
              <a:ext uri="{FF2B5EF4-FFF2-40B4-BE49-F238E27FC236}">
                <a16:creationId xmlns:a16="http://schemas.microsoft.com/office/drawing/2014/main" xmlns="" id="{8829E06D-06CD-4663-8906-1BE0DD5212CF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8936038" y="1449388"/>
            <a:ext cx="207962" cy="5408612"/>
            <a:chOff x="5606" y="889"/>
            <a:chExt cx="154" cy="3431"/>
          </a:xfrm>
        </p:grpSpPr>
        <p:sp>
          <p:nvSpPr>
            <p:cNvPr id="1032" name="Rectangle 38">
              <a:extLst>
                <a:ext uri="{FF2B5EF4-FFF2-40B4-BE49-F238E27FC236}">
                  <a16:creationId xmlns:a16="http://schemas.microsoft.com/office/drawing/2014/main" xmlns="" id="{95149182-72C2-4604-8C12-A9606297DB0C}"/>
                </a:ext>
              </a:extLst>
            </p:cNvPr>
            <p:cNvSpPr>
              <a:spLocks noChangeArrowheads="1"/>
            </p:cNvSpPr>
            <p:nvPr userDrawn="1"/>
          </p:nvSpPr>
          <p:spPr bwMode="gray">
            <a:xfrm flipH="1">
              <a:off x="5685" y="889"/>
              <a:ext cx="75" cy="3431"/>
            </a:xfrm>
            <a:prstGeom prst="rect">
              <a:avLst/>
            </a:prstGeom>
            <a:solidFill>
              <a:srgbClr val="677228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FF9966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endParaRPr kumimoji="1" lang="en-US" altLang="en-US" sz="3200">
                <a:latin typeface="Tahoma" panose="020B0604030504040204" pitchFamily="34" charset="0"/>
              </a:endParaRPr>
            </a:p>
          </p:txBody>
        </p:sp>
        <p:grpSp>
          <p:nvGrpSpPr>
            <p:cNvPr id="1033" name="Group 44">
              <a:extLst>
                <a:ext uri="{FF2B5EF4-FFF2-40B4-BE49-F238E27FC236}">
                  <a16:creationId xmlns:a16="http://schemas.microsoft.com/office/drawing/2014/main" xmlns="" id="{B153DCF6-2BD3-4B25-8EB4-C47A1B5CF5BF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5606" y="889"/>
              <a:ext cx="106" cy="3431"/>
              <a:chOff x="5606" y="889"/>
              <a:chExt cx="106" cy="3431"/>
            </a:xfrm>
          </p:grpSpPr>
          <p:sp>
            <p:nvSpPr>
              <p:cNvPr id="1034" name="Rectangle 43">
                <a:extLst>
                  <a:ext uri="{FF2B5EF4-FFF2-40B4-BE49-F238E27FC236}">
                    <a16:creationId xmlns:a16="http://schemas.microsoft.com/office/drawing/2014/main" xmlns="" id="{2B4D643C-E049-45F9-8B7E-8D0338F580FC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gray">
              <a:xfrm rot="10800000" flipH="1">
                <a:off x="5606" y="889"/>
                <a:ext cx="58" cy="3431"/>
              </a:xfrm>
              <a:prstGeom prst="rect">
                <a:avLst/>
              </a:prstGeom>
              <a:solidFill>
                <a:schemeClr val="tx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FF9966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rot="10800000"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/>
                <a:endParaRPr kumimoji="1" lang="en-US" altLang="en-US" sz="3200">
                  <a:latin typeface="Tahoma" panose="020B0604030504040204" pitchFamily="34" charset="0"/>
                </a:endParaRPr>
              </a:p>
            </p:txBody>
          </p:sp>
          <p:sp>
            <p:nvSpPr>
              <p:cNvPr id="1035" name="Rectangle 32">
                <a:extLst>
                  <a:ext uri="{FF2B5EF4-FFF2-40B4-BE49-F238E27FC236}">
                    <a16:creationId xmlns:a16="http://schemas.microsoft.com/office/drawing/2014/main" xmlns="" id="{CCDEB8AE-0BF1-48D1-941E-8A1F438871DC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gray">
              <a:xfrm rot="10800000" flipH="1">
                <a:off x="5654" y="889"/>
                <a:ext cx="58" cy="3431"/>
              </a:xfrm>
              <a:prstGeom prst="rect">
                <a:avLst/>
              </a:prstGeom>
              <a:solidFill>
                <a:srgbClr val="990033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FF9966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rot="10800000"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/>
                <a:endParaRPr kumimoji="1" lang="en-US" altLang="en-US" sz="3200">
                  <a:latin typeface="Tahoma" panose="020B0604030504040204" pitchFamily="34" charset="0"/>
                </a:endParaRPr>
              </a:p>
            </p:txBody>
          </p:sp>
        </p:grpSp>
      </p:grpSp>
      <p:sp>
        <p:nvSpPr>
          <p:cNvPr id="1027" name="Rectangle 37">
            <a:extLst>
              <a:ext uri="{FF2B5EF4-FFF2-40B4-BE49-F238E27FC236}">
                <a16:creationId xmlns:a16="http://schemas.microsoft.com/office/drawing/2014/main" xmlns="" id="{6E85D444-E08A-4213-BA1E-F0A9731A6B6C}"/>
              </a:ext>
            </a:extLst>
          </p:cNvPr>
          <p:cNvSpPr>
            <a:spLocks noChangeArrowheads="1"/>
          </p:cNvSpPr>
          <p:nvPr userDrawn="1"/>
        </p:nvSpPr>
        <p:spPr bwMode="gray">
          <a:xfrm rot="-5400000">
            <a:off x="3845719" y="-3845719"/>
            <a:ext cx="1449388" cy="9140825"/>
          </a:xfrm>
          <a:prstGeom prst="rect">
            <a:avLst/>
          </a:prstGeom>
          <a:solidFill>
            <a:srgbClr val="677228">
              <a:alpha val="36078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FF9966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en-US" altLang="en-US" sz="3200">
              <a:latin typeface="Tahoma" panose="020B0604030504040204" pitchFamily="34" charset="0"/>
            </a:endParaRPr>
          </a:p>
        </p:txBody>
      </p:sp>
      <p:sp>
        <p:nvSpPr>
          <p:cNvPr id="1028" name="Rectangle 9">
            <a:extLst>
              <a:ext uri="{FF2B5EF4-FFF2-40B4-BE49-F238E27FC236}">
                <a16:creationId xmlns:a16="http://schemas.microsoft.com/office/drawing/2014/main" xmlns="" id="{AB549742-ABE0-4883-800D-FDDA9F49AEE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228600" y="303213"/>
            <a:ext cx="7796213" cy="9921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3085" name="Rectangle 13">
            <a:extLst>
              <a:ext uri="{FF2B5EF4-FFF2-40B4-BE49-F238E27FC236}">
                <a16:creationId xmlns:a16="http://schemas.microsoft.com/office/drawing/2014/main" xmlns="" id="{9C1906B7-EE3B-4F53-85C9-8E24F02D5D10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400" b="1">
                <a:solidFill>
                  <a:srgbClr val="990033"/>
                </a:solidFill>
              </a:defRPr>
            </a:lvl1pPr>
          </a:lstStyle>
          <a:p>
            <a:r>
              <a:rPr lang="en-US" altLang="en-US"/>
              <a:t>Slide 6- </a:t>
            </a:r>
            <a:fld id="{9BE9E372-0B41-4CE5-B8FA-A89901D5E3A7}" type="slidenum">
              <a:rPr lang="en-US" altLang="en-US"/>
              <a:pPr/>
              <a:t>‹#›</a:t>
            </a:fld>
            <a:endParaRPr lang="en-CA" altLang="en-US"/>
          </a:p>
        </p:txBody>
      </p:sp>
      <p:sp>
        <p:nvSpPr>
          <p:cNvPr id="1030" name="Rectangle 21">
            <a:extLst>
              <a:ext uri="{FF2B5EF4-FFF2-40B4-BE49-F238E27FC236}">
                <a16:creationId xmlns:a16="http://schemas.microsoft.com/office/drawing/2014/main" xmlns="" id="{76803A4B-B995-4206-B9E8-BBB84074E8A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239713" y="1600200"/>
            <a:ext cx="8294687" cy="457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CC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31" name="Rectangle 30">
            <a:extLst>
              <a:ext uri="{FF2B5EF4-FFF2-40B4-BE49-F238E27FC236}">
                <a16:creationId xmlns:a16="http://schemas.microsoft.com/office/drawing/2014/main" xmlns="" id="{853AB97E-46B0-4C12-9089-9079C66FFF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6397625"/>
            <a:ext cx="4495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900"/>
              <a:t>Copyright © 2007 </a:t>
            </a:r>
            <a:r>
              <a:rPr lang="en-US" altLang="en-US" sz="900">
                <a:solidFill>
                  <a:srgbClr val="000000"/>
                </a:solidFill>
              </a:rPr>
              <a:t>Ramez Elmasri and Shamkant B. Navathe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ransition spd="med"/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600">
          <a:solidFill>
            <a:srgbClr val="800000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600">
          <a:solidFill>
            <a:srgbClr val="800000"/>
          </a:solidFill>
          <a:latin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600">
          <a:solidFill>
            <a:srgbClr val="800000"/>
          </a:solidFill>
          <a:latin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600">
          <a:solidFill>
            <a:srgbClr val="800000"/>
          </a:solidFill>
          <a:latin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600">
          <a:solidFill>
            <a:srgbClr val="800000"/>
          </a:solidFill>
          <a:latin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rgbClr val="800000"/>
          </a:solidFill>
          <a:latin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rgbClr val="800000"/>
          </a:solidFill>
          <a:latin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rgbClr val="800000"/>
          </a:solidFill>
          <a:latin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rgbClr val="800000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990033"/>
        </a:buClr>
        <a:buSzPct val="60000"/>
        <a:buFont typeface="Wingdings" panose="05000000000000000000" pitchFamily="2" charset="2"/>
        <a:buChar char="n"/>
        <a:defRPr sz="2800">
          <a:solidFill>
            <a:schemeClr val="tx2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55000"/>
        <a:buFont typeface="Wingdings" panose="05000000000000000000" pitchFamily="2" charset="2"/>
        <a:buChar char="n"/>
        <a:defRPr sz="2600">
          <a:solidFill>
            <a:srgbClr val="800000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rgbClr val="990033"/>
        </a:buClr>
        <a:buSzPct val="50000"/>
        <a:buFont typeface="Wingdings" panose="05000000000000000000" pitchFamily="2" charset="2"/>
        <a:buChar char="n"/>
        <a:defRPr sz="2400">
          <a:solidFill>
            <a:schemeClr val="tx2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55000"/>
        <a:buFont typeface="Wingdings" panose="05000000000000000000" pitchFamily="2" charset="2"/>
        <a:buChar char="n"/>
        <a:defRPr sz="2000">
          <a:solidFill>
            <a:srgbClr val="800000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rgbClr val="990033"/>
        </a:buClr>
        <a:buSzPct val="50000"/>
        <a:buFont typeface="Wingdings" panose="05000000000000000000" pitchFamily="2" charset="2"/>
        <a:buChar char="n"/>
        <a:defRPr sz="2000">
          <a:solidFill>
            <a:schemeClr val="tx2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rgbClr val="990033"/>
        </a:buClr>
        <a:buSzPct val="50000"/>
        <a:buFont typeface="Wingdings" pitchFamily="2" charset="2"/>
        <a:buChar char="n"/>
        <a:defRPr sz="2000">
          <a:solidFill>
            <a:schemeClr val="tx2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rgbClr val="990033"/>
        </a:buClr>
        <a:buSzPct val="50000"/>
        <a:buFont typeface="Wingdings" pitchFamily="2" charset="2"/>
        <a:buChar char="n"/>
        <a:defRPr sz="2000">
          <a:solidFill>
            <a:schemeClr val="tx2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rgbClr val="990033"/>
        </a:buClr>
        <a:buSzPct val="50000"/>
        <a:buFont typeface="Wingdings" pitchFamily="2" charset="2"/>
        <a:buChar char="n"/>
        <a:defRPr sz="2000">
          <a:solidFill>
            <a:schemeClr val="tx2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rgbClr val="990033"/>
        </a:buClr>
        <a:buSzPct val="50000"/>
        <a:buFont typeface="Wingdings" pitchFamily="2" charset="2"/>
        <a:buChar char="n"/>
        <a:defRPr sz="2000">
          <a:solidFill>
            <a:schemeClr val="tx2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.jpe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Slide Number Placeholder 2">
            <a:extLst>
              <a:ext uri="{FF2B5EF4-FFF2-40B4-BE49-F238E27FC236}">
                <a16:creationId xmlns:a16="http://schemas.microsoft.com/office/drawing/2014/main" xmlns="" id="{B650282B-2A47-48B7-943C-288A69C862C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>
                <a:solidFill>
                  <a:srgbClr val="990033"/>
                </a:solidFill>
              </a:rPr>
              <a:t>Slide 6- </a:t>
            </a:r>
            <a:fld id="{D038C7C9-1B9E-4435-988C-D3549FCC7DD9}" type="slidenum">
              <a:rPr lang="en-US" altLang="en-US" sz="1400">
                <a:solidFill>
                  <a:srgbClr val="990033"/>
                </a:solidFill>
              </a:rPr>
              <a:pPr eaLnBrk="1" hangingPunct="1"/>
              <a:t>1</a:t>
            </a:fld>
            <a:endParaRPr lang="en-CA" altLang="en-US" sz="1400">
              <a:solidFill>
                <a:srgbClr val="990033"/>
              </a:solidFill>
            </a:endParaRPr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xmlns="" id="{8E4EE448-20D1-4DD1-A0E8-1173C6A93C6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en-US" altLang="en-US"/>
          </a:p>
        </p:txBody>
      </p:sp>
      <p:pic>
        <p:nvPicPr>
          <p:cNvPr id="3076" name="Picture 11" descr="Elmasri_cov">
            <a:extLst>
              <a:ext uri="{FF2B5EF4-FFF2-40B4-BE49-F238E27FC236}">
                <a16:creationId xmlns:a16="http://schemas.microsoft.com/office/drawing/2014/main" xmlns="" id="{91651946-4E36-4666-AEFF-A9F8F33B98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9">
            <a:extLst>
              <a:ext uri="{FF2B5EF4-FFF2-40B4-BE49-F238E27FC236}">
                <a16:creationId xmlns:a16="http://schemas.microsoft.com/office/drawing/2014/main" xmlns="" id="{AB5A5B69-6597-4AC0-86C5-A59F082058B7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noFill/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900"/>
              <a:t>Copyright © 2007 </a:t>
            </a:r>
            <a:r>
              <a:rPr lang="en-US" altLang="en-US" sz="900">
                <a:solidFill>
                  <a:srgbClr val="000000"/>
                </a:solidFill>
              </a:rPr>
              <a:t>Ramez Elmasri and Shamkant B. Navathe</a:t>
            </a:r>
          </a:p>
        </p:txBody>
      </p:sp>
      <p:sp>
        <p:nvSpPr>
          <p:cNvPr id="4099" name="Rectangle 2" descr="Pink tissue paper">
            <a:extLst>
              <a:ext uri="{FF2B5EF4-FFF2-40B4-BE49-F238E27FC236}">
                <a16:creationId xmlns:a16="http://schemas.microsoft.com/office/drawing/2014/main" xmlns="" id="{780B370E-DF79-46B2-9922-45878651D226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Chapter 6</a:t>
            </a:r>
          </a:p>
        </p:txBody>
      </p:sp>
      <p:sp>
        <p:nvSpPr>
          <p:cNvPr id="4100" name="Rectangle 3" descr="Pink tissue paper">
            <a:extLst>
              <a:ext uri="{FF2B5EF4-FFF2-40B4-BE49-F238E27FC236}">
                <a16:creationId xmlns:a16="http://schemas.microsoft.com/office/drawing/2014/main" xmlns="" id="{E652D3B1-9D93-4F20-938B-ADC2187EC99F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The Relational Algebra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Slide Number Placeholder 3">
            <a:extLst>
              <a:ext uri="{FF2B5EF4-FFF2-40B4-BE49-F238E27FC236}">
                <a16:creationId xmlns:a16="http://schemas.microsoft.com/office/drawing/2014/main" xmlns="" id="{A64A920A-EFBA-4CB4-BF28-9B09A90C082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>
                <a:solidFill>
                  <a:srgbClr val="990033"/>
                </a:solidFill>
              </a:rPr>
              <a:t>Slide 6- </a:t>
            </a:r>
            <a:fld id="{D68ECA0D-D4C8-46DE-AE44-96DC81B895BD}" type="slidenum">
              <a:rPr lang="en-US" altLang="en-US" sz="1400">
                <a:solidFill>
                  <a:srgbClr val="990033"/>
                </a:solidFill>
              </a:rPr>
              <a:pPr eaLnBrk="1" hangingPunct="1"/>
              <a:t>3</a:t>
            </a:fld>
            <a:endParaRPr lang="en-CA" altLang="en-US" sz="1400">
              <a:solidFill>
                <a:srgbClr val="990033"/>
              </a:solidFill>
            </a:endParaRPr>
          </a:p>
        </p:txBody>
      </p:sp>
      <p:sp>
        <p:nvSpPr>
          <p:cNvPr id="25603" name="Rectangle 6">
            <a:extLst>
              <a:ext uri="{FF2B5EF4-FFF2-40B4-BE49-F238E27FC236}">
                <a16:creationId xmlns:a16="http://schemas.microsoft.com/office/drawing/2014/main" xmlns="" id="{73F9A5AF-0330-44AE-9F9A-8C76D310E23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8600" y="303213"/>
            <a:ext cx="8686800" cy="992187"/>
          </a:xfrm>
          <a:noFill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 sz="2800"/>
              <a:t>6.2 Relational Algebra Operations from</a:t>
            </a:r>
            <a:br>
              <a:rPr lang="en-US" altLang="en-US" sz="2800"/>
            </a:br>
            <a:r>
              <a:rPr lang="en-US" altLang="en-US" sz="2800"/>
              <a:t>Set Theory</a:t>
            </a:r>
          </a:p>
        </p:txBody>
      </p:sp>
      <p:sp>
        <p:nvSpPr>
          <p:cNvPr id="25604" name="Rectangle 7">
            <a:extLst>
              <a:ext uri="{FF2B5EF4-FFF2-40B4-BE49-F238E27FC236}">
                <a16:creationId xmlns:a16="http://schemas.microsoft.com/office/drawing/2014/main" xmlns="" id="{C336054B-0E09-47E3-BB48-8A42A92B225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/>
              <a:t>UNION Operation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/>
              <a:t>Binary operation, denoted by </a:t>
            </a:r>
            <a:r>
              <a:rPr lang="en-US" altLang="en-US">
                <a:latin typeface="Symbol" panose="05050102010706020507" pitchFamily="18" charset="2"/>
              </a:rPr>
              <a:t></a:t>
            </a:r>
            <a:r>
              <a:rPr lang="en-US" altLang="en-US"/>
              <a:t> 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/>
              <a:t>The result of R </a:t>
            </a:r>
            <a:r>
              <a:rPr lang="en-US" altLang="en-US">
                <a:latin typeface="Symbol" panose="05050102010706020507" pitchFamily="18" charset="2"/>
              </a:rPr>
              <a:t></a:t>
            </a:r>
            <a:r>
              <a:rPr lang="en-US" altLang="en-US"/>
              <a:t> S, is a relation that includes all tuples that are either in R or in S or in both R and 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/>
              <a:t>Duplicate tuples are eliminated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500"/>
              <a:t>The two operand relations R and S must be “type compatible” (or UNION compatible)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en-US" sz="2300"/>
              <a:t>R and S must have same number of attributes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en-US" sz="2300"/>
              <a:t>Each pair of corresponding attributes must be type compatible (have same or compatible domains)</a:t>
            </a:r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en-US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Slide Number Placeholder 3">
            <a:extLst>
              <a:ext uri="{FF2B5EF4-FFF2-40B4-BE49-F238E27FC236}">
                <a16:creationId xmlns:a16="http://schemas.microsoft.com/office/drawing/2014/main" xmlns="" id="{7DA84C1C-A84B-44A8-9606-08BF68DF3A2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>
                <a:solidFill>
                  <a:srgbClr val="990033"/>
                </a:solidFill>
              </a:rPr>
              <a:t>Slide 6- </a:t>
            </a:r>
            <a:fld id="{A68EB4B5-CD61-44B5-B33B-9A2FB8610DA3}" type="slidenum">
              <a:rPr lang="en-US" altLang="en-US" sz="1400">
                <a:solidFill>
                  <a:srgbClr val="990033"/>
                </a:solidFill>
              </a:rPr>
              <a:pPr eaLnBrk="1" hangingPunct="1"/>
              <a:t>4</a:t>
            </a:fld>
            <a:endParaRPr lang="en-CA" altLang="en-US" sz="1400">
              <a:solidFill>
                <a:srgbClr val="990033"/>
              </a:solidFill>
            </a:endParaRPr>
          </a:p>
        </p:txBody>
      </p:sp>
      <p:sp>
        <p:nvSpPr>
          <p:cNvPr id="26627" name="Rectangle 2">
            <a:extLst>
              <a:ext uri="{FF2B5EF4-FFF2-40B4-BE49-F238E27FC236}">
                <a16:creationId xmlns:a16="http://schemas.microsoft.com/office/drawing/2014/main" xmlns="" id="{F18DC9A1-A77B-48C7-A6CA-8D1AE82F7F5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 sz="3200"/>
              <a:t>Relational Algebra Operations from</a:t>
            </a:r>
            <a:br>
              <a:rPr lang="en-US" altLang="en-US" sz="3200"/>
            </a:br>
            <a:r>
              <a:rPr lang="en-US" altLang="en-US" sz="3200"/>
              <a:t>Set Theory: UNION </a:t>
            </a:r>
          </a:p>
        </p:txBody>
      </p:sp>
      <p:sp>
        <p:nvSpPr>
          <p:cNvPr id="26628" name="Rectangle 3">
            <a:extLst>
              <a:ext uri="{FF2B5EF4-FFF2-40B4-BE49-F238E27FC236}">
                <a16:creationId xmlns:a16="http://schemas.microsoft.com/office/drawing/2014/main" xmlns="" id="{4A9214F1-5A48-4773-82EB-B0B3CF16C63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en-US" sz="2400" dirty="0"/>
              <a:t>Example: 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100" dirty="0"/>
              <a:t>Find the full name of the employees who either </a:t>
            </a:r>
            <a:r>
              <a:rPr lang="en-US" altLang="en-US" sz="2100" i="1" dirty="0"/>
              <a:t>work in department 5</a:t>
            </a:r>
            <a:r>
              <a:rPr lang="en-US" altLang="en-US" sz="2100" dirty="0"/>
              <a:t> or </a:t>
            </a:r>
            <a:r>
              <a:rPr lang="en-US" altLang="en-US" sz="2100" i="1" dirty="0"/>
              <a:t>department 4</a:t>
            </a:r>
            <a:endParaRPr lang="en-US" altLang="en-US" sz="2100" dirty="0"/>
          </a:p>
          <a:p>
            <a:pPr lvl="1" eaLnBrk="1" hangingPunct="1">
              <a:lnSpc>
                <a:spcPct val="80000"/>
              </a:lnSpc>
            </a:pPr>
            <a:r>
              <a:rPr lang="en-US" altLang="en-US" sz="2100" dirty="0"/>
              <a:t>We can use the UNION operation as follows:</a:t>
            </a:r>
          </a:p>
          <a:p>
            <a:pPr algn="ctr" eaLnBrk="1" hangingPunct="1">
              <a:lnSpc>
                <a:spcPct val="80000"/>
              </a:lnSpc>
              <a:spcAft>
                <a:spcPts val="1200"/>
              </a:spcAft>
              <a:buFont typeface="Wingdings" panose="05000000000000000000" pitchFamily="2" charset="2"/>
              <a:buNone/>
            </a:pPr>
            <a:r>
              <a:rPr lang="en-US" altLang="en-US" sz="2400" dirty="0"/>
              <a:t>DEP4_EMPS </a:t>
            </a:r>
            <a:r>
              <a:rPr lang="en-US" altLang="en-US" sz="2400" dirty="0">
                <a:sym typeface="Symbol" panose="05050102010706020507" pitchFamily="18" charset="2"/>
              </a:rPr>
              <a:t> </a:t>
            </a:r>
            <a:r>
              <a:rPr lang="en-US" altLang="en-US" sz="2400" dirty="0">
                <a:latin typeface="Symbol" panose="05050102010706020507" pitchFamily="18" charset="2"/>
              </a:rPr>
              <a:t></a:t>
            </a:r>
            <a:r>
              <a:rPr lang="en-US" altLang="en-US" sz="2400" baseline="-25000" dirty="0"/>
              <a:t>DNO=4</a:t>
            </a:r>
            <a:r>
              <a:rPr lang="en-US" altLang="en-US" sz="2400" dirty="0"/>
              <a:t> (EMPLOYEE)</a:t>
            </a:r>
          </a:p>
          <a:p>
            <a:pPr algn="ctr" eaLnBrk="1" hangingPunct="1">
              <a:lnSpc>
                <a:spcPct val="80000"/>
              </a:lnSpc>
              <a:spcAft>
                <a:spcPts val="1200"/>
              </a:spcAft>
              <a:buFont typeface="Wingdings" panose="05000000000000000000" pitchFamily="2" charset="2"/>
              <a:buNone/>
            </a:pPr>
            <a:r>
              <a:rPr lang="en-US" altLang="en-US" sz="2400" dirty="0"/>
              <a:t>R1 </a:t>
            </a:r>
            <a:r>
              <a:rPr lang="en-US" altLang="en-US" sz="2400" dirty="0">
                <a:sym typeface="Symbol" panose="05050102010706020507" pitchFamily="18" charset="2"/>
              </a:rPr>
              <a:t> </a:t>
            </a:r>
            <a:r>
              <a:rPr lang="en-US" altLang="en-US" sz="2400" dirty="0">
                <a:latin typeface="Symbol" panose="05050102010706020507" pitchFamily="18" charset="2"/>
              </a:rPr>
              <a:t></a:t>
            </a:r>
            <a:r>
              <a:rPr lang="en-US" altLang="en-US" sz="2400" dirty="0"/>
              <a:t> </a:t>
            </a:r>
            <a:r>
              <a:rPr lang="en-US" altLang="en-US" sz="2400" baseline="-25000" dirty="0" err="1"/>
              <a:t>Fname,Minit,Lname</a:t>
            </a:r>
            <a:r>
              <a:rPr lang="en-US" altLang="en-US" sz="2400" dirty="0"/>
              <a:t>(DEP4_EMPS)</a:t>
            </a:r>
          </a:p>
          <a:p>
            <a:pPr algn="ctr" eaLnBrk="1" hangingPunct="1">
              <a:lnSpc>
                <a:spcPct val="80000"/>
              </a:lnSpc>
              <a:spcAft>
                <a:spcPts val="1200"/>
              </a:spcAft>
              <a:buFont typeface="Wingdings" panose="05000000000000000000" pitchFamily="2" charset="2"/>
              <a:buNone/>
            </a:pPr>
            <a:r>
              <a:rPr lang="en-US" altLang="en-US" sz="2400" dirty="0"/>
              <a:t>DEP5_EMPS </a:t>
            </a:r>
            <a:r>
              <a:rPr lang="en-US" altLang="en-US" sz="2400" dirty="0">
                <a:sym typeface="Symbol" panose="05050102010706020507" pitchFamily="18" charset="2"/>
              </a:rPr>
              <a:t> </a:t>
            </a:r>
            <a:r>
              <a:rPr lang="en-US" altLang="en-US" sz="2400" dirty="0">
                <a:latin typeface="Symbol" panose="05050102010706020507" pitchFamily="18" charset="2"/>
              </a:rPr>
              <a:t></a:t>
            </a:r>
            <a:r>
              <a:rPr lang="en-US" altLang="en-US" sz="2400" baseline="-25000" dirty="0"/>
              <a:t>DNO=5</a:t>
            </a:r>
            <a:r>
              <a:rPr lang="en-US" altLang="en-US" sz="2400" dirty="0"/>
              <a:t> (EMPLOYEE)</a:t>
            </a:r>
          </a:p>
          <a:p>
            <a:pPr algn="ctr" eaLnBrk="1" hangingPunct="1">
              <a:lnSpc>
                <a:spcPct val="80000"/>
              </a:lnSpc>
              <a:spcAft>
                <a:spcPts val="1200"/>
              </a:spcAft>
              <a:buFont typeface="Wingdings" panose="05000000000000000000" pitchFamily="2" charset="2"/>
              <a:buNone/>
            </a:pPr>
            <a:r>
              <a:rPr lang="en-US" altLang="en-US" sz="2400" dirty="0"/>
              <a:t>R2 </a:t>
            </a:r>
            <a:r>
              <a:rPr lang="en-US" altLang="en-US" sz="2400" dirty="0">
                <a:sym typeface="Symbol" panose="05050102010706020507" pitchFamily="18" charset="2"/>
              </a:rPr>
              <a:t> </a:t>
            </a:r>
            <a:r>
              <a:rPr lang="en-US" altLang="en-US" sz="2400" dirty="0">
                <a:latin typeface="Symbol" panose="05050102010706020507" pitchFamily="18" charset="2"/>
              </a:rPr>
              <a:t></a:t>
            </a:r>
            <a:r>
              <a:rPr lang="en-US" altLang="en-US" sz="2400" dirty="0"/>
              <a:t> </a:t>
            </a:r>
            <a:r>
              <a:rPr lang="en-US" altLang="en-US" sz="2400" baseline="-25000" dirty="0" err="1"/>
              <a:t>Fname,Minit,Lname</a:t>
            </a:r>
            <a:r>
              <a:rPr lang="en-US" altLang="en-US" sz="2400" dirty="0"/>
              <a:t>(DEP5_EMPS)</a:t>
            </a:r>
          </a:p>
          <a:p>
            <a:pPr algn="ctr" eaLnBrk="1" hangingPunct="1">
              <a:lnSpc>
                <a:spcPct val="80000"/>
              </a:lnSpc>
              <a:spcAft>
                <a:spcPts val="1200"/>
              </a:spcAft>
              <a:buFont typeface="Wingdings" panose="05000000000000000000" pitchFamily="2" charset="2"/>
              <a:buNone/>
            </a:pPr>
            <a:r>
              <a:rPr lang="en-US" altLang="en-US" sz="2400" dirty="0"/>
              <a:t>R</a:t>
            </a:r>
            <a:r>
              <a:rPr lang="en-US" altLang="en-US" sz="2400" dirty="0">
                <a:sym typeface="Symbol" panose="05050102010706020507" pitchFamily="18" charset="2"/>
              </a:rPr>
              <a:t> R1</a:t>
            </a:r>
            <a:r>
              <a:rPr lang="en-US" altLang="en-US" sz="2400" dirty="0"/>
              <a:t> </a:t>
            </a:r>
            <a:r>
              <a:rPr lang="en-US" altLang="en-US" sz="2400" dirty="0">
                <a:latin typeface="Symbol" panose="05050102010706020507" pitchFamily="18" charset="2"/>
              </a:rPr>
              <a:t></a:t>
            </a:r>
            <a:r>
              <a:rPr lang="en-US" altLang="en-US" sz="2400" dirty="0"/>
              <a:t> R2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100" dirty="0"/>
              <a:t>The union operation produces the tuples that are in either R1 or R2  or both</a:t>
            </a:r>
          </a:p>
        </p:txBody>
      </p:sp>
    </p:spTree>
    <p:extLst>
      <p:ext uri="{BB962C8B-B14F-4D97-AF65-F5344CB8AC3E}">
        <p14:creationId xmlns:p14="http://schemas.microsoft.com/office/powerpoint/2010/main" val="4049024835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24F415F-FB8D-44BB-B70C-CCF3312B8C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 one 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AB2B346A-9031-4F52-935C-22DFCB4BC6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1600200"/>
            <a:ext cx="8839199" cy="4572000"/>
          </a:xfrm>
        </p:spPr>
        <p:txBody>
          <a:bodyPr/>
          <a:lstStyle/>
          <a:p>
            <a:pPr algn="ctr" eaLnBrk="1" hangingPunct="1">
              <a:lnSpc>
                <a:spcPct val="80000"/>
              </a:lnSpc>
              <a:spcAft>
                <a:spcPts val="1200"/>
              </a:spcAft>
              <a:buFont typeface="Wingdings" panose="05000000000000000000" pitchFamily="2" charset="2"/>
              <a:buNone/>
            </a:pPr>
            <a:r>
              <a:rPr lang="en-US" altLang="en-US" sz="1800" dirty="0"/>
              <a:t>R </a:t>
            </a:r>
            <a:r>
              <a:rPr lang="en-US" altLang="en-US" sz="1800" dirty="0">
                <a:sym typeface="Symbol" panose="05050102010706020507" pitchFamily="18" charset="2"/>
              </a:rPr>
              <a:t></a:t>
            </a:r>
            <a:r>
              <a:rPr lang="en-US" altLang="en-US" sz="1800" dirty="0">
                <a:latin typeface="Symbol" panose="05050102010706020507" pitchFamily="18" charset="2"/>
              </a:rPr>
              <a:t>(</a:t>
            </a:r>
            <a:r>
              <a:rPr lang="en-US" altLang="en-US" sz="1800" dirty="0"/>
              <a:t> </a:t>
            </a:r>
            <a:r>
              <a:rPr lang="en-US" altLang="en-US" sz="1800" baseline="-25000" dirty="0" err="1"/>
              <a:t>Fname,Minit,Lname</a:t>
            </a:r>
            <a:r>
              <a:rPr lang="en-US" altLang="en-US" sz="1800" dirty="0">
                <a:sym typeface="Symbol" panose="05050102010706020507" pitchFamily="18" charset="2"/>
              </a:rPr>
              <a:t> (</a:t>
            </a:r>
            <a:r>
              <a:rPr lang="en-US" altLang="en-US" sz="1800" dirty="0">
                <a:latin typeface="Symbol" panose="05050102010706020507" pitchFamily="18" charset="2"/>
              </a:rPr>
              <a:t></a:t>
            </a:r>
            <a:r>
              <a:rPr lang="en-US" altLang="en-US" sz="1800" baseline="-25000" dirty="0"/>
              <a:t>DNO=4</a:t>
            </a:r>
            <a:r>
              <a:rPr lang="en-US" altLang="en-US" sz="1800" dirty="0"/>
              <a:t> (EMPLOYEE)) U </a:t>
            </a:r>
            <a:r>
              <a:rPr lang="en-US" altLang="en-US" sz="1800" dirty="0">
                <a:latin typeface="Symbol" panose="05050102010706020507" pitchFamily="18" charset="2"/>
              </a:rPr>
              <a:t></a:t>
            </a:r>
            <a:r>
              <a:rPr lang="en-US" altLang="en-US" sz="1800" dirty="0"/>
              <a:t> </a:t>
            </a:r>
            <a:r>
              <a:rPr lang="en-US" altLang="en-US" sz="1800" baseline="-25000" dirty="0" err="1"/>
              <a:t>Fname,Minit,Lname</a:t>
            </a:r>
            <a:r>
              <a:rPr lang="en-US" altLang="en-US" sz="1800" dirty="0">
                <a:sym typeface="Symbol" panose="05050102010706020507" pitchFamily="18" charset="2"/>
              </a:rPr>
              <a:t> (</a:t>
            </a:r>
            <a:r>
              <a:rPr lang="en-US" altLang="en-US" sz="1800" dirty="0">
                <a:latin typeface="Symbol" panose="05050102010706020507" pitchFamily="18" charset="2"/>
              </a:rPr>
              <a:t></a:t>
            </a:r>
            <a:r>
              <a:rPr lang="en-US" altLang="en-US" sz="1800" baseline="-25000" dirty="0"/>
              <a:t>DNO=5</a:t>
            </a:r>
            <a:r>
              <a:rPr lang="en-US" altLang="en-US" sz="1800" dirty="0"/>
              <a:t> (EMPLOYEE))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FE6AF8BE-5D0C-40D1-836D-0242EF48186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en-US"/>
              <a:t>Slide 6- </a:t>
            </a:r>
            <a:fld id="{FEB8EDCB-4292-4ED5-8B00-20E21538EECC}" type="slidenum">
              <a:rPr lang="en-US" altLang="en-US" smtClean="0"/>
              <a:pPr/>
              <a:t>5</a:t>
            </a:fld>
            <a:endParaRPr lang="en-CA" altLang="en-US"/>
          </a:p>
        </p:txBody>
      </p:sp>
    </p:spTree>
    <p:extLst>
      <p:ext uri="{BB962C8B-B14F-4D97-AF65-F5344CB8AC3E}">
        <p14:creationId xmlns:p14="http://schemas.microsoft.com/office/powerpoint/2010/main" val="245784530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Slide Number Placeholder 3">
            <a:extLst>
              <a:ext uri="{FF2B5EF4-FFF2-40B4-BE49-F238E27FC236}">
                <a16:creationId xmlns:a16="http://schemas.microsoft.com/office/drawing/2014/main" xmlns="" id="{7DA84C1C-A84B-44A8-9606-08BF68DF3A2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>
                <a:solidFill>
                  <a:srgbClr val="990033"/>
                </a:solidFill>
              </a:rPr>
              <a:t>Slide 6- </a:t>
            </a:r>
            <a:fld id="{A68EB4B5-CD61-44B5-B33B-9A2FB8610DA3}" type="slidenum">
              <a:rPr lang="en-US" altLang="en-US" sz="1400">
                <a:solidFill>
                  <a:srgbClr val="990033"/>
                </a:solidFill>
              </a:rPr>
              <a:pPr eaLnBrk="1" hangingPunct="1"/>
              <a:t>6</a:t>
            </a:fld>
            <a:endParaRPr lang="en-CA" altLang="en-US" sz="1400">
              <a:solidFill>
                <a:srgbClr val="990033"/>
              </a:solidFill>
            </a:endParaRPr>
          </a:p>
        </p:txBody>
      </p:sp>
      <p:sp>
        <p:nvSpPr>
          <p:cNvPr id="26627" name="Rectangle 2">
            <a:extLst>
              <a:ext uri="{FF2B5EF4-FFF2-40B4-BE49-F238E27FC236}">
                <a16:creationId xmlns:a16="http://schemas.microsoft.com/office/drawing/2014/main" xmlns="" id="{F18DC9A1-A77B-48C7-A6CA-8D1AE82F7F5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 sz="3200"/>
              <a:t>Relational Algebra Operations from</a:t>
            </a:r>
            <a:br>
              <a:rPr lang="en-US" altLang="en-US" sz="3200"/>
            </a:br>
            <a:r>
              <a:rPr lang="en-US" altLang="en-US" sz="3200"/>
              <a:t>Set Theory: UNION </a:t>
            </a:r>
          </a:p>
        </p:txBody>
      </p:sp>
      <p:sp>
        <p:nvSpPr>
          <p:cNvPr id="26628" name="Rectangle 3">
            <a:extLst>
              <a:ext uri="{FF2B5EF4-FFF2-40B4-BE49-F238E27FC236}">
                <a16:creationId xmlns:a16="http://schemas.microsoft.com/office/drawing/2014/main" xmlns="" id="{4A9214F1-5A48-4773-82EB-B0B3CF16C63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en-US" sz="2400" dirty="0"/>
              <a:t>Example: 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100" dirty="0"/>
              <a:t>To retrieve the social security numbers of all employees who either </a:t>
            </a:r>
            <a:r>
              <a:rPr lang="en-US" altLang="en-US" sz="2100" i="1" dirty="0"/>
              <a:t>work in department 5</a:t>
            </a:r>
            <a:r>
              <a:rPr lang="en-US" altLang="en-US" sz="2100" dirty="0"/>
              <a:t> (RESULT1 below) or </a:t>
            </a:r>
            <a:r>
              <a:rPr lang="en-US" altLang="en-US" sz="2100" i="1" dirty="0"/>
              <a:t>directly supervise an employee who works in department 5</a:t>
            </a:r>
            <a:r>
              <a:rPr lang="en-US" altLang="en-US" sz="2100" dirty="0"/>
              <a:t> (RESULT2 below)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100" dirty="0"/>
              <a:t>We can use the UNION operation as follows:</a:t>
            </a:r>
          </a:p>
          <a:p>
            <a:pPr algn="ctr" eaLnBrk="1" hangingPunct="1">
              <a:lnSpc>
                <a:spcPct val="80000"/>
              </a:lnSpc>
              <a:spcAft>
                <a:spcPts val="1200"/>
              </a:spcAft>
              <a:buFont typeface="Wingdings" panose="05000000000000000000" pitchFamily="2" charset="2"/>
              <a:buNone/>
            </a:pPr>
            <a:r>
              <a:rPr lang="en-US" altLang="en-US" sz="2400" dirty="0"/>
              <a:t>DEP5_EMPS </a:t>
            </a:r>
            <a:r>
              <a:rPr lang="en-US" altLang="en-US" sz="2400" dirty="0">
                <a:sym typeface="Symbol" panose="05050102010706020507" pitchFamily="18" charset="2"/>
              </a:rPr>
              <a:t> </a:t>
            </a:r>
            <a:r>
              <a:rPr lang="en-US" altLang="en-US" sz="2400" dirty="0">
                <a:latin typeface="Symbol" panose="05050102010706020507" pitchFamily="18" charset="2"/>
              </a:rPr>
              <a:t></a:t>
            </a:r>
            <a:r>
              <a:rPr lang="en-US" altLang="en-US" sz="2400" baseline="-25000" dirty="0"/>
              <a:t>DNO=5</a:t>
            </a:r>
            <a:r>
              <a:rPr lang="en-US" altLang="en-US" sz="2400" dirty="0"/>
              <a:t> (EMPLOYEE)</a:t>
            </a:r>
          </a:p>
          <a:p>
            <a:pPr algn="ctr" eaLnBrk="1" hangingPunct="1">
              <a:lnSpc>
                <a:spcPct val="80000"/>
              </a:lnSpc>
              <a:spcAft>
                <a:spcPts val="1200"/>
              </a:spcAft>
              <a:buFont typeface="Wingdings" panose="05000000000000000000" pitchFamily="2" charset="2"/>
              <a:buNone/>
            </a:pPr>
            <a:r>
              <a:rPr lang="en-US" altLang="en-US" sz="2400" dirty="0"/>
              <a:t>RESULT1 </a:t>
            </a:r>
            <a:r>
              <a:rPr lang="en-US" altLang="en-US" sz="2400" dirty="0">
                <a:sym typeface="Symbol" panose="05050102010706020507" pitchFamily="18" charset="2"/>
              </a:rPr>
              <a:t> </a:t>
            </a:r>
            <a:r>
              <a:rPr lang="en-US" altLang="en-US" sz="2400" dirty="0">
                <a:latin typeface="Symbol" panose="05050102010706020507" pitchFamily="18" charset="2"/>
              </a:rPr>
              <a:t></a:t>
            </a:r>
            <a:r>
              <a:rPr lang="en-US" altLang="en-US" sz="2400" dirty="0"/>
              <a:t> </a:t>
            </a:r>
            <a:r>
              <a:rPr lang="en-US" altLang="en-US" sz="2400" baseline="-25000" dirty="0"/>
              <a:t>SSN</a:t>
            </a:r>
            <a:r>
              <a:rPr lang="en-US" altLang="en-US" sz="2400" dirty="0"/>
              <a:t>(DEP5_EMPS)</a:t>
            </a:r>
          </a:p>
          <a:p>
            <a:pPr algn="ctr" eaLnBrk="1" hangingPunct="1">
              <a:lnSpc>
                <a:spcPct val="80000"/>
              </a:lnSpc>
              <a:spcAft>
                <a:spcPts val="1200"/>
              </a:spcAft>
              <a:buFont typeface="Wingdings" panose="05000000000000000000" pitchFamily="2" charset="2"/>
              <a:buNone/>
            </a:pPr>
            <a:r>
              <a:rPr lang="en-US" altLang="en-US" sz="2400" dirty="0"/>
              <a:t>RESULT2(SSN) </a:t>
            </a:r>
            <a:r>
              <a:rPr lang="en-US" altLang="en-US" sz="2400" dirty="0">
                <a:sym typeface="Symbol" panose="05050102010706020507" pitchFamily="18" charset="2"/>
              </a:rPr>
              <a:t> </a:t>
            </a:r>
            <a:r>
              <a:rPr lang="en-US" altLang="en-US" sz="2400" dirty="0">
                <a:latin typeface="Symbol" panose="05050102010706020507" pitchFamily="18" charset="2"/>
              </a:rPr>
              <a:t></a:t>
            </a:r>
            <a:r>
              <a:rPr lang="en-US" altLang="en-US" sz="2400" baseline="-25000" dirty="0"/>
              <a:t>SUPERSSN</a:t>
            </a:r>
            <a:r>
              <a:rPr lang="en-US" altLang="en-US" sz="2400" dirty="0"/>
              <a:t>(DEP5_EMPS)</a:t>
            </a:r>
          </a:p>
          <a:p>
            <a:pPr algn="ctr" eaLnBrk="1" hangingPunct="1">
              <a:lnSpc>
                <a:spcPct val="80000"/>
              </a:lnSpc>
              <a:spcAft>
                <a:spcPts val="1200"/>
              </a:spcAft>
              <a:buFont typeface="Wingdings" panose="05000000000000000000" pitchFamily="2" charset="2"/>
              <a:buNone/>
            </a:pPr>
            <a:r>
              <a:rPr lang="en-US" altLang="en-US" sz="2400" dirty="0"/>
              <a:t>RESULT </a:t>
            </a:r>
            <a:r>
              <a:rPr lang="en-US" altLang="en-US" sz="2400" dirty="0">
                <a:sym typeface="Symbol" panose="05050102010706020507" pitchFamily="18" charset="2"/>
              </a:rPr>
              <a:t> RESULT</a:t>
            </a:r>
            <a:r>
              <a:rPr lang="en-US" altLang="en-US" sz="2400" dirty="0"/>
              <a:t>1 </a:t>
            </a:r>
            <a:r>
              <a:rPr lang="en-US" altLang="en-US" sz="2400" dirty="0">
                <a:latin typeface="Symbol" panose="05050102010706020507" pitchFamily="18" charset="2"/>
              </a:rPr>
              <a:t></a:t>
            </a:r>
            <a:r>
              <a:rPr lang="en-US" altLang="en-US" sz="2400" dirty="0"/>
              <a:t> RESULT2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100" dirty="0"/>
              <a:t>The union operation produces the tuples that are in either RESULT1 or RESULT2 or both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F2C87FA-DBF2-4A5F-B95E-15EA67EC1A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D591C04E-6C18-4CCD-B6FE-736D16D57F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5E99DD93-BDDA-4EBD-BC74-A07DBAC97E3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en-US"/>
              <a:t>Slide 6- </a:t>
            </a:r>
            <a:fld id="{FEB8EDCB-4292-4ED5-8B00-20E21538EECC}" type="slidenum">
              <a:rPr lang="en-US" altLang="en-US" smtClean="0"/>
              <a:pPr/>
              <a:t>7</a:t>
            </a:fld>
            <a:endParaRPr lang="en-CA" altLang="en-US"/>
          </a:p>
        </p:txBody>
      </p:sp>
      <p:pic>
        <p:nvPicPr>
          <p:cNvPr id="6" name="Picture 9" descr="fig05_06">
            <a:extLst>
              <a:ext uri="{FF2B5EF4-FFF2-40B4-BE49-F238E27FC236}">
                <a16:creationId xmlns:a16="http://schemas.microsoft.com/office/drawing/2014/main" xmlns="" id="{15628558-55A4-4675-84BF-5BDE17E31B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0" y="-277813"/>
            <a:ext cx="5243513" cy="6678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07450122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Slide Number Placeholder 3">
            <a:extLst>
              <a:ext uri="{FF2B5EF4-FFF2-40B4-BE49-F238E27FC236}">
                <a16:creationId xmlns:a16="http://schemas.microsoft.com/office/drawing/2014/main" xmlns="" id="{A98138F2-A907-4D69-A80C-2BCB85DE6C3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>
                <a:solidFill>
                  <a:srgbClr val="990033"/>
                </a:solidFill>
              </a:rPr>
              <a:t>Slide 6- </a:t>
            </a:r>
            <a:fld id="{4CA4C8AE-29FE-4E50-9B56-6C68272A1012}" type="slidenum">
              <a:rPr lang="en-US" altLang="en-US" sz="1400">
                <a:solidFill>
                  <a:srgbClr val="990033"/>
                </a:solidFill>
              </a:rPr>
              <a:pPr eaLnBrk="1" hangingPunct="1"/>
              <a:t>8</a:t>
            </a:fld>
            <a:endParaRPr lang="en-CA" altLang="en-US" sz="1400">
              <a:solidFill>
                <a:srgbClr val="990033"/>
              </a:solidFill>
            </a:endParaRPr>
          </a:p>
        </p:txBody>
      </p:sp>
      <p:sp>
        <p:nvSpPr>
          <p:cNvPr id="27651" name="Rectangle 2">
            <a:extLst>
              <a:ext uri="{FF2B5EF4-FFF2-40B4-BE49-F238E27FC236}">
                <a16:creationId xmlns:a16="http://schemas.microsoft.com/office/drawing/2014/main" xmlns="" id="{9706666C-136A-47AF-9A85-37880AA89A3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 sz="3200"/>
              <a:t>Example of the result of a UNION operation</a:t>
            </a:r>
          </a:p>
        </p:txBody>
      </p:sp>
      <p:sp>
        <p:nvSpPr>
          <p:cNvPr id="27652" name="Rectangle 3">
            <a:extLst>
              <a:ext uri="{FF2B5EF4-FFF2-40B4-BE49-F238E27FC236}">
                <a16:creationId xmlns:a16="http://schemas.microsoft.com/office/drawing/2014/main" xmlns="" id="{F3ADA9C6-40DA-483B-9F14-00818D5F17E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UNION Example</a:t>
            </a:r>
          </a:p>
          <a:p>
            <a:pPr lvl="1" eaLnBrk="1" hangingPunct="1"/>
            <a:endParaRPr lang="en-US" altLang="en-US" dirty="0"/>
          </a:p>
        </p:txBody>
      </p:sp>
      <p:sp>
        <p:nvSpPr>
          <p:cNvPr id="27653" name="Rectangle 7">
            <a:extLst>
              <a:ext uri="{FF2B5EF4-FFF2-40B4-BE49-F238E27FC236}">
                <a16:creationId xmlns:a16="http://schemas.microsoft.com/office/drawing/2014/main" xmlns="" id="{4A7A01DD-28E1-411A-8E4B-AF789F911E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16688" y="2166938"/>
            <a:ext cx="460375" cy="57626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pic>
        <p:nvPicPr>
          <p:cNvPr id="27654" name="Picture 8" descr="fig06_03">
            <a:extLst>
              <a:ext uri="{FF2B5EF4-FFF2-40B4-BE49-F238E27FC236}">
                <a16:creationId xmlns:a16="http://schemas.microsoft.com/office/drawing/2014/main" xmlns="" id="{49BAD19D-DD66-4940-9BAC-7A89AB2468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5913" y="2971800"/>
            <a:ext cx="8294687" cy="2195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Slide Number Placeholder 3">
            <a:extLst>
              <a:ext uri="{FF2B5EF4-FFF2-40B4-BE49-F238E27FC236}">
                <a16:creationId xmlns:a16="http://schemas.microsoft.com/office/drawing/2014/main" xmlns="" id="{2BF2CA13-C6AA-4DB1-BFF7-50A013ED960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>
                <a:solidFill>
                  <a:srgbClr val="990033"/>
                </a:solidFill>
              </a:rPr>
              <a:t>Slide 6- </a:t>
            </a:r>
            <a:fld id="{B1A3B73D-606F-4BA5-B1DD-1651F2B18F0A}" type="slidenum">
              <a:rPr lang="en-US" altLang="en-US" sz="1400">
                <a:solidFill>
                  <a:srgbClr val="990033"/>
                </a:solidFill>
              </a:rPr>
              <a:pPr eaLnBrk="1" hangingPunct="1"/>
              <a:t>9</a:t>
            </a:fld>
            <a:endParaRPr lang="en-CA" altLang="en-US" sz="1400">
              <a:solidFill>
                <a:srgbClr val="990033"/>
              </a:solidFill>
            </a:endParaRPr>
          </a:p>
        </p:txBody>
      </p:sp>
      <p:sp>
        <p:nvSpPr>
          <p:cNvPr id="28675" name="Rectangle 4">
            <a:extLst>
              <a:ext uri="{FF2B5EF4-FFF2-40B4-BE49-F238E27FC236}">
                <a16:creationId xmlns:a16="http://schemas.microsoft.com/office/drawing/2014/main" xmlns="" id="{BA473F56-CA61-4560-B569-2DB23B2AA79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 sz="3200"/>
              <a:t>Relational Algebra Operations from</a:t>
            </a:r>
            <a:br>
              <a:rPr lang="en-US" altLang="en-US" sz="3200"/>
            </a:br>
            <a:r>
              <a:rPr lang="en-US" altLang="en-US" sz="3200"/>
              <a:t>Set Theory </a:t>
            </a:r>
          </a:p>
        </p:txBody>
      </p:sp>
      <p:sp>
        <p:nvSpPr>
          <p:cNvPr id="28676" name="Rectangle 5">
            <a:extLst>
              <a:ext uri="{FF2B5EF4-FFF2-40B4-BE49-F238E27FC236}">
                <a16:creationId xmlns:a16="http://schemas.microsoft.com/office/drawing/2014/main" xmlns="" id="{BAE8B755-A210-46F4-9361-5B70B06B957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sz="2400"/>
              <a:t>Type Compatibility of operands is required for the binary set operation UNION </a:t>
            </a:r>
            <a:r>
              <a:rPr lang="en-US" altLang="en-US" sz="2400">
                <a:latin typeface="Symbol" panose="05050102010706020507" pitchFamily="18" charset="2"/>
              </a:rPr>
              <a:t></a:t>
            </a:r>
            <a:r>
              <a:rPr lang="en-US" altLang="en-US" sz="2400"/>
              <a:t>, (also for INTERSECTION </a:t>
            </a:r>
            <a:r>
              <a:rPr lang="en-US" altLang="en-US" sz="2400">
                <a:latin typeface="Symbol" panose="05050102010706020507" pitchFamily="18" charset="2"/>
              </a:rPr>
              <a:t></a:t>
            </a:r>
            <a:r>
              <a:rPr lang="en-US" altLang="en-US" sz="2400"/>
              <a:t>, and SET DIFFERENCE –, see next slides)</a:t>
            </a:r>
          </a:p>
          <a:p>
            <a:pPr eaLnBrk="1" hangingPunct="1"/>
            <a:r>
              <a:rPr lang="en-US" altLang="en-US" sz="2400"/>
              <a:t>R1(A1, A2, ..., An) and R2(B1, B2, ..., Bn) are type compatible if:</a:t>
            </a:r>
          </a:p>
          <a:p>
            <a:pPr lvl="1" eaLnBrk="1" hangingPunct="1"/>
            <a:r>
              <a:rPr lang="en-US" altLang="en-US" sz="2200"/>
              <a:t>they have the same number of attributes, and</a:t>
            </a:r>
          </a:p>
          <a:p>
            <a:pPr lvl="1" eaLnBrk="1" hangingPunct="1"/>
            <a:r>
              <a:rPr lang="en-US" altLang="en-US" sz="2200"/>
              <a:t>the domains of corresponding attributes are type compatible (i.e. dom(Ai)=dom(Bi) for i=1, 2, ..., n). </a:t>
            </a:r>
          </a:p>
          <a:p>
            <a:pPr eaLnBrk="1" hangingPunct="1"/>
            <a:r>
              <a:rPr lang="en-US" altLang="en-US" sz="2400"/>
              <a:t>The resulting relation for R1</a:t>
            </a:r>
            <a:r>
              <a:rPr lang="en-US" altLang="en-US" sz="2400">
                <a:latin typeface="Symbol" panose="05050102010706020507" pitchFamily="18" charset="2"/>
              </a:rPr>
              <a:t></a:t>
            </a:r>
            <a:r>
              <a:rPr lang="en-US" altLang="en-US" sz="2400"/>
              <a:t>R2 (also for R1</a:t>
            </a:r>
            <a:r>
              <a:rPr lang="en-US" altLang="en-US" sz="2400">
                <a:latin typeface="Symbol" panose="05050102010706020507" pitchFamily="18" charset="2"/>
              </a:rPr>
              <a:t></a:t>
            </a:r>
            <a:r>
              <a:rPr lang="en-US" altLang="en-US" sz="2400"/>
              <a:t>R2, or R1–R2, see next slides) has the same attribute names as the </a:t>
            </a:r>
            <a:r>
              <a:rPr lang="en-US" altLang="en-US" sz="2400" i="1"/>
              <a:t>first</a:t>
            </a:r>
            <a:r>
              <a:rPr lang="en-US" altLang="en-US" sz="2400"/>
              <a:t> operand relation R1 (by convention)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Slide Number Placeholder 3">
            <a:extLst>
              <a:ext uri="{FF2B5EF4-FFF2-40B4-BE49-F238E27FC236}">
                <a16:creationId xmlns:a16="http://schemas.microsoft.com/office/drawing/2014/main" xmlns="" id="{5EE95430-5DF4-479E-A982-2D4A68F64CB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>
                <a:solidFill>
                  <a:srgbClr val="990033"/>
                </a:solidFill>
              </a:rPr>
              <a:t>Slide 6- </a:t>
            </a:r>
            <a:fld id="{69EA6895-AEA5-4027-AC5A-363D2534D891}" type="slidenum">
              <a:rPr lang="en-US" altLang="en-US" sz="1400">
                <a:solidFill>
                  <a:srgbClr val="990033"/>
                </a:solidFill>
              </a:rPr>
              <a:pPr eaLnBrk="1" hangingPunct="1"/>
              <a:t>10</a:t>
            </a:fld>
            <a:endParaRPr lang="en-CA" altLang="en-US" sz="1400">
              <a:solidFill>
                <a:srgbClr val="990033"/>
              </a:solidFill>
            </a:endParaRPr>
          </a:p>
        </p:txBody>
      </p:sp>
      <p:sp>
        <p:nvSpPr>
          <p:cNvPr id="29699" name="Rectangle 7">
            <a:extLst>
              <a:ext uri="{FF2B5EF4-FFF2-40B4-BE49-F238E27FC236}">
                <a16:creationId xmlns:a16="http://schemas.microsoft.com/office/drawing/2014/main" xmlns="" id="{414E69EC-53A7-4FEC-B91C-655358EFED7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 sz="3200"/>
              <a:t>Relational Algebra Operations from Set Theory: INTERSECTION</a:t>
            </a:r>
          </a:p>
        </p:txBody>
      </p:sp>
      <p:sp>
        <p:nvSpPr>
          <p:cNvPr id="29700" name="Rectangle 8">
            <a:extLst>
              <a:ext uri="{FF2B5EF4-FFF2-40B4-BE49-F238E27FC236}">
                <a16:creationId xmlns:a16="http://schemas.microsoft.com/office/drawing/2014/main" xmlns="" id="{4ACA5925-EC2E-4772-933A-6EE11D8A477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39713" y="1600200"/>
            <a:ext cx="8294687" cy="4648200"/>
          </a:xfrm>
        </p:spPr>
        <p:txBody>
          <a:bodyPr/>
          <a:lstStyle/>
          <a:p>
            <a:pPr eaLnBrk="1" hangingPunct="1"/>
            <a:r>
              <a:rPr lang="en-US" altLang="en-US" sz="3200"/>
              <a:t>INTERSECTION is denoted by </a:t>
            </a:r>
            <a:r>
              <a:rPr lang="en-US" altLang="en-US" sz="3200">
                <a:latin typeface="Symbol" panose="05050102010706020507" pitchFamily="18" charset="2"/>
              </a:rPr>
              <a:t></a:t>
            </a:r>
            <a:endParaRPr lang="en-US" altLang="en-US" sz="3200"/>
          </a:p>
          <a:p>
            <a:pPr eaLnBrk="1" hangingPunct="1"/>
            <a:r>
              <a:rPr lang="en-US" altLang="en-US" sz="3200"/>
              <a:t>The result of the operation R </a:t>
            </a:r>
            <a:r>
              <a:rPr lang="en-US" altLang="en-US" sz="3200">
                <a:latin typeface="Symbol" panose="05050102010706020507" pitchFamily="18" charset="2"/>
              </a:rPr>
              <a:t></a:t>
            </a:r>
            <a:r>
              <a:rPr lang="en-US" altLang="en-US" sz="3200"/>
              <a:t> S, is a relation that includes all tuples that are in both R and S</a:t>
            </a:r>
          </a:p>
          <a:p>
            <a:pPr lvl="1" eaLnBrk="1" hangingPunct="1"/>
            <a:r>
              <a:rPr lang="en-US" altLang="en-US" sz="3000"/>
              <a:t>The attribute names in the result will be the same as the attribute names in R</a:t>
            </a:r>
          </a:p>
          <a:p>
            <a:pPr eaLnBrk="1" hangingPunct="1"/>
            <a:r>
              <a:rPr lang="en-US" altLang="en-US" sz="3200"/>
              <a:t>The two operand relations R and S must be “type compatible”</a:t>
            </a:r>
          </a:p>
          <a:p>
            <a:pPr eaLnBrk="1" hangingPunct="1"/>
            <a:endParaRPr lang="en-US" altLang="en-US" sz="3200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Slide Number Placeholder 3">
            <a:extLst>
              <a:ext uri="{FF2B5EF4-FFF2-40B4-BE49-F238E27FC236}">
                <a16:creationId xmlns:a16="http://schemas.microsoft.com/office/drawing/2014/main" xmlns="" id="{BD0C1A14-0B10-419A-B225-2728D39AB56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>
                <a:solidFill>
                  <a:srgbClr val="990033"/>
                </a:solidFill>
              </a:rPr>
              <a:t>Slide 6- </a:t>
            </a:r>
            <a:fld id="{A13156FC-CD82-4C94-B4DC-28283BEE3F7D}" type="slidenum">
              <a:rPr lang="en-US" altLang="en-US" sz="1400">
                <a:solidFill>
                  <a:srgbClr val="990033"/>
                </a:solidFill>
              </a:rPr>
              <a:pPr eaLnBrk="1" hangingPunct="1"/>
              <a:t>11</a:t>
            </a:fld>
            <a:endParaRPr lang="en-CA" altLang="en-US" sz="1400">
              <a:solidFill>
                <a:srgbClr val="990033"/>
              </a:solidFill>
            </a:endParaRPr>
          </a:p>
        </p:txBody>
      </p:sp>
      <p:sp>
        <p:nvSpPr>
          <p:cNvPr id="30723" name="Rectangle 11">
            <a:extLst>
              <a:ext uri="{FF2B5EF4-FFF2-40B4-BE49-F238E27FC236}">
                <a16:creationId xmlns:a16="http://schemas.microsoft.com/office/drawing/2014/main" xmlns="" id="{84823904-6090-42B8-8E1F-94584577EAF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200"/>
              <a:t>Relational Algebra Operations from Set Theory: SET DIFFERENCE (cont.) </a:t>
            </a:r>
          </a:p>
        </p:txBody>
      </p:sp>
      <p:sp>
        <p:nvSpPr>
          <p:cNvPr id="30724" name="Rectangle 12">
            <a:extLst>
              <a:ext uri="{FF2B5EF4-FFF2-40B4-BE49-F238E27FC236}">
                <a16:creationId xmlns:a16="http://schemas.microsoft.com/office/drawing/2014/main" xmlns="" id="{774129FF-794F-44B4-991F-EF288F6E309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39713" y="1600200"/>
            <a:ext cx="8294687" cy="4495800"/>
          </a:xfrm>
        </p:spPr>
        <p:txBody>
          <a:bodyPr/>
          <a:lstStyle/>
          <a:p>
            <a:pPr eaLnBrk="1" hangingPunct="1"/>
            <a:r>
              <a:rPr lang="en-US" altLang="en-US"/>
              <a:t>SET DIFFERENCE (also called MINUS or EXCEPT) is denoted by – </a:t>
            </a:r>
          </a:p>
          <a:p>
            <a:pPr eaLnBrk="1" hangingPunct="1"/>
            <a:r>
              <a:rPr lang="en-US" altLang="en-US"/>
              <a:t>The result of R – S, is a relation that includes all tuples that are in R but not in S</a:t>
            </a:r>
          </a:p>
          <a:p>
            <a:pPr lvl="1" eaLnBrk="1" hangingPunct="1"/>
            <a:r>
              <a:rPr lang="en-US" altLang="en-US" sz="3000"/>
              <a:t>The attribute names in the result will be the same as the attribute names in R</a:t>
            </a:r>
          </a:p>
          <a:p>
            <a:pPr eaLnBrk="1" hangingPunct="1"/>
            <a:r>
              <a:rPr lang="en-US" altLang="en-US" sz="3200"/>
              <a:t>The two operand relations R and S must be “type compatible”</a:t>
            </a:r>
            <a:endParaRPr lang="en-US" altLang="en-US"/>
          </a:p>
          <a:p>
            <a:pPr eaLnBrk="1" hangingPunct="1"/>
            <a:endParaRPr lang="en-US" altLang="en-US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Slide Number Placeholder 2">
            <a:extLst>
              <a:ext uri="{FF2B5EF4-FFF2-40B4-BE49-F238E27FC236}">
                <a16:creationId xmlns:a16="http://schemas.microsoft.com/office/drawing/2014/main" xmlns="" id="{6AC0936A-E5AE-42DD-9A94-E0EE79E9199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>
                <a:solidFill>
                  <a:srgbClr val="990033"/>
                </a:solidFill>
              </a:rPr>
              <a:t>Slide 6- </a:t>
            </a:r>
            <a:fld id="{FDE47EB8-F724-495B-BAA9-EF9ABBC632B7}" type="slidenum">
              <a:rPr lang="en-US" altLang="en-US" sz="1400">
                <a:solidFill>
                  <a:srgbClr val="990033"/>
                </a:solidFill>
              </a:rPr>
              <a:pPr eaLnBrk="1" hangingPunct="1"/>
              <a:t>12</a:t>
            </a:fld>
            <a:endParaRPr lang="en-CA" altLang="en-US" sz="1400">
              <a:solidFill>
                <a:srgbClr val="990033"/>
              </a:solidFill>
            </a:endParaRPr>
          </a:p>
        </p:txBody>
      </p:sp>
      <p:sp>
        <p:nvSpPr>
          <p:cNvPr id="31747" name="Rectangle 2">
            <a:extLst>
              <a:ext uri="{FF2B5EF4-FFF2-40B4-BE49-F238E27FC236}">
                <a16:creationId xmlns:a16="http://schemas.microsoft.com/office/drawing/2014/main" xmlns="" id="{0BBB5E2C-D723-4727-B7AF-DEE6858D79E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 sz="3200"/>
              <a:t>Example to illustrate the result of UNION, INTERSECT, and DIFFERENCE</a:t>
            </a:r>
          </a:p>
        </p:txBody>
      </p:sp>
      <p:sp>
        <p:nvSpPr>
          <p:cNvPr id="31748" name="Rectangle 3">
            <a:extLst>
              <a:ext uri="{FF2B5EF4-FFF2-40B4-BE49-F238E27FC236}">
                <a16:creationId xmlns:a16="http://schemas.microsoft.com/office/drawing/2014/main" xmlns="" id="{2B1B4E12-471A-40BF-B131-7FAAAABF4F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33563" y="130968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pic>
        <p:nvPicPr>
          <p:cNvPr id="31749" name="Picture 5" descr="fig06_04">
            <a:extLst>
              <a:ext uri="{FF2B5EF4-FFF2-40B4-BE49-F238E27FC236}">
                <a16:creationId xmlns:a16="http://schemas.microsoft.com/office/drawing/2014/main" xmlns="" id="{3542DC41-2127-4D4B-A127-BDB8E8926A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3563" y="1576388"/>
            <a:ext cx="5486400" cy="4749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Slide Number Placeholder 3">
            <a:extLst>
              <a:ext uri="{FF2B5EF4-FFF2-40B4-BE49-F238E27FC236}">
                <a16:creationId xmlns:a16="http://schemas.microsoft.com/office/drawing/2014/main" xmlns="" id="{ECFA6FDA-DC38-4339-B90B-0EB4FFFB1D2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>
                <a:solidFill>
                  <a:srgbClr val="990033"/>
                </a:solidFill>
              </a:rPr>
              <a:t>Slide 6- </a:t>
            </a:r>
            <a:fld id="{22BA0FD8-FDFF-46D9-96BC-E360DDAA6D25}" type="slidenum">
              <a:rPr lang="en-US" altLang="en-US" sz="1400">
                <a:solidFill>
                  <a:srgbClr val="990033"/>
                </a:solidFill>
              </a:rPr>
              <a:pPr eaLnBrk="1" hangingPunct="1"/>
              <a:t>13</a:t>
            </a:fld>
            <a:endParaRPr lang="en-CA" altLang="en-US" sz="1400">
              <a:solidFill>
                <a:srgbClr val="990033"/>
              </a:solidFill>
            </a:endParaRPr>
          </a:p>
        </p:txBody>
      </p:sp>
      <p:sp>
        <p:nvSpPr>
          <p:cNvPr id="32771" name="Rectangle 6">
            <a:extLst>
              <a:ext uri="{FF2B5EF4-FFF2-40B4-BE49-F238E27FC236}">
                <a16:creationId xmlns:a16="http://schemas.microsoft.com/office/drawing/2014/main" xmlns="" id="{73C1FD3D-6FF4-404F-8737-574B7D2FE80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200"/>
              <a:t>Some properties of UNION, INTERSECT, and DIFFERENCE</a:t>
            </a:r>
          </a:p>
        </p:txBody>
      </p:sp>
      <p:sp>
        <p:nvSpPr>
          <p:cNvPr id="32772" name="Rectangle 7">
            <a:extLst>
              <a:ext uri="{FF2B5EF4-FFF2-40B4-BE49-F238E27FC236}">
                <a16:creationId xmlns:a16="http://schemas.microsoft.com/office/drawing/2014/main" xmlns="" id="{BBE4AF28-33A0-4ED8-8323-D61DA6F1197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sz="2400"/>
              <a:t>Notice that both union and intersection are </a:t>
            </a:r>
            <a:r>
              <a:rPr lang="en-US" altLang="en-US" sz="2400" i="1"/>
              <a:t>commutative</a:t>
            </a:r>
            <a:r>
              <a:rPr lang="en-US" altLang="en-US" sz="2400"/>
              <a:t> operations; that is</a:t>
            </a:r>
          </a:p>
          <a:p>
            <a:pPr lvl="1" eaLnBrk="1" hangingPunct="1"/>
            <a:r>
              <a:rPr lang="en-US" altLang="en-US" sz="2200"/>
              <a:t>R </a:t>
            </a:r>
            <a:r>
              <a:rPr lang="en-US" altLang="en-US" sz="2200">
                <a:latin typeface="Symbol" panose="05050102010706020507" pitchFamily="18" charset="2"/>
              </a:rPr>
              <a:t></a:t>
            </a:r>
            <a:r>
              <a:rPr lang="en-US" altLang="en-US" sz="2200"/>
              <a:t> S = S </a:t>
            </a:r>
            <a:r>
              <a:rPr lang="en-US" altLang="en-US" sz="2200">
                <a:latin typeface="Symbol" panose="05050102010706020507" pitchFamily="18" charset="2"/>
              </a:rPr>
              <a:t></a:t>
            </a:r>
            <a:r>
              <a:rPr lang="en-US" altLang="en-US" sz="2200"/>
              <a:t> R, and R </a:t>
            </a:r>
            <a:r>
              <a:rPr lang="en-US" altLang="en-US" sz="2200">
                <a:latin typeface="Symbol" panose="05050102010706020507" pitchFamily="18" charset="2"/>
              </a:rPr>
              <a:t></a:t>
            </a:r>
            <a:r>
              <a:rPr lang="en-US" altLang="en-US" sz="2200"/>
              <a:t> S = S </a:t>
            </a:r>
            <a:r>
              <a:rPr lang="en-US" altLang="en-US" sz="2200">
                <a:latin typeface="Symbol" panose="05050102010706020507" pitchFamily="18" charset="2"/>
              </a:rPr>
              <a:t></a:t>
            </a:r>
            <a:r>
              <a:rPr lang="en-US" altLang="en-US" sz="2200"/>
              <a:t> R</a:t>
            </a:r>
          </a:p>
          <a:p>
            <a:pPr eaLnBrk="1" hangingPunct="1"/>
            <a:r>
              <a:rPr lang="en-US" altLang="en-US" sz="2400"/>
              <a:t>Both union and intersection can be treated as n-ary operations applicable to any number of relations as both are </a:t>
            </a:r>
            <a:r>
              <a:rPr lang="en-US" altLang="en-US" sz="2400" i="1"/>
              <a:t>associative</a:t>
            </a:r>
            <a:r>
              <a:rPr lang="en-US" altLang="en-US" sz="2400"/>
              <a:t> operations; that is</a:t>
            </a:r>
          </a:p>
          <a:p>
            <a:pPr lvl="1" eaLnBrk="1" hangingPunct="1"/>
            <a:r>
              <a:rPr lang="en-US" altLang="en-US" sz="2200"/>
              <a:t>R </a:t>
            </a:r>
            <a:r>
              <a:rPr lang="en-US" altLang="en-US" sz="2200">
                <a:latin typeface="Symbol" panose="05050102010706020507" pitchFamily="18" charset="2"/>
              </a:rPr>
              <a:t></a:t>
            </a:r>
            <a:r>
              <a:rPr lang="en-US" altLang="en-US" sz="2200"/>
              <a:t> (S </a:t>
            </a:r>
            <a:r>
              <a:rPr lang="en-US" altLang="en-US" sz="2200">
                <a:latin typeface="Symbol" panose="05050102010706020507" pitchFamily="18" charset="2"/>
              </a:rPr>
              <a:t></a:t>
            </a:r>
            <a:r>
              <a:rPr lang="en-US" altLang="en-US" sz="2200"/>
              <a:t> T) = (R </a:t>
            </a:r>
            <a:r>
              <a:rPr lang="en-US" altLang="en-US" sz="2200">
                <a:latin typeface="Symbol" panose="05050102010706020507" pitchFamily="18" charset="2"/>
              </a:rPr>
              <a:t></a:t>
            </a:r>
            <a:r>
              <a:rPr lang="en-US" altLang="en-US" sz="2200"/>
              <a:t> S) </a:t>
            </a:r>
            <a:r>
              <a:rPr lang="en-US" altLang="en-US" sz="2200">
                <a:latin typeface="Symbol" panose="05050102010706020507" pitchFamily="18" charset="2"/>
              </a:rPr>
              <a:t></a:t>
            </a:r>
            <a:r>
              <a:rPr lang="en-US" altLang="en-US" sz="2200"/>
              <a:t> T</a:t>
            </a:r>
          </a:p>
          <a:p>
            <a:pPr lvl="1" eaLnBrk="1" hangingPunct="1"/>
            <a:r>
              <a:rPr lang="en-US" altLang="en-US" sz="2200"/>
              <a:t>(R </a:t>
            </a:r>
            <a:r>
              <a:rPr lang="en-US" altLang="en-US" sz="2200">
                <a:latin typeface="Symbol" panose="05050102010706020507" pitchFamily="18" charset="2"/>
              </a:rPr>
              <a:t></a:t>
            </a:r>
            <a:r>
              <a:rPr lang="en-US" altLang="en-US" sz="2200"/>
              <a:t> S) </a:t>
            </a:r>
            <a:r>
              <a:rPr lang="en-US" altLang="en-US" sz="2200">
                <a:latin typeface="Symbol" panose="05050102010706020507" pitchFamily="18" charset="2"/>
              </a:rPr>
              <a:t></a:t>
            </a:r>
            <a:r>
              <a:rPr lang="en-US" altLang="en-US" sz="2200"/>
              <a:t> T = R </a:t>
            </a:r>
            <a:r>
              <a:rPr lang="en-US" altLang="en-US" sz="2200">
                <a:latin typeface="Symbol" panose="05050102010706020507" pitchFamily="18" charset="2"/>
              </a:rPr>
              <a:t></a:t>
            </a:r>
            <a:r>
              <a:rPr lang="en-US" altLang="en-US" sz="2200"/>
              <a:t> (S </a:t>
            </a:r>
            <a:r>
              <a:rPr lang="en-US" altLang="en-US" sz="2200">
                <a:latin typeface="Symbol" panose="05050102010706020507" pitchFamily="18" charset="2"/>
              </a:rPr>
              <a:t></a:t>
            </a:r>
            <a:r>
              <a:rPr lang="en-US" altLang="en-US" sz="2200"/>
              <a:t> T)</a:t>
            </a:r>
          </a:p>
          <a:p>
            <a:pPr eaLnBrk="1" hangingPunct="1"/>
            <a:r>
              <a:rPr lang="en-US" altLang="en-US" sz="2400"/>
              <a:t>The minus operation is not commutative; that is, in general</a:t>
            </a:r>
          </a:p>
          <a:p>
            <a:pPr lvl="1" eaLnBrk="1" hangingPunct="1"/>
            <a:r>
              <a:rPr lang="en-US" altLang="en-US" sz="2200"/>
              <a:t>R – S ≠ S – R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Slide Number Placeholder 3">
            <a:extLst>
              <a:ext uri="{FF2B5EF4-FFF2-40B4-BE49-F238E27FC236}">
                <a16:creationId xmlns:a16="http://schemas.microsoft.com/office/drawing/2014/main" xmlns="" id="{3EEFB8EA-C266-4C36-BE02-AA0480D9AE3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>
                <a:solidFill>
                  <a:srgbClr val="990033"/>
                </a:solidFill>
              </a:rPr>
              <a:t>Slide 6- </a:t>
            </a:r>
            <a:fld id="{C47C6F90-77D1-4E53-A972-E5EC6EAF1A46}" type="slidenum">
              <a:rPr lang="en-US" altLang="en-US" sz="1400">
                <a:solidFill>
                  <a:srgbClr val="990033"/>
                </a:solidFill>
              </a:rPr>
              <a:pPr eaLnBrk="1" hangingPunct="1"/>
              <a:t>14</a:t>
            </a:fld>
            <a:endParaRPr lang="en-CA" altLang="en-US" sz="1400">
              <a:solidFill>
                <a:srgbClr val="990033"/>
              </a:solidFill>
            </a:endParaRPr>
          </a:p>
        </p:txBody>
      </p:sp>
      <p:sp>
        <p:nvSpPr>
          <p:cNvPr id="33795" name="Rectangle 6">
            <a:extLst>
              <a:ext uri="{FF2B5EF4-FFF2-40B4-BE49-F238E27FC236}">
                <a16:creationId xmlns:a16="http://schemas.microsoft.com/office/drawing/2014/main" xmlns="" id="{70C2F373-3E8B-4684-B784-4E907E95050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200"/>
              <a:t>Relational Algebra Operations from Set Theory: CARTESIAN PRODUCT</a:t>
            </a:r>
          </a:p>
        </p:txBody>
      </p:sp>
      <p:sp>
        <p:nvSpPr>
          <p:cNvPr id="33796" name="Rectangle 7">
            <a:extLst>
              <a:ext uri="{FF2B5EF4-FFF2-40B4-BE49-F238E27FC236}">
                <a16:creationId xmlns:a16="http://schemas.microsoft.com/office/drawing/2014/main" xmlns="" id="{71AA0CB6-3945-45E7-BE18-F17E2F974F7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sz="2400"/>
              <a:t>CARTESIAN (or CROSS) PRODUCT Operation</a:t>
            </a:r>
          </a:p>
          <a:p>
            <a:pPr lvl="1" eaLnBrk="1" hangingPunct="1"/>
            <a:r>
              <a:rPr lang="en-US" altLang="en-US" sz="2200"/>
              <a:t>This operation is used to combine tuples from two relations in a combinatorial fashion.</a:t>
            </a:r>
          </a:p>
          <a:p>
            <a:pPr lvl="1" eaLnBrk="1" hangingPunct="1"/>
            <a:r>
              <a:rPr lang="en-US" altLang="en-US" sz="2200"/>
              <a:t>Denoted by R(A1, A2, . . ., An) x S(B1, B2, . . ., Bm)</a:t>
            </a:r>
          </a:p>
          <a:p>
            <a:pPr lvl="1" eaLnBrk="1" hangingPunct="1"/>
            <a:r>
              <a:rPr lang="en-US" altLang="en-US" sz="2200"/>
              <a:t>Result is a relation Q with degree n + m attributes:</a:t>
            </a:r>
          </a:p>
          <a:p>
            <a:pPr lvl="2" eaLnBrk="1" hangingPunct="1"/>
            <a:r>
              <a:rPr lang="en-US" altLang="en-US" sz="2000"/>
              <a:t>Q(A1, A2, . . ., An, B1, B2, . . ., Bm), in that order.</a:t>
            </a:r>
          </a:p>
          <a:p>
            <a:pPr lvl="1" eaLnBrk="1" hangingPunct="1"/>
            <a:r>
              <a:rPr lang="en-US" altLang="en-US" sz="2200"/>
              <a:t>The resulting relation state has one tuple for each combination of tuples—one from R and one from S. </a:t>
            </a:r>
          </a:p>
          <a:p>
            <a:pPr lvl="1" eaLnBrk="1" hangingPunct="1"/>
            <a:r>
              <a:rPr lang="en-US" altLang="en-US" sz="2200"/>
              <a:t>Hence, if R has n</a:t>
            </a:r>
            <a:r>
              <a:rPr lang="en-US" altLang="en-US" sz="2200" baseline="-25000"/>
              <a:t>R</a:t>
            </a:r>
            <a:r>
              <a:rPr lang="en-US" altLang="en-US" sz="2200"/>
              <a:t> tuples (denoted as |R| = n</a:t>
            </a:r>
            <a:r>
              <a:rPr lang="en-US" altLang="en-US" sz="2200" baseline="-25000"/>
              <a:t>R</a:t>
            </a:r>
            <a:r>
              <a:rPr lang="en-US" altLang="en-US" sz="2200"/>
              <a:t> ), and S has n</a:t>
            </a:r>
            <a:r>
              <a:rPr lang="en-US" altLang="en-US" sz="2200" baseline="-25000"/>
              <a:t>S</a:t>
            </a:r>
            <a:r>
              <a:rPr lang="en-US" altLang="en-US" sz="2200"/>
              <a:t> tuples, then R x S will have n</a:t>
            </a:r>
            <a:r>
              <a:rPr lang="en-US" altLang="en-US" sz="2200" baseline="-25000"/>
              <a:t>R</a:t>
            </a:r>
            <a:r>
              <a:rPr lang="en-US" altLang="en-US" sz="2200"/>
              <a:t> * n</a:t>
            </a:r>
            <a:r>
              <a:rPr lang="en-US" altLang="en-US" sz="2200" baseline="-25000"/>
              <a:t>S</a:t>
            </a:r>
            <a:r>
              <a:rPr lang="en-US" altLang="en-US" sz="2200"/>
              <a:t> tuples.</a:t>
            </a:r>
          </a:p>
          <a:p>
            <a:pPr lvl="1" eaLnBrk="1" hangingPunct="1"/>
            <a:r>
              <a:rPr lang="en-US" altLang="en-US" sz="2200"/>
              <a:t>The two operands do NOT have to be "type compatible”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Slide Number Placeholder 3">
            <a:extLst>
              <a:ext uri="{FF2B5EF4-FFF2-40B4-BE49-F238E27FC236}">
                <a16:creationId xmlns:a16="http://schemas.microsoft.com/office/drawing/2014/main" xmlns="" id="{488AB5AC-3971-4D1D-BF2D-D099D0B72CD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>
                <a:solidFill>
                  <a:srgbClr val="990033"/>
                </a:solidFill>
              </a:rPr>
              <a:t>Slide 6- </a:t>
            </a:r>
            <a:fld id="{1E9A880B-AD62-47E1-B5CD-BC06A6D9A7B0}" type="slidenum">
              <a:rPr lang="en-US" altLang="en-US" sz="1400">
                <a:solidFill>
                  <a:srgbClr val="990033"/>
                </a:solidFill>
              </a:rPr>
              <a:pPr eaLnBrk="1" hangingPunct="1"/>
              <a:t>15</a:t>
            </a:fld>
            <a:endParaRPr lang="en-CA" altLang="en-US" sz="1400">
              <a:solidFill>
                <a:srgbClr val="990033"/>
              </a:solidFill>
            </a:endParaRPr>
          </a:p>
        </p:txBody>
      </p:sp>
      <p:sp>
        <p:nvSpPr>
          <p:cNvPr id="37891" name="Rectangle 23">
            <a:extLst>
              <a:ext uri="{FF2B5EF4-FFF2-40B4-BE49-F238E27FC236}">
                <a16:creationId xmlns:a16="http://schemas.microsoft.com/office/drawing/2014/main" xmlns="" id="{BEF1E499-D19B-4662-9F5D-F68E2A8D2AE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8600" y="303213"/>
            <a:ext cx="8153400" cy="992187"/>
          </a:xfrm>
        </p:spPr>
        <p:txBody>
          <a:bodyPr/>
          <a:lstStyle/>
          <a:p>
            <a:pPr eaLnBrk="1" hangingPunct="1"/>
            <a:r>
              <a:rPr lang="en-US" altLang="en-US"/>
              <a:t>6.3 Binary Relational Operations: JOIN</a:t>
            </a:r>
          </a:p>
        </p:txBody>
      </p:sp>
      <p:sp>
        <p:nvSpPr>
          <p:cNvPr id="37892" name="Rectangle 24">
            <a:extLst>
              <a:ext uri="{FF2B5EF4-FFF2-40B4-BE49-F238E27FC236}">
                <a16:creationId xmlns:a16="http://schemas.microsoft.com/office/drawing/2014/main" xmlns="" id="{0C94589C-6AE2-4262-821D-18F0158F29E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en-US" sz="2400"/>
              <a:t>JOIN Operation (denoted by     )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200"/>
              <a:t>The sequence of CARTESIAN PRODECT followed by SELECT is used quite commonly to identify and select related tuples from two relations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200"/>
              <a:t>A special operation, called JOIN combines this sequence into a single operation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200"/>
              <a:t>This operation is very important for any relational database with more than a single relation, because it allows us </a:t>
            </a:r>
            <a:r>
              <a:rPr lang="en-US" altLang="en-US" sz="2200" i="1"/>
              <a:t>combine related tuples</a:t>
            </a:r>
            <a:r>
              <a:rPr lang="en-US" altLang="en-US" sz="2200"/>
              <a:t> from various relations 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200"/>
              <a:t>The general form of a join operation on two relations R(A1, A2, . . ., An) and S(B1, B2, . . ., Bm) is:</a:t>
            </a:r>
          </a:p>
          <a:p>
            <a:pPr lvl="1" algn="ctr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2200"/>
              <a:t>R     </a:t>
            </a:r>
            <a:r>
              <a:rPr lang="en-US" altLang="en-US" sz="2200" baseline="-25000"/>
              <a:t>&lt;join condition&gt;</a:t>
            </a:r>
            <a:r>
              <a:rPr lang="en-US" altLang="en-US" sz="2200"/>
              <a:t>S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200"/>
              <a:t>where R and S can be any relations that result from general </a:t>
            </a:r>
            <a:r>
              <a:rPr lang="en-US" altLang="en-US" sz="2200" i="1"/>
              <a:t>relational algebra expressions</a:t>
            </a:r>
            <a:r>
              <a:rPr lang="en-US" altLang="en-US" sz="2200"/>
              <a:t>.</a:t>
            </a:r>
          </a:p>
          <a:p>
            <a:pPr eaLnBrk="1" hangingPunct="1">
              <a:lnSpc>
                <a:spcPct val="80000"/>
              </a:lnSpc>
            </a:pPr>
            <a:endParaRPr lang="en-US" altLang="en-US" sz="2400"/>
          </a:p>
        </p:txBody>
      </p:sp>
      <p:grpSp>
        <p:nvGrpSpPr>
          <p:cNvPr id="37893" name="Group 25">
            <a:extLst>
              <a:ext uri="{FF2B5EF4-FFF2-40B4-BE49-F238E27FC236}">
                <a16:creationId xmlns:a16="http://schemas.microsoft.com/office/drawing/2014/main" xmlns="" id="{23609BC0-1E1A-4A13-A31E-9F6EE3BEB4CF}"/>
              </a:ext>
            </a:extLst>
          </p:cNvPr>
          <p:cNvGrpSpPr>
            <a:grpSpLocks/>
          </p:cNvGrpSpPr>
          <p:nvPr/>
        </p:nvGrpSpPr>
        <p:grpSpPr bwMode="auto">
          <a:xfrm>
            <a:off x="4648200" y="1687513"/>
            <a:ext cx="219075" cy="174625"/>
            <a:chOff x="377" y="2904"/>
            <a:chExt cx="154" cy="110"/>
          </a:xfrm>
        </p:grpSpPr>
        <p:sp>
          <p:nvSpPr>
            <p:cNvPr id="37899" name="Line 26">
              <a:extLst>
                <a:ext uri="{FF2B5EF4-FFF2-40B4-BE49-F238E27FC236}">
                  <a16:creationId xmlns:a16="http://schemas.microsoft.com/office/drawing/2014/main" xmlns="" id="{B4F53F41-2CCB-4373-9E7A-26265096763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1" y="2904"/>
              <a:ext cx="0" cy="110"/>
            </a:xfrm>
            <a:prstGeom prst="line">
              <a:avLst/>
            </a:prstGeom>
            <a:noFill/>
            <a:ln w="15875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7900" name="Line 27">
              <a:extLst>
                <a:ext uri="{FF2B5EF4-FFF2-40B4-BE49-F238E27FC236}">
                  <a16:creationId xmlns:a16="http://schemas.microsoft.com/office/drawing/2014/main" xmlns="" id="{0D31B543-1A92-4534-9B3A-3ED88DD896F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7" y="2904"/>
              <a:ext cx="0" cy="110"/>
            </a:xfrm>
            <a:prstGeom prst="line">
              <a:avLst/>
            </a:prstGeom>
            <a:noFill/>
            <a:ln w="15875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7901" name="Line 28">
              <a:extLst>
                <a:ext uri="{FF2B5EF4-FFF2-40B4-BE49-F238E27FC236}">
                  <a16:creationId xmlns:a16="http://schemas.microsoft.com/office/drawing/2014/main" xmlns="" id="{02D06B57-A61D-46C0-9FA9-D693ED72457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5" y="2904"/>
              <a:ext cx="138" cy="110"/>
            </a:xfrm>
            <a:prstGeom prst="line">
              <a:avLst/>
            </a:prstGeom>
            <a:noFill/>
            <a:ln w="15875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7902" name="Line 29">
              <a:extLst>
                <a:ext uri="{FF2B5EF4-FFF2-40B4-BE49-F238E27FC236}">
                  <a16:creationId xmlns:a16="http://schemas.microsoft.com/office/drawing/2014/main" xmlns="" id="{48C21699-5121-478C-91CC-4B261412B32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77" y="2904"/>
              <a:ext cx="154" cy="110"/>
            </a:xfrm>
            <a:prstGeom prst="line">
              <a:avLst/>
            </a:prstGeom>
            <a:noFill/>
            <a:ln w="15875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37894" name="Group 35">
            <a:extLst>
              <a:ext uri="{FF2B5EF4-FFF2-40B4-BE49-F238E27FC236}">
                <a16:creationId xmlns:a16="http://schemas.microsoft.com/office/drawing/2014/main" xmlns="" id="{6610F74B-36DB-48BB-AAA6-7918B53C139B}"/>
              </a:ext>
            </a:extLst>
          </p:cNvPr>
          <p:cNvGrpSpPr>
            <a:grpSpLocks/>
          </p:cNvGrpSpPr>
          <p:nvPr/>
        </p:nvGrpSpPr>
        <p:grpSpPr bwMode="auto">
          <a:xfrm>
            <a:off x="3886200" y="5035550"/>
            <a:ext cx="244475" cy="174625"/>
            <a:chOff x="377" y="2904"/>
            <a:chExt cx="154" cy="110"/>
          </a:xfrm>
        </p:grpSpPr>
        <p:sp>
          <p:nvSpPr>
            <p:cNvPr id="37895" name="Line 36">
              <a:extLst>
                <a:ext uri="{FF2B5EF4-FFF2-40B4-BE49-F238E27FC236}">
                  <a16:creationId xmlns:a16="http://schemas.microsoft.com/office/drawing/2014/main" xmlns="" id="{CF7AFFF0-4E41-469D-86C0-E6670B6E78B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1" y="2904"/>
              <a:ext cx="0" cy="11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7896" name="Line 37">
              <a:extLst>
                <a:ext uri="{FF2B5EF4-FFF2-40B4-BE49-F238E27FC236}">
                  <a16:creationId xmlns:a16="http://schemas.microsoft.com/office/drawing/2014/main" xmlns="" id="{5E1F91DD-EF31-4D73-BF74-995CD92D7FF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7" y="2904"/>
              <a:ext cx="0" cy="11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7897" name="Line 38">
              <a:extLst>
                <a:ext uri="{FF2B5EF4-FFF2-40B4-BE49-F238E27FC236}">
                  <a16:creationId xmlns:a16="http://schemas.microsoft.com/office/drawing/2014/main" xmlns="" id="{D32EE889-05B4-44B4-9947-D03F3509F35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5" y="2904"/>
              <a:ext cx="138" cy="11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7898" name="Line 39">
              <a:extLst>
                <a:ext uri="{FF2B5EF4-FFF2-40B4-BE49-F238E27FC236}">
                  <a16:creationId xmlns:a16="http://schemas.microsoft.com/office/drawing/2014/main" xmlns="" id="{B69F9AE0-DCCB-4DBD-94F0-B6B20D052B6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77" y="2904"/>
              <a:ext cx="154" cy="11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Slide Number Placeholder 3">
            <a:extLst>
              <a:ext uri="{FF2B5EF4-FFF2-40B4-BE49-F238E27FC236}">
                <a16:creationId xmlns:a16="http://schemas.microsoft.com/office/drawing/2014/main" xmlns="" id="{AFE4E2BA-3961-4FFA-9C9D-BD09DFCBB35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>
                <a:solidFill>
                  <a:srgbClr val="990033"/>
                </a:solidFill>
              </a:rPr>
              <a:t>Slide 6- </a:t>
            </a:r>
            <a:fld id="{FF3EC281-B847-41B7-B623-51FDA731077C}" type="slidenum">
              <a:rPr lang="en-US" altLang="en-US" sz="1400">
                <a:solidFill>
                  <a:srgbClr val="990033"/>
                </a:solidFill>
              </a:rPr>
              <a:pPr eaLnBrk="1" hangingPunct="1"/>
              <a:t>16</a:t>
            </a:fld>
            <a:endParaRPr lang="en-CA" altLang="en-US" sz="1400">
              <a:solidFill>
                <a:srgbClr val="990033"/>
              </a:solidFill>
            </a:endParaRPr>
          </a:p>
        </p:txBody>
      </p:sp>
      <p:sp>
        <p:nvSpPr>
          <p:cNvPr id="38915" name="Rectangle 19">
            <a:extLst>
              <a:ext uri="{FF2B5EF4-FFF2-40B4-BE49-F238E27FC236}">
                <a16:creationId xmlns:a16="http://schemas.microsoft.com/office/drawing/2014/main" xmlns="" id="{2881D5B6-6FA0-4AF1-83DB-21E616B9F6E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200"/>
              <a:t>Binary Relational Operations: JOIN (cont.)</a:t>
            </a:r>
          </a:p>
        </p:txBody>
      </p:sp>
      <p:sp>
        <p:nvSpPr>
          <p:cNvPr id="38916" name="Rectangle 20">
            <a:extLst>
              <a:ext uri="{FF2B5EF4-FFF2-40B4-BE49-F238E27FC236}">
                <a16:creationId xmlns:a16="http://schemas.microsoft.com/office/drawing/2014/main" xmlns="" id="{E385D14F-EF97-4C59-AAC3-F81030ED407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39713" y="1600200"/>
            <a:ext cx="8447087" cy="4267200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en-US" sz="2400" dirty="0"/>
              <a:t>Example: Suppose that we want to retrieve the name of the manager of each department.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200" dirty="0"/>
              <a:t>To get the manager’s name, we need to combine each DEPARTMENT tuple with the EMPLOYEE tuple whose SSN value matches the MGRSSN value in the department tuple. 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200" dirty="0"/>
              <a:t>We do this by using the join           operation.</a:t>
            </a:r>
          </a:p>
          <a:p>
            <a:pPr lvl="1" eaLnBrk="1" hangingPunct="1">
              <a:lnSpc>
                <a:spcPct val="80000"/>
              </a:lnSpc>
            </a:pPr>
            <a:endParaRPr lang="en-US" altLang="en-US" sz="2200" dirty="0"/>
          </a:p>
          <a:p>
            <a:pPr lvl="1" eaLnBrk="1" hangingPunct="1">
              <a:lnSpc>
                <a:spcPct val="80000"/>
              </a:lnSpc>
            </a:pPr>
            <a:r>
              <a:rPr lang="en-US" altLang="en-US" sz="2200" dirty="0">
                <a:solidFill>
                  <a:schemeClr val="accent1">
                    <a:lumMod val="75000"/>
                  </a:schemeClr>
                </a:solidFill>
              </a:rPr>
              <a:t>DEPT_MGR </a:t>
            </a:r>
            <a:r>
              <a:rPr lang="en-US" altLang="en-US" sz="2200" dirty="0">
                <a:solidFill>
                  <a:schemeClr val="accent1">
                    <a:lumMod val="75000"/>
                  </a:schemeClr>
                </a:solidFill>
                <a:sym typeface="Symbol" panose="05050102010706020507" pitchFamily="18" charset="2"/>
              </a:rPr>
              <a:t></a:t>
            </a:r>
            <a:r>
              <a:rPr lang="en-US" altLang="en-US" sz="2200" dirty="0">
                <a:solidFill>
                  <a:schemeClr val="accent1">
                    <a:lumMod val="75000"/>
                  </a:schemeClr>
                </a:solidFill>
              </a:rPr>
              <a:t> DEPARTMENT   </a:t>
            </a:r>
            <a:r>
              <a:rPr lang="en-US" altLang="en-US" sz="2200" baseline="-25000" dirty="0">
                <a:solidFill>
                  <a:schemeClr val="accent1">
                    <a:lumMod val="75000"/>
                  </a:schemeClr>
                </a:solidFill>
              </a:rPr>
              <a:t>MGRSSN=SSN </a:t>
            </a:r>
            <a:r>
              <a:rPr lang="en-US" altLang="en-US" sz="2200" dirty="0">
                <a:solidFill>
                  <a:schemeClr val="accent1">
                    <a:lumMod val="75000"/>
                  </a:schemeClr>
                </a:solidFill>
              </a:rPr>
              <a:t>EMPLOYEE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400" dirty="0"/>
              <a:t>MGRSSN=SSN is the join condition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200" dirty="0"/>
              <a:t>Combines each department record with the employee who manages the department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200" dirty="0"/>
              <a:t>The join condition can also be specified as </a:t>
            </a:r>
            <a:r>
              <a:rPr lang="en-US" altLang="en-US" sz="2200" dirty="0">
                <a:solidFill>
                  <a:schemeClr val="accent1">
                    <a:lumMod val="75000"/>
                  </a:schemeClr>
                </a:solidFill>
              </a:rPr>
              <a:t>DEPARTMENT.MGRSSN= EMPLOYEE.SSN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endParaRPr lang="en-US" altLang="en-US" sz="2400" dirty="0"/>
          </a:p>
          <a:p>
            <a:pPr eaLnBrk="1" hangingPunct="1">
              <a:lnSpc>
                <a:spcPct val="80000"/>
              </a:lnSpc>
            </a:pPr>
            <a:endParaRPr lang="en-US" altLang="en-US" sz="2400" dirty="0"/>
          </a:p>
        </p:txBody>
      </p:sp>
      <p:grpSp>
        <p:nvGrpSpPr>
          <p:cNvPr id="38917" name="Group 4">
            <a:extLst>
              <a:ext uri="{FF2B5EF4-FFF2-40B4-BE49-F238E27FC236}">
                <a16:creationId xmlns:a16="http://schemas.microsoft.com/office/drawing/2014/main" xmlns="" id="{9D5F1840-64D4-4B76-8E6C-AB0C43E68FA7}"/>
              </a:ext>
            </a:extLst>
          </p:cNvPr>
          <p:cNvGrpSpPr>
            <a:grpSpLocks/>
          </p:cNvGrpSpPr>
          <p:nvPr/>
        </p:nvGrpSpPr>
        <p:grpSpPr bwMode="auto">
          <a:xfrm>
            <a:off x="4660900" y="3200400"/>
            <a:ext cx="487363" cy="174625"/>
            <a:chOff x="377" y="2904"/>
            <a:chExt cx="154" cy="110"/>
          </a:xfrm>
        </p:grpSpPr>
        <p:sp>
          <p:nvSpPr>
            <p:cNvPr id="38923" name="Line 5">
              <a:extLst>
                <a:ext uri="{FF2B5EF4-FFF2-40B4-BE49-F238E27FC236}">
                  <a16:creationId xmlns:a16="http://schemas.microsoft.com/office/drawing/2014/main" xmlns="" id="{E8FB9654-4F2A-4248-A35D-1088F83FFA7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1" y="2904"/>
              <a:ext cx="0" cy="110"/>
            </a:xfrm>
            <a:prstGeom prst="line">
              <a:avLst/>
            </a:prstGeom>
            <a:noFill/>
            <a:ln w="22225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8924" name="Line 6">
              <a:extLst>
                <a:ext uri="{FF2B5EF4-FFF2-40B4-BE49-F238E27FC236}">
                  <a16:creationId xmlns:a16="http://schemas.microsoft.com/office/drawing/2014/main" xmlns="" id="{C7F6C4F2-3F74-4D46-95CF-7F5CEBCA488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7" y="2904"/>
              <a:ext cx="0" cy="110"/>
            </a:xfrm>
            <a:prstGeom prst="line">
              <a:avLst/>
            </a:prstGeom>
            <a:noFill/>
            <a:ln w="22225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8925" name="Line 7">
              <a:extLst>
                <a:ext uri="{FF2B5EF4-FFF2-40B4-BE49-F238E27FC236}">
                  <a16:creationId xmlns:a16="http://schemas.microsoft.com/office/drawing/2014/main" xmlns="" id="{171D8578-40F6-453A-8668-5601936EF14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5" y="2904"/>
              <a:ext cx="138" cy="110"/>
            </a:xfrm>
            <a:prstGeom prst="line">
              <a:avLst/>
            </a:prstGeom>
            <a:noFill/>
            <a:ln w="22225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8926" name="Line 8">
              <a:extLst>
                <a:ext uri="{FF2B5EF4-FFF2-40B4-BE49-F238E27FC236}">
                  <a16:creationId xmlns:a16="http://schemas.microsoft.com/office/drawing/2014/main" xmlns="" id="{8A771EB1-896B-4061-BFA3-93BECA46962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77" y="2904"/>
              <a:ext cx="154" cy="110"/>
            </a:xfrm>
            <a:prstGeom prst="line">
              <a:avLst/>
            </a:prstGeom>
            <a:noFill/>
            <a:ln w="22225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38918" name="Group 9">
            <a:extLst>
              <a:ext uri="{FF2B5EF4-FFF2-40B4-BE49-F238E27FC236}">
                <a16:creationId xmlns:a16="http://schemas.microsoft.com/office/drawing/2014/main" xmlns="" id="{FA5BD868-5D9A-4314-81C3-D53D31BB9160}"/>
              </a:ext>
            </a:extLst>
          </p:cNvPr>
          <p:cNvGrpSpPr>
            <a:grpSpLocks/>
          </p:cNvGrpSpPr>
          <p:nvPr/>
        </p:nvGrpSpPr>
        <p:grpSpPr bwMode="auto">
          <a:xfrm>
            <a:off x="5122863" y="3657600"/>
            <a:ext cx="441325" cy="347663"/>
            <a:chOff x="377" y="2904"/>
            <a:chExt cx="154" cy="110"/>
          </a:xfrm>
        </p:grpSpPr>
        <p:sp>
          <p:nvSpPr>
            <p:cNvPr id="38919" name="Line 10">
              <a:extLst>
                <a:ext uri="{FF2B5EF4-FFF2-40B4-BE49-F238E27FC236}">
                  <a16:creationId xmlns:a16="http://schemas.microsoft.com/office/drawing/2014/main" xmlns="" id="{627E2208-E632-4F47-8EE5-AF075ABECFA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1" y="2904"/>
              <a:ext cx="0" cy="110"/>
            </a:xfrm>
            <a:prstGeom prst="line">
              <a:avLst/>
            </a:prstGeom>
            <a:noFill/>
            <a:ln w="15875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8920" name="Line 11">
              <a:extLst>
                <a:ext uri="{FF2B5EF4-FFF2-40B4-BE49-F238E27FC236}">
                  <a16:creationId xmlns:a16="http://schemas.microsoft.com/office/drawing/2014/main" xmlns="" id="{2E3C78F2-1C86-4086-9DDC-90B89D62844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7" y="2904"/>
              <a:ext cx="0" cy="110"/>
            </a:xfrm>
            <a:prstGeom prst="line">
              <a:avLst/>
            </a:prstGeom>
            <a:noFill/>
            <a:ln w="15875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8921" name="Line 12">
              <a:extLst>
                <a:ext uri="{FF2B5EF4-FFF2-40B4-BE49-F238E27FC236}">
                  <a16:creationId xmlns:a16="http://schemas.microsoft.com/office/drawing/2014/main" xmlns="" id="{DB5AC864-9B76-4A98-B995-EAD488D7E26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5" y="2904"/>
              <a:ext cx="138" cy="110"/>
            </a:xfrm>
            <a:prstGeom prst="line">
              <a:avLst/>
            </a:prstGeom>
            <a:noFill/>
            <a:ln w="15875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8922" name="Line 13">
              <a:extLst>
                <a:ext uri="{FF2B5EF4-FFF2-40B4-BE49-F238E27FC236}">
                  <a16:creationId xmlns:a16="http://schemas.microsoft.com/office/drawing/2014/main" xmlns="" id="{F9AC70DB-DE4E-4366-BCA7-2E5C2AA4E08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77" y="2904"/>
              <a:ext cx="154" cy="110"/>
            </a:xfrm>
            <a:prstGeom prst="line">
              <a:avLst/>
            </a:prstGeom>
            <a:noFill/>
            <a:ln w="15875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Slide Number Placeholder 2">
            <a:extLst>
              <a:ext uri="{FF2B5EF4-FFF2-40B4-BE49-F238E27FC236}">
                <a16:creationId xmlns:a16="http://schemas.microsoft.com/office/drawing/2014/main" xmlns="" id="{23C8DD94-826A-4A19-B2AB-B337D05E208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>
                <a:solidFill>
                  <a:srgbClr val="990033"/>
                </a:solidFill>
              </a:rPr>
              <a:t>Slide 6- </a:t>
            </a:r>
            <a:fld id="{08454871-D467-44CA-8843-1A6348373833}" type="slidenum">
              <a:rPr lang="en-US" altLang="en-US" sz="1400">
                <a:solidFill>
                  <a:srgbClr val="990033"/>
                </a:solidFill>
              </a:rPr>
              <a:pPr eaLnBrk="1" hangingPunct="1"/>
              <a:t>17</a:t>
            </a:fld>
            <a:endParaRPr lang="en-CA" altLang="en-US" sz="1400">
              <a:solidFill>
                <a:srgbClr val="990033"/>
              </a:solidFill>
            </a:endParaRPr>
          </a:p>
        </p:txBody>
      </p:sp>
      <p:sp>
        <p:nvSpPr>
          <p:cNvPr id="39939" name="Rectangle 2">
            <a:extLst>
              <a:ext uri="{FF2B5EF4-FFF2-40B4-BE49-F238E27FC236}">
                <a16:creationId xmlns:a16="http://schemas.microsoft.com/office/drawing/2014/main" xmlns="" id="{04B7495E-1DCB-4BB6-9665-DF8EB5ECFA5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 sz="3200"/>
              <a:t>Example of applying the JOIN operation</a:t>
            </a:r>
          </a:p>
        </p:txBody>
      </p:sp>
      <p:sp>
        <p:nvSpPr>
          <p:cNvPr id="39940" name="Rectangle 3">
            <a:extLst>
              <a:ext uri="{FF2B5EF4-FFF2-40B4-BE49-F238E27FC236}">
                <a16:creationId xmlns:a16="http://schemas.microsoft.com/office/drawing/2014/main" xmlns="" id="{493D73AA-D95F-45F4-8F94-E94EDCE52A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33563" y="130968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pic>
        <p:nvPicPr>
          <p:cNvPr id="39941" name="Picture 5" descr="fig06_06">
            <a:extLst>
              <a:ext uri="{FF2B5EF4-FFF2-40B4-BE49-F238E27FC236}">
                <a16:creationId xmlns:a16="http://schemas.microsoft.com/office/drawing/2014/main" xmlns="" id="{F4F5B8D8-1B03-4254-806C-33DC797A61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2703513"/>
            <a:ext cx="8153400" cy="19446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9942" name="Text Box 6" descr="Pink tissue paper">
            <a:extLst>
              <a:ext uri="{FF2B5EF4-FFF2-40B4-BE49-F238E27FC236}">
                <a16:creationId xmlns:a16="http://schemas.microsoft.com/office/drawing/2014/main" xmlns="" id="{791915B5-F5B0-4B76-8C54-B33F962963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4953000"/>
            <a:ext cx="8305800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 r:embed="rId4"/>
                  <a:srcRect/>
                  <a:tile tx="0" ty="0" sx="100000" sy="100000" flip="none" algn="tl"/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2000" dirty="0">
                <a:solidFill>
                  <a:schemeClr val="accent1">
                    <a:lumMod val="75000"/>
                  </a:schemeClr>
                </a:solidFill>
              </a:rPr>
              <a:t>DEPT_MGR </a:t>
            </a:r>
            <a:r>
              <a:rPr lang="en-US" altLang="en-US" sz="2000" dirty="0">
                <a:solidFill>
                  <a:schemeClr val="accent1">
                    <a:lumMod val="75000"/>
                  </a:schemeClr>
                </a:solidFill>
                <a:sym typeface="Symbol" panose="05050102010706020507" pitchFamily="18" charset="2"/>
              </a:rPr>
              <a:t></a:t>
            </a:r>
            <a:r>
              <a:rPr lang="en-US" altLang="en-US" sz="2000" dirty="0">
                <a:solidFill>
                  <a:schemeClr val="accent1">
                    <a:lumMod val="75000"/>
                  </a:schemeClr>
                </a:solidFill>
              </a:rPr>
              <a:t> DEPARTMENT          </a:t>
            </a:r>
            <a:r>
              <a:rPr lang="en-US" altLang="en-US" sz="1800" baseline="-25000" dirty="0">
                <a:solidFill>
                  <a:schemeClr val="accent1">
                    <a:lumMod val="75000"/>
                  </a:schemeClr>
                </a:solidFill>
              </a:rPr>
              <a:t>MGRSSN=SSN</a:t>
            </a:r>
            <a:r>
              <a:rPr lang="en-US" altLang="en-US" sz="2000" dirty="0">
                <a:solidFill>
                  <a:schemeClr val="accent1">
                    <a:lumMod val="75000"/>
                  </a:schemeClr>
                </a:solidFill>
              </a:rPr>
              <a:t>  EMPLOYEE</a:t>
            </a:r>
          </a:p>
          <a:p>
            <a:pPr eaLnBrk="1" hangingPunct="1">
              <a:spcBef>
                <a:spcPct val="50000"/>
              </a:spcBef>
            </a:pPr>
            <a:endParaRPr lang="en-US" altLang="en-US" dirty="0"/>
          </a:p>
        </p:txBody>
      </p:sp>
      <p:grpSp>
        <p:nvGrpSpPr>
          <p:cNvPr id="39943" name="Group 7">
            <a:extLst>
              <a:ext uri="{FF2B5EF4-FFF2-40B4-BE49-F238E27FC236}">
                <a16:creationId xmlns:a16="http://schemas.microsoft.com/office/drawing/2014/main" xmlns="" id="{C9EB1771-3CAA-4797-8A32-941497ECABB2}"/>
              </a:ext>
            </a:extLst>
          </p:cNvPr>
          <p:cNvGrpSpPr>
            <a:grpSpLocks/>
          </p:cNvGrpSpPr>
          <p:nvPr/>
        </p:nvGrpSpPr>
        <p:grpSpPr bwMode="auto">
          <a:xfrm>
            <a:off x="4311650" y="4953000"/>
            <a:ext cx="441325" cy="347663"/>
            <a:chOff x="377" y="2904"/>
            <a:chExt cx="154" cy="110"/>
          </a:xfrm>
        </p:grpSpPr>
        <p:sp>
          <p:nvSpPr>
            <p:cNvPr id="39944" name="Line 8">
              <a:extLst>
                <a:ext uri="{FF2B5EF4-FFF2-40B4-BE49-F238E27FC236}">
                  <a16:creationId xmlns:a16="http://schemas.microsoft.com/office/drawing/2014/main" xmlns="" id="{91E6F523-ED06-4B5B-8958-D0BAD1CC6E4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1" y="2904"/>
              <a:ext cx="0" cy="110"/>
            </a:xfrm>
            <a:prstGeom prst="line">
              <a:avLst/>
            </a:prstGeom>
            <a:noFill/>
            <a:ln w="15875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9945" name="Line 9">
              <a:extLst>
                <a:ext uri="{FF2B5EF4-FFF2-40B4-BE49-F238E27FC236}">
                  <a16:creationId xmlns:a16="http://schemas.microsoft.com/office/drawing/2014/main" xmlns="" id="{78C7147E-A50D-4276-B30A-0098C05C965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7" y="2904"/>
              <a:ext cx="0" cy="110"/>
            </a:xfrm>
            <a:prstGeom prst="line">
              <a:avLst/>
            </a:prstGeom>
            <a:noFill/>
            <a:ln w="15875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9946" name="Line 10">
              <a:extLst>
                <a:ext uri="{FF2B5EF4-FFF2-40B4-BE49-F238E27FC236}">
                  <a16:creationId xmlns:a16="http://schemas.microsoft.com/office/drawing/2014/main" xmlns="" id="{C3BDE6A1-AD3C-4947-BD47-59991D934B8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5" y="2904"/>
              <a:ext cx="138" cy="110"/>
            </a:xfrm>
            <a:prstGeom prst="line">
              <a:avLst/>
            </a:prstGeom>
            <a:noFill/>
            <a:ln w="15875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9947" name="Line 11">
              <a:extLst>
                <a:ext uri="{FF2B5EF4-FFF2-40B4-BE49-F238E27FC236}">
                  <a16:creationId xmlns:a16="http://schemas.microsoft.com/office/drawing/2014/main" xmlns="" id="{C42191F3-D860-4633-ACDC-40EAC004881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77" y="2904"/>
              <a:ext cx="154" cy="110"/>
            </a:xfrm>
            <a:prstGeom prst="line">
              <a:avLst/>
            </a:prstGeom>
            <a:noFill/>
            <a:ln w="15875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</p:grpSp>
    </p:spTree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Slide Number Placeholder 3">
            <a:extLst>
              <a:ext uri="{FF2B5EF4-FFF2-40B4-BE49-F238E27FC236}">
                <a16:creationId xmlns:a16="http://schemas.microsoft.com/office/drawing/2014/main" xmlns="" id="{2C9DBEE6-5985-472C-A439-4ED5192A173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>
                <a:solidFill>
                  <a:srgbClr val="990033"/>
                </a:solidFill>
              </a:rPr>
              <a:t>Slide 6- </a:t>
            </a:r>
            <a:fld id="{17F6C7CB-5F92-48C6-9C44-24495A9679EF}" type="slidenum">
              <a:rPr lang="en-US" altLang="en-US" sz="1400">
                <a:solidFill>
                  <a:srgbClr val="990033"/>
                </a:solidFill>
              </a:rPr>
              <a:pPr eaLnBrk="1" hangingPunct="1"/>
              <a:t>18</a:t>
            </a:fld>
            <a:endParaRPr lang="en-CA" altLang="en-US" sz="1400">
              <a:solidFill>
                <a:srgbClr val="990033"/>
              </a:solidFill>
            </a:endParaRPr>
          </a:p>
        </p:txBody>
      </p:sp>
      <p:sp>
        <p:nvSpPr>
          <p:cNvPr id="40963" name="Rectangle 15">
            <a:extLst>
              <a:ext uri="{FF2B5EF4-FFF2-40B4-BE49-F238E27FC236}">
                <a16:creationId xmlns:a16="http://schemas.microsoft.com/office/drawing/2014/main" xmlns="" id="{32171627-FF4C-45E7-8187-34D1E854B1B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Some properties of JOIN</a:t>
            </a:r>
          </a:p>
        </p:txBody>
      </p:sp>
      <p:sp>
        <p:nvSpPr>
          <p:cNvPr id="40964" name="Rectangle 16">
            <a:extLst>
              <a:ext uri="{FF2B5EF4-FFF2-40B4-BE49-F238E27FC236}">
                <a16:creationId xmlns:a16="http://schemas.microsoft.com/office/drawing/2014/main" xmlns="" id="{95F5DC02-27B9-4DA7-84A7-03F2ED9DD48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sz="2400"/>
              <a:t>Consider the following JOIN operation:</a:t>
            </a:r>
          </a:p>
          <a:p>
            <a:pPr lvl="1" eaLnBrk="1" hangingPunct="1"/>
            <a:r>
              <a:rPr lang="en-US" altLang="en-US" sz="2200"/>
              <a:t>R(A1, A2, . . ., An)                   S(B1, B2, . . ., Bm)</a:t>
            </a:r>
          </a:p>
          <a:p>
            <a:pPr lvl="2" eaLnBrk="1" hangingPunct="1">
              <a:buFont typeface="Wingdings" panose="05000000000000000000" pitchFamily="2" charset="2"/>
              <a:buNone/>
            </a:pPr>
            <a:r>
              <a:rPr lang="en-US" altLang="en-US" sz="2000"/>
              <a:t>                                       R.Ai=S.Bj</a:t>
            </a:r>
          </a:p>
          <a:p>
            <a:pPr lvl="1" eaLnBrk="1" hangingPunct="1"/>
            <a:r>
              <a:rPr lang="en-US" altLang="en-US" sz="2200"/>
              <a:t>Result is a relation Q with degree n + m attributes:</a:t>
            </a:r>
          </a:p>
          <a:p>
            <a:pPr lvl="2" eaLnBrk="1" hangingPunct="1"/>
            <a:r>
              <a:rPr lang="en-US" altLang="en-US" sz="2000"/>
              <a:t>Q(A1, A2, . . ., An, B1, B2, . . ., Bm), in that order.</a:t>
            </a:r>
          </a:p>
          <a:p>
            <a:pPr lvl="1" eaLnBrk="1" hangingPunct="1"/>
            <a:r>
              <a:rPr lang="en-US" altLang="en-US" sz="2200"/>
              <a:t>The resulting relation state has one tuple for each combination of tuples—r from R and s from S, but </a:t>
            </a:r>
            <a:r>
              <a:rPr lang="en-US" altLang="en-US" sz="2200" i="1"/>
              <a:t>only if they satisfy the join condition</a:t>
            </a:r>
            <a:r>
              <a:rPr lang="en-US" altLang="en-US" sz="2200"/>
              <a:t> r[Ai]=s[Bj]</a:t>
            </a:r>
          </a:p>
          <a:p>
            <a:pPr lvl="1" eaLnBrk="1" hangingPunct="1"/>
            <a:r>
              <a:rPr lang="en-US" altLang="en-US" sz="2200"/>
              <a:t>Hence, if R has n</a:t>
            </a:r>
            <a:r>
              <a:rPr lang="en-US" altLang="en-US" sz="2200" baseline="-25000"/>
              <a:t>R</a:t>
            </a:r>
            <a:r>
              <a:rPr lang="en-US" altLang="en-US" sz="2200"/>
              <a:t> tuples, and S has n</a:t>
            </a:r>
            <a:r>
              <a:rPr lang="en-US" altLang="en-US" sz="2200" baseline="-25000"/>
              <a:t>S</a:t>
            </a:r>
            <a:r>
              <a:rPr lang="en-US" altLang="en-US" sz="2200"/>
              <a:t> tuples, then the join result will generally have </a:t>
            </a:r>
            <a:r>
              <a:rPr lang="en-US" altLang="en-US" sz="2200" i="1"/>
              <a:t>less than</a:t>
            </a:r>
            <a:r>
              <a:rPr lang="en-US" altLang="en-US" sz="2200"/>
              <a:t> n</a:t>
            </a:r>
            <a:r>
              <a:rPr lang="en-US" altLang="en-US" sz="2200" baseline="-25000"/>
              <a:t>R</a:t>
            </a:r>
            <a:r>
              <a:rPr lang="en-US" altLang="en-US" sz="2200"/>
              <a:t> * n</a:t>
            </a:r>
            <a:r>
              <a:rPr lang="en-US" altLang="en-US" sz="2200" baseline="-25000"/>
              <a:t>S</a:t>
            </a:r>
            <a:r>
              <a:rPr lang="en-US" altLang="en-US" sz="2200"/>
              <a:t> tuples.</a:t>
            </a:r>
          </a:p>
          <a:p>
            <a:pPr lvl="1" eaLnBrk="1" hangingPunct="1"/>
            <a:r>
              <a:rPr lang="en-US" altLang="en-US" sz="2200"/>
              <a:t>Only related tuples (based on the join condition) will appear in the result</a:t>
            </a:r>
          </a:p>
        </p:txBody>
      </p:sp>
      <p:grpSp>
        <p:nvGrpSpPr>
          <p:cNvPr id="40965" name="Group 17">
            <a:extLst>
              <a:ext uri="{FF2B5EF4-FFF2-40B4-BE49-F238E27FC236}">
                <a16:creationId xmlns:a16="http://schemas.microsoft.com/office/drawing/2014/main" xmlns="" id="{A2009280-1552-432A-A588-A9793A91E1A8}"/>
              </a:ext>
            </a:extLst>
          </p:cNvPr>
          <p:cNvGrpSpPr>
            <a:grpSpLocks/>
          </p:cNvGrpSpPr>
          <p:nvPr/>
        </p:nvGrpSpPr>
        <p:grpSpPr bwMode="auto">
          <a:xfrm>
            <a:off x="3810000" y="2133600"/>
            <a:ext cx="441325" cy="347663"/>
            <a:chOff x="377" y="2904"/>
            <a:chExt cx="154" cy="110"/>
          </a:xfrm>
        </p:grpSpPr>
        <p:sp>
          <p:nvSpPr>
            <p:cNvPr id="40966" name="Line 18">
              <a:extLst>
                <a:ext uri="{FF2B5EF4-FFF2-40B4-BE49-F238E27FC236}">
                  <a16:creationId xmlns:a16="http://schemas.microsoft.com/office/drawing/2014/main" xmlns="" id="{49FEB73A-5644-445F-BE12-889C33F2245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1" y="2904"/>
              <a:ext cx="0" cy="110"/>
            </a:xfrm>
            <a:prstGeom prst="line">
              <a:avLst/>
            </a:prstGeom>
            <a:noFill/>
            <a:ln w="15875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0967" name="Line 19">
              <a:extLst>
                <a:ext uri="{FF2B5EF4-FFF2-40B4-BE49-F238E27FC236}">
                  <a16:creationId xmlns:a16="http://schemas.microsoft.com/office/drawing/2014/main" xmlns="" id="{E0D308AB-8EF9-4537-9F3F-CCE4F90F106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7" y="2904"/>
              <a:ext cx="0" cy="110"/>
            </a:xfrm>
            <a:prstGeom prst="line">
              <a:avLst/>
            </a:prstGeom>
            <a:noFill/>
            <a:ln w="15875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0968" name="Line 20">
              <a:extLst>
                <a:ext uri="{FF2B5EF4-FFF2-40B4-BE49-F238E27FC236}">
                  <a16:creationId xmlns:a16="http://schemas.microsoft.com/office/drawing/2014/main" xmlns="" id="{7BF9E541-F600-4701-9601-DB8CB5972FC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5" y="2904"/>
              <a:ext cx="138" cy="110"/>
            </a:xfrm>
            <a:prstGeom prst="line">
              <a:avLst/>
            </a:prstGeom>
            <a:noFill/>
            <a:ln w="15875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0969" name="Line 21">
              <a:extLst>
                <a:ext uri="{FF2B5EF4-FFF2-40B4-BE49-F238E27FC236}">
                  <a16:creationId xmlns:a16="http://schemas.microsoft.com/office/drawing/2014/main" xmlns="" id="{1FE333EE-38FC-43CA-92CB-BCE4B4520B2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77" y="2904"/>
              <a:ext cx="154" cy="110"/>
            </a:xfrm>
            <a:prstGeom prst="line">
              <a:avLst/>
            </a:prstGeom>
            <a:noFill/>
            <a:ln w="15875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</p:spTree>
  </p:cSld>
  <p:clrMapOvr>
    <a:masterClrMapping/>
  </p:clrMapOvr>
  <p:transition spd="med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Slide Number Placeholder 2">
            <a:extLst>
              <a:ext uri="{FF2B5EF4-FFF2-40B4-BE49-F238E27FC236}">
                <a16:creationId xmlns:a16="http://schemas.microsoft.com/office/drawing/2014/main" xmlns="" id="{5E6DD2BE-6424-4E6F-8A2F-C99E9D7FC23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>
                <a:solidFill>
                  <a:srgbClr val="990033"/>
                </a:solidFill>
              </a:rPr>
              <a:t>Slide 6- </a:t>
            </a:r>
            <a:fld id="{F0943BC9-60BF-4D6C-B2B6-E5F8F37B804A}" type="slidenum">
              <a:rPr lang="en-US" altLang="en-US" sz="1400">
                <a:solidFill>
                  <a:srgbClr val="990033"/>
                </a:solidFill>
              </a:rPr>
              <a:pPr eaLnBrk="1" hangingPunct="1"/>
              <a:t>19</a:t>
            </a:fld>
            <a:endParaRPr lang="en-CA" altLang="en-US" sz="1400">
              <a:solidFill>
                <a:srgbClr val="990033"/>
              </a:solidFill>
            </a:endParaRPr>
          </a:p>
        </p:txBody>
      </p:sp>
      <p:sp>
        <p:nvSpPr>
          <p:cNvPr id="58371" name="Rectangle 19">
            <a:extLst>
              <a:ext uri="{FF2B5EF4-FFF2-40B4-BE49-F238E27FC236}">
                <a16:creationId xmlns:a16="http://schemas.microsoft.com/office/drawing/2014/main" xmlns="" id="{E0329B04-7F9D-41CB-BFF6-8068F59B8AD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200"/>
              <a:t>Examples of Queries in Relational Algebra : Procedural Form</a:t>
            </a:r>
          </a:p>
        </p:txBody>
      </p:sp>
      <p:sp>
        <p:nvSpPr>
          <p:cNvPr id="58372" name="Rectangle 9">
            <a:extLst>
              <a:ext uri="{FF2B5EF4-FFF2-40B4-BE49-F238E27FC236}">
                <a16:creationId xmlns:a16="http://schemas.microsoft.com/office/drawing/2014/main" xmlns="" id="{7DA055E8-58F4-4493-AD86-7887C2634E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1652588"/>
            <a:ext cx="8547100" cy="44434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20000"/>
              </a:spcBef>
              <a:buClr>
                <a:srgbClr val="990033"/>
              </a:buClr>
              <a:buSzPct val="60000"/>
              <a:buFont typeface="Wingdings" panose="05000000000000000000" pitchFamily="2" charset="2"/>
              <a:buChar char="n"/>
            </a:pPr>
            <a:r>
              <a:rPr lang="en-US" altLang="en-US" sz="2000" b="1">
                <a:solidFill>
                  <a:schemeClr val="tx2"/>
                </a:solidFill>
                <a:latin typeface="Times New Roman" panose="02020603050405020304" pitchFamily="18" charset="0"/>
              </a:rPr>
              <a:t>Q1: Retrieve the name and address of all employees who work for the ‘Research’ department.</a:t>
            </a:r>
          </a:p>
          <a:p>
            <a:pPr eaLnBrk="1" hangingPunct="1">
              <a:spcBef>
                <a:spcPct val="20000"/>
              </a:spcBef>
              <a:buClr>
                <a:srgbClr val="990033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en-US" sz="1800">
                <a:solidFill>
                  <a:schemeClr val="tx2"/>
                </a:solidFill>
                <a:latin typeface="Times New Roman" panose="02020603050405020304" pitchFamily="18" charset="0"/>
              </a:rPr>
              <a:t>	RESEARCH_DEPT </a:t>
            </a:r>
            <a:r>
              <a:rPr lang="en-US" altLang="en-US" sz="1800">
                <a:solidFill>
                  <a:schemeClr val="tx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</a:t>
            </a:r>
            <a:r>
              <a:rPr lang="en-US" altLang="en-US" sz="1800">
                <a:solidFill>
                  <a:schemeClr val="tx2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2000" b="1">
                <a:solidFill>
                  <a:schemeClr val="tx2"/>
                </a:solidFill>
                <a:latin typeface="Symbol" panose="05050102010706020507" pitchFamily="18" charset="2"/>
              </a:rPr>
              <a:t></a:t>
            </a:r>
            <a:r>
              <a:rPr lang="en-US" altLang="en-US" sz="1800">
                <a:solidFill>
                  <a:schemeClr val="tx2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1200">
                <a:solidFill>
                  <a:schemeClr val="tx2"/>
                </a:solidFill>
                <a:latin typeface="Times New Roman" panose="02020603050405020304" pitchFamily="18" charset="0"/>
              </a:rPr>
              <a:t>DNAME=’Research’ </a:t>
            </a:r>
            <a:r>
              <a:rPr lang="en-US" altLang="en-US" sz="1800">
                <a:solidFill>
                  <a:schemeClr val="tx2"/>
                </a:solidFill>
                <a:latin typeface="Times New Roman" panose="02020603050405020304" pitchFamily="18" charset="0"/>
              </a:rPr>
              <a:t>(DEPARTMENT)</a:t>
            </a:r>
          </a:p>
          <a:p>
            <a:pPr eaLnBrk="1" hangingPunct="1">
              <a:spcBef>
                <a:spcPct val="20000"/>
              </a:spcBef>
              <a:buClr>
                <a:srgbClr val="990033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en-US" sz="1800">
                <a:solidFill>
                  <a:schemeClr val="tx2"/>
                </a:solidFill>
                <a:latin typeface="Times New Roman" panose="02020603050405020304" pitchFamily="18" charset="0"/>
              </a:rPr>
              <a:t>	RESEARCH_EMPS </a:t>
            </a:r>
            <a:r>
              <a:rPr lang="en-US" altLang="en-US" sz="1800">
                <a:solidFill>
                  <a:schemeClr val="tx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 </a:t>
            </a:r>
            <a:r>
              <a:rPr lang="en-US" altLang="en-US" sz="1800">
                <a:solidFill>
                  <a:schemeClr val="tx2"/>
                </a:solidFill>
                <a:latin typeface="Times New Roman" panose="02020603050405020304" pitchFamily="18" charset="0"/>
              </a:rPr>
              <a:t>(RESEARCH_DEPT        </a:t>
            </a:r>
            <a:r>
              <a:rPr lang="en-US" altLang="en-US" sz="1200" baseline="-25000">
                <a:solidFill>
                  <a:schemeClr val="tx2"/>
                </a:solidFill>
                <a:latin typeface="Times New Roman" panose="02020603050405020304" pitchFamily="18" charset="0"/>
              </a:rPr>
              <a:t>DNUMBER= DNOEMPLOYEE</a:t>
            </a:r>
            <a:r>
              <a:rPr lang="en-US" altLang="en-US" sz="1800">
                <a:solidFill>
                  <a:schemeClr val="tx2"/>
                </a:solidFill>
                <a:latin typeface="Times New Roman" panose="02020603050405020304" pitchFamily="18" charset="0"/>
              </a:rPr>
              <a:t>EMPLOYEE)</a:t>
            </a:r>
          </a:p>
          <a:p>
            <a:pPr eaLnBrk="1" hangingPunct="1">
              <a:spcBef>
                <a:spcPct val="20000"/>
              </a:spcBef>
              <a:buClr>
                <a:srgbClr val="990033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en-US" sz="1800">
                <a:solidFill>
                  <a:schemeClr val="tx2"/>
                </a:solidFill>
                <a:latin typeface="Times New Roman" panose="02020603050405020304" pitchFamily="18" charset="0"/>
              </a:rPr>
              <a:t>	RESULT </a:t>
            </a:r>
            <a:r>
              <a:rPr lang="en-US" altLang="en-US" sz="1800">
                <a:solidFill>
                  <a:schemeClr val="tx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</a:t>
            </a:r>
            <a:r>
              <a:rPr lang="en-US" altLang="en-US" sz="1800">
                <a:solidFill>
                  <a:schemeClr val="tx2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>
                <a:solidFill>
                  <a:schemeClr val="tx2"/>
                </a:solidFill>
                <a:latin typeface="Symbol" panose="05050102010706020507" pitchFamily="18" charset="2"/>
              </a:rPr>
              <a:t></a:t>
            </a:r>
            <a:r>
              <a:rPr lang="en-US" altLang="en-US" sz="1800">
                <a:solidFill>
                  <a:schemeClr val="tx2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1200">
                <a:solidFill>
                  <a:schemeClr val="tx2"/>
                </a:solidFill>
                <a:latin typeface="Times New Roman" panose="02020603050405020304" pitchFamily="18" charset="0"/>
              </a:rPr>
              <a:t>FNAME, LNAME, ADDRESS</a:t>
            </a:r>
            <a:r>
              <a:rPr lang="en-US" altLang="en-US" sz="1800">
                <a:solidFill>
                  <a:schemeClr val="tx2"/>
                </a:solidFill>
                <a:latin typeface="Times New Roman" panose="02020603050405020304" pitchFamily="18" charset="0"/>
              </a:rPr>
              <a:t> (RESEARCH_EMPS)</a:t>
            </a:r>
          </a:p>
          <a:p>
            <a:pPr eaLnBrk="1" hangingPunct="1">
              <a:spcBef>
                <a:spcPct val="20000"/>
              </a:spcBef>
              <a:buClr>
                <a:srgbClr val="990033"/>
              </a:buClr>
              <a:buSzPct val="60000"/>
              <a:buFont typeface="Wingdings" panose="05000000000000000000" pitchFamily="2" charset="2"/>
              <a:buNone/>
            </a:pPr>
            <a:endParaRPr lang="en-US" altLang="en-US" sz="1800">
              <a:solidFill>
                <a:schemeClr val="tx2"/>
              </a:solidFill>
              <a:latin typeface="Times New Roman" panose="02020603050405020304" pitchFamily="18" charset="0"/>
            </a:endParaRPr>
          </a:p>
          <a:p>
            <a:pPr eaLnBrk="1" hangingPunct="1">
              <a:spcBef>
                <a:spcPct val="20000"/>
              </a:spcBef>
              <a:buClr>
                <a:srgbClr val="990033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en-US" sz="1800">
                <a:solidFill>
                  <a:schemeClr val="tx2"/>
                </a:solidFill>
              </a:rPr>
              <a:t>As a single expression, these queries become:</a:t>
            </a:r>
          </a:p>
          <a:p>
            <a:pPr eaLnBrk="1" hangingPunct="1">
              <a:spcBef>
                <a:spcPct val="20000"/>
              </a:spcBef>
              <a:buClr>
                <a:srgbClr val="990033"/>
              </a:buClr>
              <a:buSzPct val="60000"/>
              <a:buFont typeface="Wingdings" panose="05000000000000000000" pitchFamily="2" charset="2"/>
              <a:buChar char="n"/>
            </a:pPr>
            <a:r>
              <a:rPr lang="en-US" altLang="en-US" sz="1800" b="1">
                <a:solidFill>
                  <a:schemeClr val="tx2"/>
                </a:solidFill>
                <a:latin typeface="Times New Roman" panose="02020603050405020304" pitchFamily="18" charset="0"/>
              </a:rPr>
              <a:t>Q1: Retrieve the name and address of all employees who work for the ‘Research’ department.</a:t>
            </a:r>
          </a:p>
          <a:p>
            <a:pPr eaLnBrk="1" hangingPunct="1">
              <a:spcBef>
                <a:spcPct val="20000"/>
              </a:spcBef>
              <a:buClr>
                <a:srgbClr val="990033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en-US" sz="1600">
                <a:solidFill>
                  <a:schemeClr val="tx2"/>
                </a:solidFill>
                <a:latin typeface="Times New Roman" panose="02020603050405020304" pitchFamily="18" charset="0"/>
              </a:rPr>
              <a:t>	</a:t>
            </a:r>
            <a:r>
              <a:rPr lang="en-US" altLang="en-US" sz="1800">
                <a:solidFill>
                  <a:schemeClr val="tx2"/>
                </a:solidFill>
                <a:latin typeface="Symbol" panose="05050102010706020507" pitchFamily="18" charset="2"/>
                <a:sym typeface="Symbol" panose="05050102010706020507" pitchFamily="18" charset="2"/>
              </a:rPr>
              <a:t></a:t>
            </a:r>
            <a:r>
              <a:rPr lang="en-US" altLang="en-US" sz="1800">
                <a:solidFill>
                  <a:schemeClr val="tx2"/>
                </a:solidFill>
              </a:rPr>
              <a:t> </a:t>
            </a:r>
            <a:r>
              <a:rPr lang="en-US" altLang="en-US" sz="1800" baseline="-25000">
                <a:solidFill>
                  <a:schemeClr val="tx2"/>
                </a:solidFill>
              </a:rPr>
              <a:t>Fname, Lname, Address</a:t>
            </a:r>
            <a:r>
              <a:rPr lang="en-US" altLang="en-US" sz="1800">
                <a:solidFill>
                  <a:schemeClr val="tx2"/>
                </a:solidFill>
              </a:rPr>
              <a:t> (σ Dname= ‘Research’ </a:t>
            </a:r>
          </a:p>
          <a:p>
            <a:pPr eaLnBrk="1" hangingPunct="1">
              <a:spcBef>
                <a:spcPct val="20000"/>
              </a:spcBef>
              <a:buClr>
                <a:srgbClr val="990033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en-US" sz="1800">
                <a:solidFill>
                  <a:schemeClr val="tx2"/>
                </a:solidFill>
              </a:rPr>
              <a:t>(DEPARTMENT     Dnumber=Dno(EMPLOYEE))</a:t>
            </a:r>
          </a:p>
          <a:p>
            <a:pPr eaLnBrk="1" hangingPunct="1">
              <a:spcBef>
                <a:spcPct val="20000"/>
              </a:spcBef>
              <a:buClr>
                <a:srgbClr val="990033"/>
              </a:buClr>
              <a:buSzPct val="60000"/>
              <a:buFont typeface="Wingdings" panose="05000000000000000000" pitchFamily="2" charset="2"/>
              <a:buNone/>
            </a:pPr>
            <a:endParaRPr lang="en-US" altLang="en-US" sz="1800">
              <a:solidFill>
                <a:schemeClr val="tx2"/>
              </a:solidFill>
              <a:latin typeface="Times New Roman" panose="02020603050405020304" pitchFamily="18" charset="0"/>
            </a:endParaRPr>
          </a:p>
          <a:p>
            <a:pPr eaLnBrk="1" hangingPunct="1">
              <a:spcBef>
                <a:spcPct val="20000"/>
              </a:spcBef>
              <a:buClr>
                <a:srgbClr val="990033"/>
              </a:buClr>
              <a:buSzPct val="60000"/>
              <a:buFont typeface="Wingdings" panose="05000000000000000000" pitchFamily="2" charset="2"/>
              <a:buNone/>
            </a:pPr>
            <a:endParaRPr lang="en-US" altLang="en-US" sz="900">
              <a:solidFill>
                <a:schemeClr val="tx2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58373" name="Group 10">
            <a:extLst>
              <a:ext uri="{FF2B5EF4-FFF2-40B4-BE49-F238E27FC236}">
                <a16:creationId xmlns:a16="http://schemas.microsoft.com/office/drawing/2014/main" xmlns="" id="{67D40104-2217-4397-832A-E1B6475C15C0}"/>
              </a:ext>
            </a:extLst>
          </p:cNvPr>
          <p:cNvGrpSpPr>
            <a:grpSpLocks/>
          </p:cNvGrpSpPr>
          <p:nvPr/>
        </p:nvGrpSpPr>
        <p:grpSpPr bwMode="auto">
          <a:xfrm>
            <a:off x="4953000" y="2720975"/>
            <a:ext cx="374650" cy="174625"/>
            <a:chOff x="377" y="2904"/>
            <a:chExt cx="154" cy="110"/>
          </a:xfrm>
        </p:grpSpPr>
        <p:sp>
          <p:nvSpPr>
            <p:cNvPr id="58374" name="Line 11">
              <a:extLst>
                <a:ext uri="{FF2B5EF4-FFF2-40B4-BE49-F238E27FC236}">
                  <a16:creationId xmlns:a16="http://schemas.microsoft.com/office/drawing/2014/main" xmlns="" id="{17DFB2B9-BE04-431A-961F-C954ABB683F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1" y="2904"/>
              <a:ext cx="0" cy="110"/>
            </a:xfrm>
            <a:prstGeom prst="line">
              <a:avLst/>
            </a:prstGeom>
            <a:noFill/>
            <a:ln w="15875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8375" name="Line 12">
              <a:extLst>
                <a:ext uri="{FF2B5EF4-FFF2-40B4-BE49-F238E27FC236}">
                  <a16:creationId xmlns:a16="http://schemas.microsoft.com/office/drawing/2014/main" xmlns="" id="{029D2B87-42A4-4228-802F-DAF8EEF55F0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7" y="2904"/>
              <a:ext cx="0" cy="110"/>
            </a:xfrm>
            <a:prstGeom prst="line">
              <a:avLst/>
            </a:prstGeom>
            <a:noFill/>
            <a:ln w="15875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8376" name="Line 13">
              <a:extLst>
                <a:ext uri="{FF2B5EF4-FFF2-40B4-BE49-F238E27FC236}">
                  <a16:creationId xmlns:a16="http://schemas.microsoft.com/office/drawing/2014/main" xmlns="" id="{221F3B7B-3657-4475-877B-ECB58795DB9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5" y="2904"/>
              <a:ext cx="138" cy="110"/>
            </a:xfrm>
            <a:prstGeom prst="line">
              <a:avLst/>
            </a:prstGeom>
            <a:noFill/>
            <a:ln w="15875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8377" name="Line 14">
              <a:extLst>
                <a:ext uri="{FF2B5EF4-FFF2-40B4-BE49-F238E27FC236}">
                  <a16:creationId xmlns:a16="http://schemas.microsoft.com/office/drawing/2014/main" xmlns="" id="{114B1498-E335-4B74-9BC0-1B0C69E9FFE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77" y="2904"/>
              <a:ext cx="154" cy="110"/>
            </a:xfrm>
            <a:prstGeom prst="line">
              <a:avLst/>
            </a:prstGeom>
            <a:noFill/>
            <a:ln w="15875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</p:spTree>
  </p:cSld>
  <p:clrMapOvr>
    <a:masterClrMapping/>
  </p:clrMapOvr>
  <p:transition spd="med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Title 1">
            <a:extLst>
              <a:ext uri="{FF2B5EF4-FFF2-40B4-BE49-F238E27FC236}">
                <a16:creationId xmlns:a16="http://schemas.microsoft.com/office/drawing/2014/main" xmlns="" id="{1699B100-253A-4FF3-9D96-8A3BF82F73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en-US" altLang="en-US"/>
          </a:p>
        </p:txBody>
      </p:sp>
      <p:sp>
        <p:nvSpPr>
          <p:cNvPr id="59395" name="Slide Number Placeholder 2">
            <a:extLst>
              <a:ext uri="{FF2B5EF4-FFF2-40B4-BE49-F238E27FC236}">
                <a16:creationId xmlns:a16="http://schemas.microsoft.com/office/drawing/2014/main" xmlns="" id="{8AC48CAB-83CE-4F7F-863F-F1F51CAA91A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>
                <a:solidFill>
                  <a:srgbClr val="990033"/>
                </a:solidFill>
              </a:rPr>
              <a:t>Slide 6- </a:t>
            </a:r>
            <a:fld id="{72F94726-A3D7-47DD-A8FC-7EEEF6794B90}" type="slidenum">
              <a:rPr lang="en-US" altLang="en-US" sz="1400">
                <a:solidFill>
                  <a:srgbClr val="990033"/>
                </a:solidFill>
              </a:rPr>
              <a:pPr eaLnBrk="1" hangingPunct="1"/>
              <a:t>20</a:t>
            </a:fld>
            <a:endParaRPr lang="en-CA" altLang="en-US" sz="1400">
              <a:solidFill>
                <a:srgbClr val="990033"/>
              </a:solidFill>
            </a:endParaRPr>
          </a:p>
        </p:txBody>
      </p:sp>
      <p:pic>
        <p:nvPicPr>
          <p:cNvPr id="59396" name="Picture 2" descr="Pink tissue paper">
            <a:extLst>
              <a:ext uri="{FF2B5EF4-FFF2-40B4-BE49-F238E27FC236}">
                <a16:creationId xmlns:a16="http://schemas.microsoft.com/office/drawing/2014/main" xmlns="" id="{F50F72FB-E9BE-46C1-B6B3-D854978C3F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752600"/>
            <a:ext cx="8737600" cy="3276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 r:embed="rId3"/>
                  <a:srcRect/>
                  <a:tile tx="0" ty="0" sx="100000" sy="100000" flip="none" algn="tl"/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 spd="med"/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Blends">
  <a:themeElements>
    <a:clrScheme name="Blends 2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CA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CA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EAEAEA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737373"/>
        </a:accent6>
        <a:hlink>
          <a:srgbClr val="4D4D4D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7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C:\Program Files\Microsoft Office\Templates\Presentation Designs\Blends.pot</Template>
  <TotalTime>4813</TotalTime>
  <Words>1299</Words>
  <Application>Microsoft Office PowerPoint</Application>
  <PresentationFormat>Letter Paper (8.5x11 in)</PresentationFormat>
  <Paragraphs>142</Paragraphs>
  <Slides>20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6" baseType="lpstr">
      <vt:lpstr>Arial</vt:lpstr>
      <vt:lpstr>Symbol</vt:lpstr>
      <vt:lpstr>Tahoma</vt:lpstr>
      <vt:lpstr>Times New Roman</vt:lpstr>
      <vt:lpstr>Wingdings</vt:lpstr>
      <vt:lpstr>Blends</vt:lpstr>
      <vt:lpstr>PowerPoint Presentation</vt:lpstr>
      <vt:lpstr>Chapter 6</vt:lpstr>
      <vt:lpstr>6.2 Relational Algebra Operations from Set Theory</vt:lpstr>
      <vt:lpstr>Relational Algebra Operations from Set Theory: UNION </vt:lpstr>
      <vt:lpstr>In one line</vt:lpstr>
      <vt:lpstr>Relational Algebra Operations from Set Theory: UNION </vt:lpstr>
      <vt:lpstr>PowerPoint Presentation</vt:lpstr>
      <vt:lpstr>Example of the result of a UNION operation</vt:lpstr>
      <vt:lpstr>Relational Algebra Operations from Set Theory </vt:lpstr>
      <vt:lpstr>Relational Algebra Operations from Set Theory: INTERSECTION</vt:lpstr>
      <vt:lpstr>Relational Algebra Operations from Set Theory: SET DIFFERENCE (cont.) </vt:lpstr>
      <vt:lpstr>Example to illustrate the result of UNION, INTERSECT, and DIFFERENCE</vt:lpstr>
      <vt:lpstr>Some properties of UNION, INTERSECT, and DIFFERENCE</vt:lpstr>
      <vt:lpstr>Relational Algebra Operations from Set Theory: CARTESIAN PRODUCT</vt:lpstr>
      <vt:lpstr>6.3 Binary Relational Operations: JOIN</vt:lpstr>
      <vt:lpstr>Binary Relational Operations: JOIN (cont.)</vt:lpstr>
      <vt:lpstr>Example of applying the JOIN operation</vt:lpstr>
      <vt:lpstr>Some properties of JOIN</vt:lpstr>
      <vt:lpstr>Examples of Queries in Relational Algebra : Procedural Form</vt:lpstr>
      <vt:lpstr>PowerPoint Presentation</vt:lpstr>
    </vt:vector>
  </TitlesOfParts>
  <Company>Copyright © 2007 Ramez Elmasri and Shamkant B. Navathe</Company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6</dc:title>
  <dc:subject>The Relational Algebra and Calculus</dc:subject>
  <dc:creator>Elmasri/Navathe</dc:creator>
  <cp:lastModifiedBy>Bilal Shatila</cp:lastModifiedBy>
  <cp:revision>103</cp:revision>
  <cp:lastPrinted>2001-11-04T00:51:13Z</cp:lastPrinted>
  <dcterms:created xsi:type="dcterms:W3CDTF">2005-02-25T19:46:41Z</dcterms:created>
  <dcterms:modified xsi:type="dcterms:W3CDTF">2023-10-10T14:58:32Z</dcterms:modified>
</cp:coreProperties>
</file>