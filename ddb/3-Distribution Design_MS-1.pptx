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46"/>
  </p:notesMasterIdLst>
  <p:sldIdLst>
    <p:sldId id="263" r:id="rId2"/>
    <p:sldId id="264" r:id="rId3"/>
    <p:sldId id="326" r:id="rId4"/>
    <p:sldId id="265" r:id="rId5"/>
    <p:sldId id="266" r:id="rId6"/>
    <p:sldId id="267" r:id="rId7"/>
    <p:sldId id="268" r:id="rId8"/>
    <p:sldId id="269" r:id="rId9"/>
    <p:sldId id="270" r:id="rId10"/>
    <p:sldId id="272" r:id="rId11"/>
    <p:sldId id="273" r:id="rId12"/>
    <p:sldId id="274" r:id="rId13"/>
    <p:sldId id="275" r:id="rId14"/>
    <p:sldId id="276" r:id="rId15"/>
    <p:sldId id="325" r:id="rId16"/>
    <p:sldId id="277" r:id="rId17"/>
    <p:sldId id="327" r:id="rId18"/>
    <p:sldId id="328" r:id="rId19"/>
    <p:sldId id="278" r:id="rId20"/>
    <p:sldId id="279" r:id="rId21"/>
    <p:sldId id="280" r:id="rId22"/>
    <p:sldId id="281" r:id="rId23"/>
    <p:sldId id="282" r:id="rId24"/>
    <p:sldId id="286" r:id="rId25"/>
    <p:sldId id="287" r:id="rId26"/>
    <p:sldId id="288" r:id="rId27"/>
    <p:sldId id="289" r:id="rId28"/>
    <p:sldId id="290" r:id="rId29"/>
    <p:sldId id="291" r:id="rId30"/>
    <p:sldId id="296" r:id="rId31"/>
    <p:sldId id="312" r:id="rId32"/>
    <p:sldId id="329" r:id="rId33"/>
    <p:sldId id="330" r:id="rId34"/>
    <p:sldId id="333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3" r:id="rId45"/>
  </p:sldIdLst>
  <p:sldSz cx="13004800" cy="97536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1pPr>
    <a:lvl2pPr marL="4572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2pPr>
    <a:lvl3pPr marL="9144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3pPr>
    <a:lvl4pPr marL="13716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4pPr>
    <a:lvl5pPr marL="18288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5pPr>
    <a:lvl6pPr marL="22860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6pPr>
    <a:lvl7pPr marL="27432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7pPr>
    <a:lvl8pPr marL="32004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8pPr>
    <a:lvl9pPr marL="36576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71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7" autoAdjust="0"/>
    <p:restoredTop sz="94660"/>
  </p:normalViewPr>
  <p:slideViewPr>
    <p:cSldViewPr>
      <p:cViewPr varScale="1">
        <p:scale>
          <a:sx n="72" d="100"/>
          <a:sy n="72" d="100"/>
        </p:scale>
        <p:origin x="-330" y="-114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ook Antiqua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ook Antiqua"/>
              </a:defRPr>
            </a:lvl1pPr>
          </a:lstStyle>
          <a:p>
            <a:fld id="{E1EEBE56-20E2-E74D-9035-27D8EAEB0526}" type="datetimeFigureOut">
              <a:rPr lang="en-US" smtClean="0"/>
              <a:pPr/>
              <a:t>11/14/2023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ook Antiqua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ook Antiqua"/>
              </a:defRPr>
            </a:lvl1pPr>
          </a:lstStyle>
          <a:p>
            <a:fld id="{AC742AA2-86C2-2445-8FBF-A051532B669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5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523121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6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79450" y="336550"/>
            <a:ext cx="5486400" cy="41148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034679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875570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276607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0615478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438654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076575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510643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691079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38306824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531654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6508446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9043423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1428366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198075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745766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8667801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5257756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806158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3738889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2546660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0643370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452661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8612443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3155531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-44450"/>
            <a:ext cx="4514850" cy="3386138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33742161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9268144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8896268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32682311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429498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758984" y="9499600"/>
            <a:ext cx="864816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err="1" smtClean="0">
                <a:latin typeface="Book Antiqua"/>
              </a:rPr>
              <a:t>Ch.x</a:t>
            </a:r>
            <a:r>
              <a:rPr lang="en-US" dirty="0" smtClean="0">
                <a:latin typeface="Book Antiqua"/>
              </a:rPr>
              <a:t>/</a:t>
            </a:r>
            <a:fld id="{B9BE72AF-AF1A-1E41-B881-D8119A052D15}" type="slidenum">
              <a:rPr lang="en-US" smtClean="0">
                <a:latin typeface="Book Antiqua"/>
              </a:rPr>
              <a:pPr/>
              <a:t>‹#›</a:t>
            </a:fld>
            <a:endParaRPr lang="en-US" dirty="0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13165020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758984" y="9499600"/>
            <a:ext cx="864816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err="1" smtClean="0">
                <a:latin typeface="Book Antiqua"/>
              </a:rPr>
              <a:t>Ch.x</a:t>
            </a:r>
            <a:r>
              <a:rPr lang="en-US" dirty="0" smtClean="0">
                <a:latin typeface="Book Antiqua"/>
              </a:rPr>
              <a:t>/</a:t>
            </a:r>
            <a:fld id="{D01B99BC-F82C-D046-99BD-FBA1D66F1CB4}" type="slidenum">
              <a:rPr lang="en-US" smtClean="0">
                <a:latin typeface="Book Antiqua"/>
              </a:rPr>
              <a:pPr/>
              <a:t>‹#›</a:t>
            </a:fld>
            <a:endParaRPr lang="en-US" dirty="0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0870083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C12595A0-9662-7443-BA62-0D3B6483F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9465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489200"/>
            <a:ext cx="6070600" cy="6769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5900" y="2489200"/>
            <a:ext cx="6070600" cy="6769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F0ED71BB-118A-9E4C-B08B-8FE12AFF2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5384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65069F6B-CB1A-844B-A44A-5B7ABA595A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5966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8801E1DC-9A09-2845-A773-BB78DAEA54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5515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E37D4F0C-152B-054F-ABE3-C9D6581630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371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97C1C413-B9D3-E347-8928-0B2F534480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64622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B604E31D-27C9-7146-8686-2BC96041BB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919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FDF4A1D1-6440-3F47-BC8E-C1E8499F2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135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2625" y="444500"/>
            <a:ext cx="3076575" cy="8813800"/>
          </a:xfr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44500"/>
            <a:ext cx="9077325" cy="8813800"/>
          </a:xfr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2F3FA9A2-5116-5544-A00E-FC7EF820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3644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489200"/>
            <a:ext cx="12293600" cy="676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dirty="0" smtClean="0">
                <a:sym typeface="Palatino" charset="0"/>
              </a:rPr>
              <a:t>Click to edit Master text styles</a:t>
            </a:r>
          </a:p>
          <a:p>
            <a:pPr lvl="1"/>
            <a:r>
              <a:rPr lang="en-CA" dirty="0" smtClean="0">
                <a:sym typeface="Palatino" charset="0"/>
              </a:rPr>
              <a:t>Second level</a:t>
            </a:r>
          </a:p>
          <a:p>
            <a:pPr lvl="2"/>
            <a:r>
              <a:rPr lang="en-CA" dirty="0" smtClean="0">
                <a:sym typeface="Palatino" charset="0"/>
              </a:rPr>
              <a:t>Third level</a:t>
            </a:r>
          </a:p>
          <a:p>
            <a:pPr lvl="3"/>
            <a:r>
              <a:rPr lang="en-CA" dirty="0" smtClean="0">
                <a:sym typeface="Palatino" charset="0"/>
              </a:rPr>
              <a:t>Fourth level</a:t>
            </a:r>
          </a:p>
          <a:p>
            <a:pPr lvl="4"/>
            <a:r>
              <a:rPr lang="en-CA" dirty="0" smtClean="0">
                <a:sym typeface="Palatino" charset="0"/>
              </a:rPr>
              <a:t>Fifth level</a:t>
            </a:r>
            <a:endParaRPr lang="en-US" dirty="0">
              <a:sym typeface="Palatino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444500"/>
            <a:ext cx="12293600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 smtClean="0">
                <a:sym typeface="Didot" charset="0"/>
              </a:rPr>
              <a:t>Click to edit Master title style</a:t>
            </a:r>
            <a:endParaRPr lang="en-US">
              <a:sym typeface="Didot" charset="0"/>
            </a:endParaRPr>
          </a:p>
        </p:txBody>
      </p:sp>
      <p:grpSp>
        <p:nvGrpSpPr>
          <p:cNvPr id="2051" name="Group 3"/>
          <p:cNvGrpSpPr>
            <a:grpSpLocks/>
          </p:cNvGrpSpPr>
          <p:nvPr/>
        </p:nvGrpSpPr>
        <p:grpSpPr bwMode="auto">
          <a:xfrm>
            <a:off x="404813" y="2235200"/>
            <a:ext cx="12193587" cy="50800"/>
            <a:chOff x="0" y="0"/>
            <a:chExt cx="7680" cy="32"/>
          </a:xfrm>
        </p:grpSpPr>
        <p:sp>
          <p:nvSpPr>
            <p:cNvPr id="2052" name="Line 4"/>
            <p:cNvSpPr>
              <a:spLocks noChangeShapeType="1"/>
            </p:cNvSpPr>
            <p:nvPr/>
          </p:nvSpPr>
          <p:spPr bwMode="auto">
            <a:xfrm>
              <a:off x="0" y="0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2053" name="Line 5"/>
            <p:cNvSpPr>
              <a:spLocks noChangeShapeType="1"/>
            </p:cNvSpPr>
            <p:nvPr/>
          </p:nvSpPr>
          <p:spPr bwMode="auto">
            <a:xfrm>
              <a:off x="0" y="32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</p:grpSp>
      <p:grpSp>
        <p:nvGrpSpPr>
          <p:cNvPr id="2054" name="Group 6"/>
          <p:cNvGrpSpPr>
            <a:grpSpLocks/>
          </p:cNvGrpSpPr>
          <p:nvPr/>
        </p:nvGrpSpPr>
        <p:grpSpPr bwMode="auto">
          <a:xfrm>
            <a:off x="393700" y="9347200"/>
            <a:ext cx="12192000" cy="50800"/>
            <a:chOff x="0" y="0"/>
            <a:chExt cx="7680" cy="32"/>
          </a:xfrm>
        </p:grpSpPr>
        <p:sp>
          <p:nvSpPr>
            <p:cNvPr id="2055" name="Line 7"/>
            <p:cNvSpPr>
              <a:spLocks noChangeShapeType="1"/>
            </p:cNvSpPr>
            <p:nvPr/>
          </p:nvSpPr>
          <p:spPr bwMode="auto">
            <a:xfrm>
              <a:off x="0" y="0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2056" name="Line 8"/>
            <p:cNvSpPr>
              <a:spLocks noChangeShapeType="1"/>
            </p:cNvSpPr>
            <p:nvPr/>
          </p:nvSpPr>
          <p:spPr bwMode="auto">
            <a:xfrm>
              <a:off x="0" y="32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</p:grpSp>
      <p:sp>
        <p:nvSpPr>
          <p:cNvPr id="2057" name="Rectangle 9"/>
          <p:cNvSpPr>
            <a:spLocks/>
          </p:cNvSpPr>
          <p:nvPr/>
        </p:nvSpPr>
        <p:spPr bwMode="auto">
          <a:xfrm>
            <a:off x="425590" y="9521567"/>
            <a:ext cx="1258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Distributed DBMS</a:t>
            </a:r>
          </a:p>
        </p:txBody>
      </p:sp>
      <p:sp>
        <p:nvSpPr>
          <p:cNvPr id="2058" name="Rectangle 10"/>
          <p:cNvSpPr>
            <a:spLocks/>
          </p:cNvSpPr>
          <p:nvPr/>
        </p:nvSpPr>
        <p:spPr bwMode="auto">
          <a:xfrm>
            <a:off x="5571333" y="9521567"/>
            <a:ext cx="190023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© </a:t>
            </a:r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M. T. </a:t>
            </a:r>
            <a:r>
              <a:rPr lang="en-US" sz="1200" dirty="0" err="1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Özsu</a:t>
            </a:r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 &amp; P. </a:t>
            </a:r>
            <a:r>
              <a:rPr lang="en-US" sz="1200" dirty="0" err="1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Valduriez</a:t>
            </a:r>
            <a:endParaRPr lang="en-US" sz="1200" dirty="0">
              <a:solidFill>
                <a:schemeClr val="tx1"/>
              </a:solidFill>
              <a:latin typeface="Book Antiqua"/>
              <a:ea typeface="ＭＳ Ｐゴシック" charset="0"/>
              <a:cs typeface="Book Antiqua"/>
            </a:endParaRPr>
          </a:p>
        </p:txBody>
      </p:sp>
      <p:sp>
        <p:nvSpPr>
          <p:cNvPr id="13" name="Rectangle 10"/>
          <p:cNvSpPr>
            <a:spLocks/>
          </p:cNvSpPr>
          <p:nvPr/>
        </p:nvSpPr>
        <p:spPr bwMode="auto">
          <a:xfrm>
            <a:off x="11254928" y="9538899"/>
            <a:ext cx="14038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200" dirty="0" smtClean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Ch.3/</a:t>
            </a:r>
            <a:fld id="{5E48BB5D-946E-5F48-82DF-AC330131550D}" type="slidenum">
              <a:rPr lang="en-US" sz="1200" smtClean="0">
                <a:latin typeface="Book Antiqua"/>
              </a:rPr>
              <a:pPr algn="r"/>
              <a:t>‹#›</a:t>
            </a:fld>
            <a:endParaRPr lang="en-US" sz="1200" dirty="0">
              <a:solidFill>
                <a:schemeClr val="tx1"/>
              </a:solidFill>
              <a:latin typeface="Book Antiqua"/>
              <a:ea typeface="ＭＳ Ｐゴシック" charset="0"/>
              <a:cs typeface="Book Antiqu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/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+mj-lt"/>
          <a:ea typeface="+mj-ea"/>
          <a:cs typeface="+mj-cs"/>
          <a:sym typeface="Didot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9pPr>
    </p:titleStyle>
    <p:bodyStyle>
      <a:lvl1pPr marL="3683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150000"/>
        <a:buFont typeface="Palatino" charset="0"/>
        <a:buChar char="•"/>
        <a:defRPr sz="28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1pPr>
      <a:lvl2pPr marL="7620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85000"/>
        <a:buFont typeface="Zapf Dingbats" charset="0"/>
        <a:buChar char="➡"/>
        <a:defRPr sz="26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2pPr>
      <a:lvl3pPr marL="12065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80000"/>
        <a:buFont typeface="Zapf Dingbats" charset="0"/>
        <a:buChar char="✦"/>
        <a:defRPr sz="24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3pPr>
      <a:lvl4pPr marL="16510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69000"/>
        <a:buFont typeface="Lucida Grande" charset="0"/>
        <a:buChar char="✓"/>
        <a:defRPr sz="20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4pPr>
      <a:lvl5pPr marL="20955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5pPr>
      <a:lvl6pPr marL="25527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6pPr>
      <a:lvl7pPr marL="30099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7pPr>
      <a:lvl8pPr marL="34671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8pPr>
      <a:lvl9pPr marL="39243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Distribution Design Issues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100000"/>
              </a:spcBef>
              <a:buSzPct val="100000"/>
              <a:buFont typeface="Wingdings" pitchFamily="2" charset="2"/>
              <a:buChar char=""/>
            </a:pPr>
            <a:r>
              <a:rPr lang="en-US" dirty="0"/>
              <a:t>Why fragment at all?</a:t>
            </a:r>
          </a:p>
          <a:p>
            <a:pPr>
              <a:lnSpc>
                <a:spcPct val="100000"/>
              </a:lnSpc>
              <a:spcBef>
                <a:spcPct val="100000"/>
              </a:spcBef>
              <a:buSzPct val="100000"/>
              <a:buFont typeface="Wingdings" pitchFamily="2" charset="2"/>
              <a:buChar char=""/>
            </a:pPr>
            <a:r>
              <a:rPr lang="en-US" dirty="0"/>
              <a:t>How to fragment?</a:t>
            </a:r>
          </a:p>
          <a:p>
            <a:pPr>
              <a:spcBef>
                <a:spcPct val="100000"/>
              </a:spcBef>
              <a:buSzPct val="100000"/>
              <a:buFont typeface="Wingdings" pitchFamily="2" charset="2"/>
              <a:buChar char=""/>
            </a:pPr>
            <a:r>
              <a:rPr lang="en-US" dirty="0"/>
              <a:t>How much to fragment?</a:t>
            </a:r>
          </a:p>
          <a:p>
            <a:pPr>
              <a:lnSpc>
                <a:spcPct val="100000"/>
              </a:lnSpc>
              <a:spcBef>
                <a:spcPct val="100000"/>
              </a:spcBef>
              <a:buSzPct val="100000"/>
              <a:buFont typeface="Wingdings" pitchFamily="2" charset="2"/>
              <a:buChar char=""/>
            </a:pPr>
            <a:r>
              <a:rPr lang="en-US" dirty="0"/>
              <a:t>How to test correctness?</a:t>
            </a:r>
          </a:p>
          <a:p>
            <a:pPr>
              <a:lnSpc>
                <a:spcPct val="100000"/>
              </a:lnSpc>
              <a:spcBef>
                <a:spcPct val="100000"/>
              </a:spcBef>
              <a:buSzPct val="100000"/>
              <a:buFont typeface="Wingdings" pitchFamily="2" charset="2"/>
              <a:buChar char=""/>
            </a:pPr>
            <a:r>
              <a:rPr lang="en-US" dirty="0"/>
              <a:t>How to allocate?</a:t>
            </a:r>
          </a:p>
          <a:p>
            <a:pPr>
              <a:lnSpc>
                <a:spcPct val="100000"/>
              </a:lnSpc>
              <a:spcBef>
                <a:spcPct val="100000"/>
              </a:spcBef>
              <a:buSzPct val="100000"/>
              <a:buFont typeface="Wingdings" pitchFamily="2" charset="2"/>
              <a:buChar char=""/>
            </a:pPr>
            <a:r>
              <a:rPr lang="en-US" dirty="0"/>
              <a:t>Information requirements?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Can't we just distribute relations?</a:t>
            </a:r>
          </a:p>
          <a:p>
            <a:r>
              <a:rPr lang="en-US" dirty="0"/>
              <a:t>What is a reasonable unit of distribution?</a:t>
            </a:r>
          </a:p>
          <a:p>
            <a:pPr lvl="1"/>
            <a:r>
              <a:rPr lang="en-US" dirty="0"/>
              <a:t>relation</a:t>
            </a:r>
          </a:p>
          <a:p>
            <a:pPr lvl="2"/>
            <a:r>
              <a:rPr lang="en-US" dirty="0"/>
              <a:t>views are subsets of relations </a:t>
            </a:r>
            <a:r>
              <a:rPr lang="en-US" dirty="0" smtClean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dirty="0" smtClean="0"/>
              <a:t>locality </a:t>
            </a:r>
            <a:endParaRPr lang="en-US" dirty="0"/>
          </a:p>
          <a:p>
            <a:pPr lvl="2"/>
            <a:r>
              <a:rPr lang="en-US" dirty="0"/>
              <a:t>extra communication</a:t>
            </a:r>
          </a:p>
          <a:p>
            <a:pPr lvl="1"/>
            <a:r>
              <a:rPr lang="en-US" dirty="0"/>
              <a:t>fragments of relations (sub-relations)</a:t>
            </a:r>
          </a:p>
          <a:p>
            <a:pPr lvl="2"/>
            <a:r>
              <a:rPr lang="en-US" dirty="0"/>
              <a:t>concurrent execution of a number of transactions that access different portions of a relation</a:t>
            </a:r>
          </a:p>
          <a:p>
            <a:pPr lvl="2"/>
            <a:r>
              <a:rPr lang="en-US" dirty="0"/>
              <a:t>views that cannot be defined on a single fragment will require extra processing</a:t>
            </a:r>
          </a:p>
          <a:p>
            <a:pPr lvl="2"/>
            <a:r>
              <a:rPr lang="en-US" dirty="0"/>
              <a:t>semantic data control (especially integrity enforcement) more difficult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Example: how to fragment PROJ</a:t>
            </a:r>
            <a:endParaRPr lang="en-US" dirty="0"/>
          </a:p>
        </p:txBody>
      </p:sp>
      <p:sp>
        <p:nvSpPr>
          <p:cNvPr id="89091" name="Rectangle 3"/>
          <p:cNvSpPr>
            <a:spLocks noChangeArrowheads="1"/>
          </p:cNvSpPr>
          <p:nvPr/>
        </p:nvSpPr>
        <p:spPr bwMode="auto">
          <a:xfrm>
            <a:off x="1246293" y="2366151"/>
            <a:ext cx="10458027" cy="379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pic>
        <p:nvPicPr>
          <p:cNvPr id="4" name="Picture 3" descr="Fig-2-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976" y="2428527"/>
            <a:ext cx="7720267" cy="6770827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2" name="Rectangle 9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Fragmentation Alternatives – Horizontal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5696" y="2788568"/>
            <a:ext cx="7070725" cy="2573338"/>
          </a:xfrm>
          <a:noFill/>
          <a:ln/>
        </p:spPr>
        <p:txBody>
          <a:bodyPr/>
          <a:lstStyle/>
          <a:p>
            <a:pPr marL="1700081" indent="-1700081">
              <a:buNone/>
            </a:pPr>
            <a:r>
              <a:rPr lang="en-US" dirty="0"/>
              <a:t>PROJ</a:t>
            </a:r>
            <a:r>
              <a:rPr lang="en-US" baseline="-25000" dirty="0"/>
              <a:t>1</a:t>
            </a:r>
            <a:r>
              <a:rPr lang="en-US" dirty="0"/>
              <a:t> :	projects with budgets less than $200,000</a:t>
            </a:r>
          </a:p>
          <a:p>
            <a:pPr marL="1700081" indent="-1700081">
              <a:buNone/>
            </a:pPr>
            <a:r>
              <a:rPr lang="en-US" dirty="0"/>
              <a:t>PROJ</a:t>
            </a:r>
            <a:r>
              <a:rPr lang="en-US" baseline="-25000" dirty="0"/>
              <a:t>2</a:t>
            </a:r>
            <a:r>
              <a:rPr lang="en-US" dirty="0"/>
              <a:t> :	projects with budgets greater than or equal to $200,000</a:t>
            </a:r>
          </a:p>
        </p:txBody>
      </p:sp>
      <p:sp>
        <p:nvSpPr>
          <p:cNvPr id="17439" name="Rectangle 31"/>
          <p:cNvSpPr>
            <a:spLocks noChangeArrowheads="1"/>
          </p:cNvSpPr>
          <p:nvPr/>
        </p:nvSpPr>
        <p:spPr bwMode="auto">
          <a:xfrm>
            <a:off x="762562" y="5827326"/>
            <a:ext cx="109841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400" baseline="-25000" dirty="0">
                <a:solidFill>
                  <a:srgbClr val="000000"/>
                </a:solidFill>
                <a:latin typeface="Book Antiqua"/>
              </a:rPr>
              <a:t>1</a:t>
            </a:r>
          </a:p>
        </p:txBody>
      </p:sp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7053298" y="6384996"/>
            <a:ext cx="5346418" cy="195072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1" name="Line 33"/>
          <p:cNvSpPr>
            <a:spLocks noChangeShapeType="1"/>
          </p:cNvSpPr>
          <p:nvPr/>
        </p:nvSpPr>
        <p:spPr bwMode="auto">
          <a:xfrm>
            <a:off x="7775787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2" name="Line 34"/>
          <p:cNvSpPr>
            <a:spLocks noChangeShapeType="1"/>
          </p:cNvSpPr>
          <p:nvPr/>
        </p:nvSpPr>
        <p:spPr bwMode="auto">
          <a:xfrm>
            <a:off x="7775787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3" name="Line 35"/>
          <p:cNvSpPr>
            <a:spLocks noChangeShapeType="1"/>
          </p:cNvSpPr>
          <p:nvPr/>
        </p:nvSpPr>
        <p:spPr bwMode="auto">
          <a:xfrm>
            <a:off x="7775787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4" name="Line 36"/>
          <p:cNvSpPr>
            <a:spLocks noChangeShapeType="1"/>
          </p:cNvSpPr>
          <p:nvPr/>
        </p:nvSpPr>
        <p:spPr bwMode="auto">
          <a:xfrm>
            <a:off x="7775787" y="6384996"/>
            <a:ext cx="0" cy="195072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5" name="Line 37"/>
          <p:cNvSpPr>
            <a:spLocks noChangeShapeType="1"/>
          </p:cNvSpPr>
          <p:nvPr/>
        </p:nvSpPr>
        <p:spPr bwMode="auto">
          <a:xfrm>
            <a:off x="9997440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6" name="Line 38"/>
          <p:cNvSpPr>
            <a:spLocks noChangeShapeType="1"/>
          </p:cNvSpPr>
          <p:nvPr/>
        </p:nvSpPr>
        <p:spPr bwMode="auto">
          <a:xfrm>
            <a:off x="9997440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7" name="Line 39"/>
          <p:cNvSpPr>
            <a:spLocks noChangeShapeType="1"/>
          </p:cNvSpPr>
          <p:nvPr/>
        </p:nvSpPr>
        <p:spPr bwMode="auto">
          <a:xfrm>
            <a:off x="9997440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>
            <a:off x="9997440" y="6384996"/>
            <a:ext cx="0" cy="195072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49" name="Rectangle 41"/>
          <p:cNvSpPr>
            <a:spLocks noChangeArrowheads="1"/>
          </p:cNvSpPr>
          <p:nvPr/>
        </p:nvSpPr>
        <p:spPr bwMode="auto">
          <a:xfrm>
            <a:off x="7028791" y="6536268"/>
            <a:ext cx="83697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7450" name="Rectangle 42"/>
          <p:cNvSpPr>
            <a:spLocks noChangeArrowheads="1"/>
          </p:cNvSpPr>
          <p:nvPr/>
        </p:nvSpPr>
        <p:spPr bwMode="auto">
          <a:xfrm>
            <a:off x="8272132" y="6536268"/>
            <a:ext cx="122670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7451" name="Rectangle 43"/>
          <p:cNvSpPr>
            <a:spLocks noChangeArrowheads="1"/>
          </p:cNvSpPr>
          <p:nvPr/>
        </p:nvSpPr>
        <p:spPr bwMode="auto">
          <a:xfrm>
            <a:off x="9979892" y="6536268"/>
            <a:ext cx="1324289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7452" name="Rectangle 44"/>
          <p:cNvSpPr>
            <a:spLocks noChangeArrowheads="1"/>
          </p:cNvSpPr>
          <p:nvPr/>
        </p:nvSpPr>
        <p:spPr bwMode="auto">
          <a:xfrm>
            <a:off x="11455576" y="6482081"/>
            <a:ext cx="800032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17453" name="Rectangle 45"/>
          <p:cNvSpPr>
            <a:spLocks noChangeArrowheads="1"/>
          </p:cNvSpPr>
          <p:nvPr/>
        </p:nvSpPr>
        <p:spPr bwMode="auto">
          <a:xfrm>
            <a:off x="7200056" y="6969759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7454" name="Rectangle 46"/>
          <p:cNvSpPr>
            <a:spLocks noChangeArrowheads="1"/>
          </p:cNvSpPr>
          <p:nvPr/>
        </p:nvSpPr>
        <p:spPr bwMode="auto">
          <a:xfrm>
            <a:off x="7806550" y="6969759"/>
            <a:ext cx="154206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7455" name="Rectangle 47"/>
          <p:cNvSpPr>
            <a:spLocks noChangeArrowheads="1"/>
          </p:cNvSpPr>
          <p:nvPr/>
        </p:nvSpPr>
        <p:spPr bwMode="auto">
          <a:xfrm>
            <a:off x="10094526" y="6969759"/>
            <a:ext cx="9527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17456" name="Rectangle 48"/>
          <p:cNvSpPr>
            <a:spLocks noChangeArrowheads="1"/>
          </p:cNvSpPr>
          <p:nvPr/>
        </p:nvSpPr>
        <p:spPr bwMode="auto">
          <a:xfrm>
            <a:off x="11137619" y="6969759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7458" name="Rectangle 50"/>
          <p:cNvSpPr>
            <a:spLocks noChangeArrowheads="1"/>
          </p:cNvSpPr>
          <p:nvPr/>
        </p:nvSpPr>
        <p:spPr bwMode="auto">
          <a:xfrm>
            <a:off x="7200056" y="7457439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7459" name="Rectangle 51"/>
          <p:cNvSpPr>
            <a:spLocks noChangeArrowheads="1"/>
          </p:cNvSpPr>
          <p:nvPr/>
        </p:nvSpPr>
        <p:spPr bwMode="auto">
          <a:xfrm>
            <a:off x="7806550" y="7457439"/>
            <a:ext cx="164817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17460" name="Rectangle 52"/>
          <p:cNvSpPr>
            <a:spLocks noChangeArrowheads="1"/>
          </p:cNvSpPr>
          <p:nvPr/>
        </p:nvSpPr>
        <p:spPr bwMode="auto">
          <a:xfrm>
            <a:off x="10094527" y="7457439"/>
            <a:ext cx="9527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17461" name="Rectangle 53"/>
          <p:cNvSpPr>
            <a:spLocks noChangeArrowheads="1"/>
          </p:cNvSpPr>
          <p:nvPr/>
        </p:nvSpPr>
        <p:spPr bwMode="auto">
          <a:xfrm>
            <a:off x="11162456" y="7457439"/>
            <a:ext cx="7495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  <p:sp>
        <p:nvSpPr>
          <p:cNvPr id="17463" name="Rectangle 55"/>
          <p:cNvSpPr>
            <a:spLocks noChangeArrowheads="1"/>
          </p:cNvSpPr>
          <p:nvPr/>
        </p:nvSpPr>
        <p:spPr bwMode="auto">
          <a:xfrm>
            <a:off x="7200056" y="7915767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7464" name="Rectangle 56"/>
          <p:cNvSpPr>
            <a:spLocks noChangeArrowheads="1"/>
          </p:cNvSpPr>
          <p:nvPr/>
        </p:nvSpPr>
        <p:spPr bwMode="auto">
          <a:xfrm>
            <a:off x="7806550" y="7915767"/>
            <a:ext cx="154206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7465" name="Rectangle 57"/>
          <p:cNvSpPr>
            <a:spLocks noChangeArrowheads="1"/>
          </p:cNvSpPr>
          <p:nvPr/>
        </p:nvSpPr>
        <p:spPr bwMode="auto">
          <a:xfrm>
            <a:off x="10094528" y="7915767"/>
            <a:ext cx="9527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500000</a:t>
            </a:r>
          </a:p>
        </p:txBody>
      </p:sp>
      <p:sp>
        <p:nvSpPr>
          <p:cNvPr id="17466" name="Rectangle 58"/>
          <p:cNvSpPr>
            <a:spLocks noChangeArrowheads="1"/>
          </p:cNvSpPr>
          <p:nvPr/>
        </p:nvSpPr>
        <p:spPr bwMode="auto">
          <a:xfrm>
            <a:off x="11162457" y="7915767"/>
            <a:ext cx="9640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Boston</a:t>
            </a:r>
          </a:p>
        </p:txBody>
      </p:sp>
      <p:sp>
        <p:nvSpPr>
          <p:cNvPr id="17468" name="Rectangle 60"/>
          <p:cNvSpPr>
            <a:spLocks noChangeArrowheads="1"/>
          </p:cNvSpPr>
          <p:nvPr/>
        </p:nvSpPr>
        <p:spPr bwMode="auto">
          <a:xfrm>
            <a:off x="767644" y="6384995"/>
            <a:ext cx="5346418" cy="153528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69" name="Line 61"/>
          <p:cNvSpPr>
            <a:spLocks noChangeShapeType="1"/>
          </p:cNvSpPr>
          <p:nvPr/>
        </p:nvSpPr>
        <p:spPr bwMode="auto">
          <a:xfrm>
            <a:off x="785706" y="6917831"/>
            <a:ext cx="532835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70" name="Line 62"/>
          <p:cNvSpPr>
            <a:spLocks noChangeShapeType="1"/>
          </p:cNvSpPr>
          <p:nvPr/>
        </p:nvSpPr>
        <p:spPr bwMode="auto">
          <a:xfrm>
            <a:off x="4940018" y="6384995"/>
            <a:ext cx="0" cy="15352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71" name="Rectangle 63"/>
          <p:cNvSpPr>
            <a:spLocks noChangeArrowheads="1"/>
          </p:cNvSpPr>
          <p:nvPr/>
        </p:nvSpPr>
        <p:spPr bwMode="auto">
          <a:xfrm>
            <a:off x="743138" y="6536268"/>
            <a:ext cx="83697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7472" name="Rectangle 64"/>
          <p:cNvSpPr>
            <a:spLocks noChangeArrowheads="1"/>
          </p:cNvSpPr>
          <p:nvPr/>
        </p:nvSpPr>
        <p:spPr bwMode="auto">
          <a:xfrm>
            <a:off x="1986479" y="6536268"/>
            <a:ext cx="122670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7473" name="Rectangle 65"/>
          <p:cNvSpPr>
            <a:spLocks noChangeArrowheads="1"/>
          </p:cNvSpPr>
          <p:nvPr/>
        </p:nvSpPr>
        <p:spPr bwMode="auto">
          <a:xfrm>
            <a:off x="5169922" y="6482081"/>
            <a:ext cx="800032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grpSp>
        <p:nvGrpSpPr>
          <p:cNvPr id="17478" name="Group 70"/>
          <p:cNvGrpSpPr>
            <a:grpSpLocks/>
          </p:cNvGrpSpPr>
          <p:nvPr/>
        </p:nvGrpSpPr>
        <p:grpSpPr bwMode="auto">
          <a:xfrm>
            <a:off x="914401" y="6969759"/>
            <a:ext cx="5154506" cy="397369"/>
            <a:chOff x="405" y="3087"/>
            <a:chExt cx="2283" cy="176"/>
          </a:xfrm>
        </p:grpSpPr>
        <p:sp>
          <p:nvSpPr>
            <p:cNvPr id="17474" name="Rectangle 66"/>
            <p:cNvSpPr>
              <a:spLocks noChangeArrowheads="1"/>
            </p:cNvSpPr>
            <p:nvPr/>
          </p:nvSpPr>
          <p:spPr bwMode="auto">
            <a:xfrm>
              <a:off x="405" y="3087"/>
              <a:ext cx="20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P1</a:t>
              </a:r>
            </a:p>
          </p:txBody>
        </p:sp>
        <p:sp>
          <p:nvSpPr>
            <p:cNvPr id="17475" name="Rectangle 67"/>
            <p:cNvSpPr>
              <a:spLocks noChangeArrowheads="1"/>
            </p:cNvSpPr>
            <p:nvPr/>
          </p:nvSpPr>
          <p:spPr bwMode="auto">
            <a:xfrm>
              <a:off x="631" y="3087"/>
              <a:ext cx="899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Instrumentation</a:t>
              </a:r>
            </a:p>
          </p:txBody>
        </p:sp>
        <p:sp>
          <p:nvSpPr>
            <p:cNvPr id="17476" name="Rectangle 68"/>
            <p:cNvSpPr>
              <a:spLocks noChangeArrowheads="1"/>
            </p:cNvSpPr>
            <p:nvPr/>
          </p:nvSpPr>
          <p:spPr bwMode="auto">
            <a:xfrm>
              <a:off x="1655" y="3087"/>
              <a:ext cx="494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150000</a:t>
              </a:r>
            </a:p>
          </p:txBody>
        </p:sp>
        <p:sp>
          <p:nvSpPr>
            <p:cNvPr id="17477" name="Rectangle 69"/>
            <p:cNvSpPr>
              <a:spLocks noChangeArrowheads="1"/>
            </p:cNvSpPr>
            <p:nvPr/>
          </p:nvSpPr>
          <p:spPr bwMode="auto">
            <a:xfrm>
              <a:off x="2147" y="3087"/>
              <a:ext cx="541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Montreal</a:t>
              </a:r>
            </a:p>
          </p:txBody>
        </p:sp>
      </p:grpSp>
      <p:grpSp>
        <p:nvGrpSpPr>
          <p:cNvPr id="17483" name="Group 75"/>
          <p:cNvGrpSpPr>
            <a:grpSpLocks/>
          </p:cNvGrpSpPr>
          <p:nvPr/>
        </p:nvGrpSpPr>
        <p:grpSpPr bwMode="auto">
          <a:xfrm>
            <a:off x="914401" y="7457439"/>
            <a:ext cx="5260622" cy="397369"/>
            <a:chOff x="405" y="3303"/>
            <a:chExt cx="2330" cy="176"/>
          </a:xfrm>
        </p:grpSpPr>
        <p:sp>
          <p:nvSpPr>
            <p:cNvPr id="17479" name="Rectangle 71"/>
            <p:cNvSpPr>
              <a:spLocks noChangeArrowheads="1"/>
            </p:cNvSpPr>
            <p:nvPr/>
          </p:nvSpPr>
          <p:spPr bwMode="auto">
            <a:xfrm>
              <a:off x="405" y="3303"/>
              <a:ext cx="20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P2</a:t>
              </a:r>
            </a:p>
          </p:txBody>
        </p:sp>
        <p:sp>
          <p:nvSpPr>
            <p:cNvPr id="17480" name="Rectangle 72"/>
            <p:cNvSpPr>
              <a:spLocks noChangeArrowheads="1"/>
            </p:cNvSpPr>
            <p:nvPr/>
          </p:nvSpPr>
          <p:spPr bwMode="auto">
            <a:xfrm>
              <a:off x="651" y="3303"/>
              <a:ext cx="1023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Database Develop.</a:t>
              </a:r>
            </a:p>
          </p:txBody>
        </p:sp>
        <p:sp>
          <p:nvSpPr>
            <p:cNvPr id="17481" name="Rectangle 73"/>
            <p:cNvSpPr>
              <a:spLocks noChangeArrowheads="1"/>
            </p:cNvSpPr>
            <p:nvPr/>
          </p:nvSpPr>
          <p:spPr bwMode="auto">
            <a:xfrm>
              <a:off x="1687" y="3303"/>
              <a:ext cx="42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135000</a:t>
              </a:r>
            </a:p>
          </p:txBody>
        </p:sp>
        <p:sp>
          <p:nvSpPr>
            <p:cNvPr id="17482" name="Rectangle 74"/>
            <p:cNvSpPr>
              <a:spLocks noChangeArrowheads="1"/>
            </p:cNvSpPr>
            <p:nvPr/>
          </p:nvSpPr>
          <p:spPr bwMode="auto">
            <a:xfrm>
              <a:off x="2149" y="3303"/>
              <a:ext cx="58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New York</a:t>
              </a:r>
            </a:p>
          </p:txBody>
        </p:sp>
      </p:grpSp>
      <p:sp>
        <p:nvSpPr>
          <p:cNvPr id="17484" name="Rectangle 76"/>
          <p:cNvSpPr>
            <a:spLocks noChangeArrowheads="1"/>
          </p:cNvSpPr>
          <p:nvPr/>
        </p:nvSpPr>
        <p:spPr bwMode="auto">
          <a:xfrm>
            <a:off x="3694238" y="6536268"/>
            <a:ext cx="1324289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7485" name="Line 77"/>
          <p:cNvSpPr>
            <a:spLocks noChangeShapeType="1"/>
          </p:cNvSpPr>
          <p:nvPr/>
        </p:nvSpPr>
        <p:spPr bwMode="auto">
          <a:xfrm>
            <a:off x="1490133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86" name="Line 78"/>
          <p:cNvSpPr>
            <a:spLocks noChangeShapeType="1"/>
          </p:cNvSpPr>
          <p:nvPr/>
        </p:nvSpPr>
        <p:spPr bwMode="auto">
          <a:xfrm>
            <a:off x="1490133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87" name="Line 79"/>
          <p:cNvSpPr>
            <a:spLocks noChangeShapeType="1"/>
          </p:cNvSpPr>
          <p:nvPr/>
        </p:nvSpPr>
        <p:spPr bwMode="auto">
          <a:xfrm>
            <a:off x="1490133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88" name="Line 80"/>
          <p:cNvSpPr>
            <a:spLocks noChangeShapeType="1"/>
          </p:cNvSpPr>
          <p:nvPr/>
        </p:nvSpPr>
        <p:spPr bwMode="auto">
          <a:xfrm>
            <a:off x="1490133" y="6384995"/>
            <a:ext cx="0" cy="15352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89" name="Line 81"/>
          <p:cNvSpPr>
            <a:spLocks noChangeShapeType="1"/>
          </p:cNvSpPr>
          <p:nvPr/>
        </p:nvSpPr>
        <p:spPr bwMode="auto">
          <a:xfrm>
            <a:off x="3711787" y="6384995"/>
            <a:ext cx="0" cy="15352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0" name="Line 82"/>
          <p:cNvSpPr>
            <a:spLocks noChangeShapeType="1"/>
          </p:cNvSpPr>
          <p:nvPr/>
        </p:nvSpPr>
        <p:spPr bwMode="auto">
          <a:xfrm>
            <a:off x="3711787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1" name="Line 83"/>
          <p:cNvSpPr>
            <a:spLocks noChangeShapeType="1"/>
          </p:cNvSpPr>
          <p:nvPr/>
        </p:nvSpPr>
        <p:spPr bwMode="auto">
          <a:xfrm>
            <a:off x="3711787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2" name="Line 84"/>
          <p:cNvSpPr>
            <a:spLocks noChangeShapeType="1"/>
          </p:cNvSpPr>
          <p:nvPr/>
        </p:nvSpPr>
        <p:spPr bwMode="auto">
          <a:xfrm>
            <a:off x="3711787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3" name="Line 85"/>
          <p:cNvSpPr>
            <a:spLocks noChangeShapeType="1"/>
          </p:cNvSpPr>
          <p:nvPr/>
        </p:nvSpPr>
        <p:spPr bwMode="auto">
          <a:xfrm>
            <a:off x="7064588" y="6917831"/>
            <a:ext cx="5312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4" name="Line 86"/>
          <p:cNvSpPr>
            <a:spLocks noChangeShapeType="1"/>
          </p:cNvSpPr>
          <p:nvPr/>
        </p:nvSpPr>
        <p:spPr bwMode="auto">
          <a:xfrm>
            <a:off x="11194062" y="6384996"/>
            <a:ext cx="0" cy="195072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5" name="Rectangle 87"/>
          <p:cNvSpPr>
            <a:spLocks noChangeArrowheads="1"/>
          </p:cNvSpPr>
          <p:nvPr/>
        </p:nvSpPr>
        <p:spPr bwMode="auto">
          <a:xfrm>
            <a:off x="7145299" y="5827326"/>
            <a:ext cx="109841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400" baseline="-25000" dirty="0">
                <a:solidFill>
                  <a:srgbClr val="000000"/>
                </a:solidFill>
                <a:latin typeface="Book Antiqua"/>
              </a:rPr>
              <a:t>2</a:t>
            </a:r>
          </a:p>
        </p:txBody>
      </p:sp>
      <p:sp>
        <p:nvSpPr>
          <p:cNvPr id="17425" name="Rectangle 17"/>
          <p:cNvSpPr>
            <a:spLocks noChangeArrowheads="1"/>
          </p:cNvSpPr>
          <p:nvPr/>
        </p:nvSpPr>
        <p:spPr bwMode="auto">
          <a:xfrm>
            <a:off x="11451455" y="4034649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7429" name="Rectangle 21"/>
          <p:cNvSpPr>
            <a:spLocks noChangeArrowheads="1"/>
          </p:cNvSpPr>
          <p:nvPr/>
        </p:nvSpPr>
        <p:spPr bwMode="auto">
          <a:xfrm>
            <a:off x="11451455" y="3745654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7378423" y="2862862"/>
            <a:ext cx="5346420" cy="21223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7378423" y="2384213"/>
            <a:ext cx="918916" cy="45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endParaRPr lang="en-US" sz="1600" dirty="0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7373907" y="2937369"/>
            <a:ext cx="7608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8586334" y="2937369"/>
            <a:ext cx="114920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10295473" y="2937369"/>
            <a:ext cx="1246294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7417" name="Rectangle 9"/>
          <p:cNvSpPr>
            <a:spLocks noChangeArrowheads="1"/>
          </p:cNvSpPr>
          <p:nvPr/>
        </p:nvSpPr>
        <p:spPr bwMode="auto">
          <a:xfrm>
            <a:off x="11769802" y="2937369"/>
            <a:ext cx="72248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17418" name="Rectangle 10"/>
          <p:cNvSpPr>
            <a:spLocks noChangeArrowheads="1"/>
          </p:cNvSpPr>
          <p:nvPr/>
        </p:nvSpPr>
        <p:spPr bwMode="auto">
          <a:xfrm>
            <a:off x="7525178" y="3447627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P1</a:t>
            </a:r>
          </a:p>
        </p:txBody>
      </p:sp>
      <p:sp>
        <p:nvSpPr>
          <p:cNvPr id="17419" name="Rectangle 11"/>
          <p:cNvSpPr>
            <a:spLocks noChangeArrowheads="1"/>
          </p:cNvSpPr>
          <p:nvPr/>
        </p:nvSpPr>
        <p:spPr bwMode="auto">
          <a:xfrm>
            <a:off x="8012858" y="3447627"/>
            <a:ext cx="202940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Instrumentation</a:t>
            </a:r>
          </a:p>
        </p:txBody>
      </p:sp>
      <p:sp>
        <p:nvSpPr>
          <p:cNvPr id="17420" name="Rectangle 12"/>
          <p:cNvSpPr>
            <a:spLocks noChangeArrowheads="1"/>
          </p:cNvSpPr>
          <p:nvPr/>
        </p:nvSpPr>
        <p:spPr bwMode="auto">
          <a:xfrm>
            <a:off x="10426424" y="3447627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150000</a:t>
            </a:r>
          </a:p>
        </p:txBody>
      </p:sp>
      <p:sp>
        <p:nvSpPr>
          <p:cNvPr id="17421" name="Rectangle 13"/>
          <p:cNvSpPr>
            <a:spLocks noChangeArrowheads="1"/>
          </p:cNvSpPr>
          <p:nvPr/>
        </p:nvSpPr>
        <p:spPr bwMode="auto">
          <a:xfrm>
            <a:off x="11451455" y="3447627"/>
            <a:ext cx="12214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Montreal</a:t>
            </a:r>
          </a:p>
        </p:txBody>
      </p:sp>
      <p:sp>
        <p:nvSpPr>
          <p:cNvPr id="17422" name="Rectangle 14"/>
          <p:cNvSpPr>
            <a:spLocks noChangeArrowheads="1"/>
          </p:cNvSpPr>
          <p:nvPr/>
        </p:nvSpPr>
        <p:spPr bwMode="auto">
          <a:xfrm>
            <a:off x="7510512" y="3980463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7423" name="Rectangle 15"/>
          <p:cNvSpPr>
            <a:spLocks noChangeArrowheads="1"/>
          </p:cNvSpPr>
          <p:nvPr/>
        </p:nvSpPr>
        <p:spPr bwMode="auto">
          <a:xfrm>
            <a:off x="8012858" y="3980463"/>
            <a:ext cx="154208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7424" name="Rectangle 16"/>
          <p:cNvSpPr>
            <a:spLocks noChangeArrowheads="1"/>
          </p:cNvSpPr>
          <p:nvPr/>
        </p:nvSpPr>
        <p:spPr bwMode="auto">
          <a:xfrm>
            <a:off x="10426424" y="3980463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7525178" y="3727591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P2</a:t>
            </a:r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8012858" y="3727591"/>
            <a:ext cx="236442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Database Develop.</a:t>
            </a:r>
          </a:p>
        </p:txBody>
      </p: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10426424" y="3727591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135000</a:t>
            </a:r>
          </a:p>
        </p:txBody>
      </p:sp>
      <p:sp>
        <p:nvSpPr>
          <p:cNvPr id="17430" name="Rectangle 22"/>
          <p:cNvSpPr>
            <a:spLocks noChangeArrowheads="1"/>
          </p:cNvSpPr>
          <p:nvPr/>
        </p:nvSpPr>
        <p:spPr bwMode="auto">
          <a:xfrm>
            <a:off x="7525178" y="4278489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7431" name="Rectangle 23"/>
          <p:cNvSpPr>
            <a:spLocks noChangeArrowheads="1"/>
          </p:cNvSpPr>
          <p:nvPr/>
        </p:nvSpPr>
        <p:spPr bwMode="auto">
          <a:xfrm>
            <a:off x="8012858" y="4278489"/>
            <a:ext cx="164817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17432" name="Rectangle 24"/>
          <p:cNvSpPr>
            <a:spLocks noChangeArrowheads="1"/>
          </p:cNvSpPr>
          <p:nvPr/>
        </p:nvSpPr>
        <p:spPr bwMode="auto">
          <a:xfrm>
            <a:off x="10426424" y="4278489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17433" name="Rectangle 25"/>
          <p:cNvSpPr>
            <a:spLocks noChangeArrowheads="1"/>
          </p:cNvSpPr>
          <p:nvPr/>
        </p:nvSpPr>
        <p:spPr bwMode="auto">
          <a:xfrm>
            <a:off x="11451455" y="4278489"/>
            <a:ext cx="7495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  <p:sp>
        <p:nvSpPr>
          <p:cNvPr id="17434" name="Rectangle 26"/>
          <p:cNvSpPr>
            <a:spLocks noChangeArrowheads="1"/>
          </p:cNvSpPr>
          <p:nvPr/>
        </p:nvSpPr>
        <p:spPr bwMode="auto">
          <a:xfrm>
            <a:off x="7525178" y="4567485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7435" name="Rectangle 27"/>
          <p:cNvSpPr>
            <a:spLocks noChangeArrowheads="1"/>
          </p:cNvSpPr>
          <p:nvPr/>
        </p:nvSpPr>
        <p:spPr bwMode="auto">
          <a:xfrm>
            <a:off x="8012858" y="4567485"/>
            <a:ext cx="154208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10426424" y="4567485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500000</a:t>
            </a:r>
          </a:p>
        </p:txBody>
      </p:sp>
      <p:sp>
        <p:nvSpPr>
          <p:cNvPr id="17437" name="Rectangle 29"/>
          <p:cNvSpPr>
            <a:spLocks noChangeArrowheads="1"/>
          </p:cNvSpPr>
          <p:nvPr/>
        </p:nvSpPr>
        <p:spPr bwMode="auto">
          <a:xfrm>
            <a:off x="11451455" y="4567485"/>
            <a:ext cx="9640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Boston</a:t>
            </a:r>
          </a:p>
        </p:txBody>
      </p:sp>
      <p:sp>
        <p:nvSpPr>
          <p:cNvPr id="17496" name="Line 88"/>
          <p:cNvSpPr>
            <a:spLocks noChangeShapeType="1"/>
          </p:cNvSpPr>
          <p:nvPr/>
        </p:nvSpPr>
        <p:spPr bwMode="auto">
          <a:xfrm>
            <a:off x="7378423" y="3379893"/>
            <a:ext cx="53531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7" name="Line 89"/>
          <p:cNvSpPr>
            <a:spLocks noChangeShapeType="1"/>
          </p:cNvSpPr>
          <p:nvPr/>
        </p:nvSpPr>
        <p:spPr bwMode="auto">
          <a:xfrm>
            <a:off x="8067045" y="2860604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8" name="Line 90"/>
          <p:cNvSpPr>
            <a:spLocks noChangeShapeType="1"/>
          </p:cNvSpPr>
          <p:nvPr/>
        </p:nvSpPr>
        <p:spPr bwMode="auto">
          <a:xfrm>
            <a:off x="10354175" y="2860604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99" name="Line 91"/>
          <p:cNvSpPr>
            <a:spLocks noChangeShapeType="1"/>
          </p:cNvSpPr>
          <p:nvPr/>
        </p:nvSpPr>
        <p:spPr bwMode="auto">
          <a:xfrm>
            <a:off x="11442424" y="2860604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Fragmentation Alternatives – Vertical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4978" y="2790825"/>
            <a:ext cx="6421438" cy="2736850"/>
          </a:xfrm>
          <a:noFill/>
          <a:ln/>
        </p:spPr>
        <p:txBody>
          <a:bodyPr/>
          <a:lstStyle/>
          <a:p>
            <a:pPr marL="1537523" indent="-1537523">
              <a:buNone/>
            </a:pPr>
            <a:r>
              <a:rPr lang="en-US" dirty="0"/>
              <a:t>PROJ</a:t>
            </a:r>
            <a:r>
              <a:rPr lang="en-US" baseline="-25000" dirty="0"/>
              <a:t>1</a:t>
            </a:r>
            <a:r>
              <a:rPr lang="en-US" dirty="0"/>
              <a:t>:	information about project budgets</a:t>
            </a:r>
          </a:p>
          <a:p>
            <a:pPr marL="1537523" indent="-1537523">
              <a:buNone/>
            </a:pPr>
            <a:r>
              <a:rPr lang="en-US" dirty="0"/>
              <a:t>PROJ</a:t>
            </a:r>
            <a:r>
              <a:rPr lang="en-US" baseline="-25000" dirty="0"/>
              <a:t>2</a:t>
            </a:r>
            <a:r>
              <a:rPr lang="en-US" dirty="0"/>
              <a:t>:	information about project names and locations</a:t>
            </a:r>
          </a:p>
        </p:txBody>
      </p:sp>
      <p:sp>
        <p:nvSpPr>
          <p:cNvPr id="19492" name="Rectangle 36"/>
          <p:cNvSpPr>
            <a:spLocks noChangeArrowheads="1"/>
          </p:cNvSpPr>
          <p:nvPr/>
        </p:nvSpPr>
        <p:spPr bwMode="auto">
          <a:xfrm>
            <a:off x="1934916" y="6644641"/>
            <a:ext cx="2174239" cy="212231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493" name="Rectangle 37"/>
          <p:cNvSpPr>
            <a:spLocks noChangeArrowheads="1"/>
          </p:cNvSpPr>
          <p:nvPr/>
        </p:nvSpPr>
        <p:spPr bwMode="auto">
          <a:xfrm>
            <a:off x="1892347" y="6719147"/>
            <a:ext cx="83697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9494" name="Rectangle 38"/>
          <p:cNvSpPr>
            <a:spLocks noChangeArrowheads="1"/>
          </p:cNvSpPr>
          <p:nvPr/>
        </p:nvSpPr>
        <p:spPr bwMode="auto">
          <a:xfrm>
            <a:off x="2716620" y="6719147"/>
            <a:ext cx="1324289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9495" name="Rectangle 39"/>
          <p:cNvSpPr>
            <a:spLocks noChangeArrowheads="1"/>
          </p:cNvSpPr>
          <p:nvPr/>
        </p:nvSpPr>
        <p:spPr bwMode="auto">
          <a:xfrm>
            <a:off x="2043826" y="7229405"/>
            <a:ext cx="543051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P1</a:t>
            </a:r>
          </a:p>
        </p:txBody>
      </p:sp>
      <p:sp>
        <p:nvSpPr>
          <p:cNvPr id="19496" name="Rectangle 40"/>
          <p:cNvSpPr>
            <a:spLocks noChangeArrowheads="1"/>
          </p:cNvSpPr>
          <p:nvPr/>
        </p:nvSpPr>
        <p:spPr bwMode="auto">
          <a:xfrm>
            <a:off x="2842647" y="7229405"/>
            <a:ext cx="102933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150000</a:t>
            </a:r>
          </a:p>
        </p:txBody>
      </p:sp>
      <p:sp>
        <p:nvSpPr>
          <p:cNvPr id="19497" name="Rectangle 41"/>
          <p:cNvSpPr>
            <a:spLocks noChangeArrowheads="1"/>
          </p:cNvSpPr>
          <p:nvPr/>
        </p:nvSpPr>
        <p:spPr bwMode="auto">
          <a:xfrm>
            <a:off x="2043826" y="7789334"/>
            <a:ext cx="543051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9498" name="Rectangle 42"/>
          <p:cNvSpPr>
            <a:spLocks noChangeArrowheads="1"/>
          </p:cNvSpPr>
          <p:nvPr/>
        </p:nvSpPr>
        <p:spPr bwMode="auto">
          <a:xfrm>
            <a:off x="2842647" y="7789334"/>
            <a:ext cx="102933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19499" name="Rectangle 43"/>
          <p:cNvSpPr>
            <a:spLocks noChangeArrowheads="1"/>
          </p:cNvSpPr>
          <p:nvPr/>
        </p:nvSpPr>
        <p:spPr bwMode="auto">
          <a:xfrm>
            <a:off x="2043826" y="7500338"/>
            <a:ext cx="543051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P2</a:t>
            </a:r>
          </a:p>
        </p:txBody>
      </p:sp>
      <p:sp>
        <p:nvSpPr>
          <p:cNvPr id="19500" name="Rectangle 44"/>
          <p:cNvSpPr>
            <a:spLocks noChangeArrowheads="1"/>
          </p:cNvSpPr>
          <p:nvPr/>
        </p:nvSpPr>
        <p:spPr bwMode="auto">
          <a:xfrm>
            <a:off x="2842647" y="7500338"/>
            <a:ext cx="102933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135000</a:t>
            </a:r>
          </a:p>
        </p:txBody>
      </p:sp>
      <p:sp>
        <p:nvSpPr>
          <p:cNvPr id="19501" name="Rectangle 45"/>
          <p:cNvSpPr>
            <a:spLocks noChangeArrowheads="1"/>
          </p:cNvSpPr>
          <p:nvPr/>
        </p:nvSpPr>
        <p:spPr bwMode="auto">
          <a:xfrm>
            <a:off x="2043826" y="8060267"/>
            <a:ext cx="543051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9502" name="Rectangle 46"/>
          <p:cNvSpPr>
            <a:spLocks noChangeArrowheads="1"/>
          </p:cNvSpPr>
          <p:nvPr/>
        </p:nvSpPr>
        <p:spPr bwMode="auto">
          <a:xfrm>
            <a:off x="2842647" y="8060267"/>
            <a:ext cx="102933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19503" name="Rectangle 47"/>
          <p:cNvSpPr>
            <a:spLocks noChangeArrowheads="1"/>
          </p:cNvSpPr>
          <p:nvPr/>
        </p:nvSpPr>
        <p:spPr bwMode="auto">
          <a:xfrm>
            <a:off x="2043826" y="8349263"/>
            <a:ext cx="543051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9504" name="Rectangle 48"/>
          <p:cNvSpPr>
            <a:spLocks noChangeArrowheads="1"/>
          </p:cNvSpPr>
          <p:nvPr/>
        </p:nvSpPr>
        <p:spPr bwMode="auto">
          <a:xfrm>
            <a:off x="2842647" y="8349263"/>
            <a:ext cx="102933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500000</a:t>
            </a:r>
          </a:p>
        </p:txBody>
      </p:sp>
      <p:sp>
        <p:nvSpPr>
          <p:cNvPr id="19505" name="Line 49"/>
          <p:cNvSpPr>
            <a:spLocks noChangeShapeType="1"/>
          </p:cNvSpPr>
          <p:nvPr/>
        </p:nvSpPr>
        <p:spPr bwMode="auto">
          <a:xfrm>
            <a:off x="1934916" y="7161671"/>
            <a:ext cx="217423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06" name="Line 50"/>
          <p:cNvSpPr>
            <a:spLocks noChangeShapeType="1"/>
          </p:cNvSpPr>
          <p:nvPr/>
        </p:nvSpPr>
        <p:spPr bwMode="auto">
          <a:xfrm>
            <a:off x="2623538" y="6642382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08" name="Rectangle 52"/>
          <p:cNvSpPr>
            <a:spLocks noChangeArrowheads="1"/>
          </p:cNvSpPr>
          <p:nvPr/>
        </p:nvSpPr>
        <p:spPr bwMode="auto">
          <a:xfrm>
            <a:off x="6269853" y="6644640"/>
            <a:ext cx="4413956" cy="212231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09" name="Rectangle 53"/>
          <p:cNvSpPr>
            <a:spLocks noChangeArrowheads="1"/>
          </p:cNvSpPr>
          <p:nvPr/>
        </p:nvSpPr>
        <p:spPr bwMode="auto">
          <a:xfrm>
            <a:off x="6265337" y="6719146"/>
            <a:ext cx="7608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9510" name="Rectangle 54"/>
          <p:cNvSpPr>
            <a:spLocks noChangeArrowheads="1"/>
          </p:cNvSpPr>
          <p:nvPr/>
        </p:nvSpPr>
        <p:spPr bwMode="auto">
          <a:xfrm>
            <a:off x="7477764" y="6719146"/>
            <a:ext cx="114920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9511" name="Rectangle 55"/>
          <p:cNvSpPr>
            <a:spLocks noChangeArrowheads="1"/>
          </p:cNvSpPr>
          <p:nvPr/>
        </p:nvSpPr>
        <p:spPr bwMode="auto">
          <a:xfrm>
            <a:off x="9624911" y="6719146"/>
            <a:ext cx="72248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19512" name="Rectangle 56"/>
          <p:cNvSpPr>
            <a:spLocks noChangeArrowheads="1"/>
          </p:cNvSpPr>
          <p:nvPr/>
        </p:nvSpPr>
        <p:spPr bwMode="auto">
          <a:xfrm>
            <a:off x="6416608" y="7229404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P1</a:t>
            </a:r>
          </a:p>
        </p:txBody>
      </p:sp>
      <p:sp>
        <p:nvSpPr>
          <p:cNvPr id="19513" name="Rectangle 57"/>
          <p:cNvSpPr>
            <a:spLocks noChangeArrowheads="1"/>
          </p:cNvSpPr>
          <p:nvPr/>
        </p:nvSpPr>
        <p:spPr bwMode="auto">
          <a:xfrm>
            <a:off x="7001005" y="7229404"/>
            <a:ext cx="202974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Instrumentation</a:t>
            </a:r>
          </a:p>
        </p:txBody>
      </p:sp>
      <p:sp>
        <p:nvSpPr>
          <p:cNvPr id="19514" name="Rectangle 58"/>
          <p:cNvSpPr>
            <a:spLocks noChangeArrowheads="1"/>
          </p:cNvSpPr>
          <p:nvPr/>
        </p:nvSpPr>
        <p:spPr bwMode="auto">
          <a:xfrm>
            <a:off x="9313338" y="7229404"/>
            <a:ext cx="12214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Montreal</a:t>
            </a:r>
          </a:p>
        </p:txBody>
      </p:sp>
      <p:sp>
        <p:nvSpPr>
          <p:cNvPr id="19515" name="Rectangle 59"/>
          <p:cNvSpPr>
            <a:spLocks noChangeArrowheads="1"/>
          </p:cNvSpPr>
          <p:nvPr/>
        </p:nvSpPr>
        <p:spPr bwMode="auto">
          <a:xfrm>
            <a:off x="6416608" y="7789333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9516" name="Rectangle 60"/>
          <p:cNvSpPr>
            <a:spLocks noChangeArrowheads="1"/>
          </p:cNvSpPr>
          <p:nvPr/>
        </p:nvSpPr>
        <p:spPr bwMode="auto">
          <a:xfrm>
            <a:off x="7001005" y="7789333"/>
            <a:ext cx="154206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9517" name="Rectangle 61"/>
          <p:cNvSpPr>
            <a:spLocks noChangeArrowheads="1"/>
          </p:cNvSpPr>
          <p:nvPr/>
        </p:nvSpPr>
        <p:spPr bwMode="auto">
          <a:xfrm>
            <a:off x="9313338" y="7789333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9518" name="Rectangle 62"/>
          <p:cNvSpPr>
            <a:spLocks noChangeArrowheads="1"/>
          </p:cNvSpPr>
          <p:nvPr/>
        </p:nvSpPr>
        <p:spPr bwMode="auto">
          <a:xfrm>
            <a:off x="6416608" y="7500338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P2</a:t>
            </a:r>
          </a:p>
        </p:txBody>
      </p:sp>
      <p:sp>
        <p:nvSpPr>
          <p:cNvPr id="19519" name="Rectangle 63"/>
          <p:cNvSpPr>
            <a:spLocks noChangeArrowheads="1"/>
          </p:cNvSpPr>
          <p:nvPr/>
        </p:nvSpPr>
        <p:spPr bwMode="auto">
          <a:xfrm>
            <a:off x="7001005" y="7500338"/>
            <a:ext cx="2309707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Database Develop.</a:t>
            </a:r>
          </a:p>
        </p:txBody>
      </p:sp>
      <p:sp>
        <p:nvSpPr>
          <p:cNvPr id="19520" name="Rectangle 64"/>
          <p:cNvSpPr>
            <a:spLocks noChangeArrowheads="1"/>
          </p:cNvSpPr>
          <p:nvPr/>
        </p:nvSpPr>
        <p:spPr bwMode="auto">
          <a:xfrm>
            <a:off x="9313338" y="7500338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9521" name="Rectangle 65"/>
          <p:cNvSpPr>
            <a:spLocks noChangeArrowheads="1"/>
          </p:cNvSpPr>
          <p:nvPr/>
        </p:nvSpPr>
        <p:spPr bwMode="auto">
          <a:xfrm>
            <a:off x="6416608" y="8060267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9522" name="Rectangle 66"/>
          <p:cNvSpPr>
            <a:spLocks noChangeArrowheads="1"/>
          </p:cNvSpPr>
          <p:nvPr/>
        </p:nvSpPr>
        <p:spPr bwMode="auto">
          <a:xfrm>
            <a:off x="7001005" y="8060267"/>
            <a:ext cx="164817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19523" name="Rectangle 67"/>
          <p:cNvSpPr>
            <a:spLocks noChangeArrowheads="1"/>
          </p:cNvSpPr>
          <p:nvPr/>
        </p:nvSpPr>
        <p:spPr bwMode="auto">
          <a:xfrm>
            <a:off x="9313338" y="8060267"/>
            <a:ext cx="7495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  <p:sp>
        <p:nvSpPr>
          <p:cNvPr id="19524" name="Rectangle 68"/>
          <p:cNvSpPr>
            <a:spLocks noChangeArrowheads="1"/>
          </p:cNvSpPr>
          <p:nvPr/>
        </p:nvSpPr>
        <p:spPr bwMode="auto">
          <a:xfrm>
            <a:off x="6416608" y="8349262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9525" name="Rectangle 69"/>
          <p:cNvSpPr>
            <a:spLocks noChangeArrowheads="1"/>
          </p:cNvSpPr>
          <p:nvPr/>
        </p:nvSpPr>
        <p:spPr bwMode="auto">
          <a:xfrm>
            <a:off x="7001005" y="8349262"/>
            <a:ext cx="154206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9526" name="Rectangle 70"/>
          <p:cNvSpPr>
            <a:spLocks noChangeArrowheads="1"/>
          </p:cNvSpPr>
          <p:nvPr/>
        </p:nvSpPr>
        <p:spPr bwMode="auto">
          <a:xfrm>
            <a:off x="9313338" y="8349262"/>
            <a:ext cx="9640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Boston</a:t>
            </a:r>
          </a:p>
        </p:txBody>
      </p:sp>
      <p:sp>
        <p:nvSpPr>
          <p:cNvPr id="19527" name="Line 71"/>
          <p:cNvSpPr>
            <a:spLocks noChangeShapeType="1"/>
          </p:cNvSpPr>
          <p:nvPr/>
        </p:nvSpPr>
        <p:spPr bwMode="auto">
          <a:xfrm>
            <a:off x="6269853" y="7161671"/>
            <a:ext cx="441395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28" name="Line 72"/>
          <p:cNvSpPr>
            <a:spLocks noChangeShapeType="1"/>
          </p:cNvSpPr>
          <p:nvPr/>
        </p:nvSpPr>
        <p:spPr bwMode="auto">
          <a:xfrm>
            <a:off x="6958475" y="6642382"/>
            <a:ext cx="0" cy="21245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29" name="Line 73"/>
          <p:cNvSpPr>
            <a:spLocks noChangeShapeType="1"/>
          </p:cNvSpPr>
          <p:nvPr/>
        </p:nvSpPr>
        <p:spPr bwMode="auto">
          <a:xfrm>
            <a:off x="9245604" y="6642382"/>
            <a:ext cx="0" cy="212456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31" name="Rectangle 75"/>
          <p:cNvSpPr>
            <a:spLocks noChangeArrowheads="1"/>
          </p:cNvSpPr>
          <p:nvPr/>
        </p:nvSpPr>
        <p:spPr bwMode="auto">
          <a:xfrm>
            <a:off x="1877904" y="6084713"/>
            <a:ext cx="109841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400" baseline="-25000" dirty="0">
                <a:solidFill>
                  <a:srgbClr val="000000"/>
                </a:solidFill>
                <a:latin typeface="Book Antiqua"/>
              </a:rPr>
              <a:t>1</a:t>
            </a:r>
          </a:p>
        </p:txBody>
      </p:sp>
      <p:sp>
        <p:nvSpPr>
          <p:cNvPr id="19532" name="Rectangle 76"/>
          <p:cNvSpPr>
            <a:spLocks noChangeArrowheads="1"/>
          </p:cNvSpPr>
          <p:nvPr/>
        </p:nvSpPr>
        <p:spPr bwMode="auto">
          <a:xfrm>
            <a:off x="6276055" y="6084713"/>
            <a:ext cx="109841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400" baseline="-25000" dirty="0">
                <a:solidFill>
                  <a:srgbClr val="000000"/>
                </a:solidFill>
                <a:latin typeface="Book Antiqua"/>
              </a:rPr>
              <a:t>2</a:t>
            </a:r>
          </a:p>
        </p:txBody>
      </p:sp>
      <p:sp>
        <p:nvSpPr>
          <p:cNvPr id="19563" name="Rectangle 107"/>
          <p:cNvSpPr>
            <a:spLocks noChangeArrowheads="1"/>
          </p:cNvSpPr>
          <p:nvPr/>
        </p:nvSpPr>
        <p:spPr bwMode="auto">
          <a:xfrm>
            <a:off x="11455971" y="4034649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9564" name="Rectangle 108"/>
          <p:cNvSpPr>
            <a:spLocks noChangeArrowheads="1"/>
          </p:cNvSpPr>
          <p:nvPr/>
        </p:nvSpPr>
        <p:spPr bwMode="auto">
          <a:xfrm>
            <a:off x="11455971" y="3745654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9565" name="Rectangle 109"/>
          <p:cNvSpPr>
            <a:spLocks noChangeArrowheads="1"/>
          </p:cNvSpPr>
          <p:nvPr/>
        </p:nvSpPr>
        <p:spPr bwMode="auto">
          <a:xfrm>
            <a:off x="7378423" y="2862862"/>
            <a:ext cx="5346420" cy="21223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66" name="Rectangle 110"/>
          <p:cNvSpPr>
            <a:spLocks noChangeArrowheads="1"/>
          </p:cNvSpPr>
          <p:nvPr/>
        </p:nvSpPr>
        <p:spPr bwMode="auto">
          <a:xfrm>
            <a:off x="7378423" y="2384213"/>
            <a:ext cx="918916" cy="45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</a:p>
        </p:txBody>
      </p:sp>
      <p:sp>
        <p:nvSpPr>
          <p:cNvPr id="19567" name="Rectangle 111"/>
          <p:cNvSpPr>
            <a:spLocks noChangeArrowheads="1"/>
          </p:cNvSpPr>
          <p:nvPr/>
        </p:nvSpPr>
        <p:spPr bwMode="auto">
          <a:xfrm>
            <a:off x="7373907" y="2937369"/>
            <a:ext cx="7608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9568" name="Rectangle 112"/>
          <p:cNvSpPr>
            <a:spLocks noChangeArrowheads="1"/>
          </p:cNvSpPr>
          <p:nvPr/>
        </p:nvSpPr>
        <p:spPr bwMode="auto">
          <a:xfrm>
            <a:off x="8586334" y="2937369"/>
            <a:ext cx="114920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9569" name="Rectangle 113"/>
          <p:cNvSpPr>
            <a:spLocks noChangeArrowheads="1"/>
          </p:cNvSpPr>
          <p:nvPr/>
        </p:nvSpPr>
        <p:spPr bwMode="auto">
          <a:xfrm>
            <a:off x="10295473" y="2937369"/>
            <a:ext cx="1246294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9570" name="Rectangle 114"/>
          <p:cNvSpPr>
            <a:spLocks noChangeArrowheads="1"/>
          </p:cNvSpPr>
          <p:nvPr/>
        </p:nvSpPr>
        <p:spPr bwMode="auto">
          <a:xfrm>
            <a:off x="11769802" y="2937369"/>
            <a:ext cx="72248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19571" name="Rectangle 115"/>
          <p:cNvSpPr>
            <a:spLocks noChangeArrowheads="1"/>
          </p:cNvSpPr>
          <p:nvPr/>
        </p:nvSpPr>
        <p:spPr bwMode="auto">
          <a:xfrm>
            <a:off x="7525178" y="3447627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P1</a:t>
            </a:r>
          </a:p>
        </p:txBody>
      </p:sp>
      <p:sp>
        <p:nvSpPr>
          <p:cNvPr id="19572" name="Rectangle 116"/>
          <p:cNvSpPr>
            <a:spLocks noChangeArrowheads="1"/>
          </p:cNvSpPr>
          <p:nvPr/>
        </p:nvSpPr>
        <p:spPr bwMode="auto">
          <a:xfrm>
            <a:off x="8153132" y="3447627"/>
            <a:ext cx="202974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Instrumentation</a:t>
            </a:r>
          </a:p>
        </p:txBody>
      </p:sp>
      <p:sp>
        <p:nvSpPr>
          <p:cNvPr id="19573" name="Rectangle 117"/>
          <p:cNvSpPr>
            <a:spLocks noChangeArrowheads="1"/>
          </p:cNvSpPr>
          <p:nvPr/>
        </p:nvSpPr>
        <p:spPr bwMode="auto">
          <a:xfrm>
            <a:off x="10437713" y="3447627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150000</a:t>
            </a:r>
          </a:p>
        </p:txBody>
      </p:sp>
      <p:sp>
        <p:nvSpPr>
          <p:cNvPr id="19574" name="Rectangle 118"/>
          <p:cNvSpPr>
            <a:spLocks noChangeArrowheads="1"/>
          </p:cNvSpPr>
          <p:nvPr/>
        </p:nvSpPr>
        <p:spPr bwMode="auto">
          <a:xfrm>
            <a:off x="11451455" y="3447627"/>
            <a:ext cx="12214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Montreal</a:t>
            </a:r>
          </a:p>
        </p:txBody>
      </p:sp>
      <p:sp>
        <p:nvSpPr>
          <p:cNvPr id="19575" name="Rectangle 119"/>
          <p:cNvSpPr>
            <a:spLocks noChangeArrowheads="1"/>
          </p:cNvSpPr>
          <p:nvPr/>
        </p:nvSpPr>
        <p:spPr bwMode="auto">
          <a:xfrm>
            <a:off x="7527445" y="3980463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9576" name="Rectangle 120"/>
          <p:cNvSpPr>
            <a:spLocks noChangeArrowheads="1"/>
          </p:cNvSpPr>
          <p:nvPr/>
        </p:nvSpPr>
        <p:spPr bwMode="auto">
          <a:xfrm>
            <a:off x="8153132" y="3980463"/>
            <a:ext cx="154206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9577" name="Rectangle 121"/>
          <p:cNvSpPr>
            <a:spLocks noChangeArrowheads="1"/>
          </p:cNvSpPr>
          <p:nvPr/>
        </p:nvSpPr>
        <p:spPr bwMode="auto">
          <a:xfrm>
            <a:off x="10426424" y="3980463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19578" name="Rectangle 122"/>
          <p:cNvSpPr>
            <a:spLocks noChangeArrowheads="1"/>
          </p:cNvSpPr>
          <p:nvPr/>
        </p:nvSpPr>
        <p:spPr bwMode="auto">
          <a:xfrm>
            <a:off x="7525178" y="3727591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P2</a:t>
            </a:r>
          </a:p>
        </p:txBody>
      </p:sp>
      <p:sp>
        <p:nvSpPr>
          <p:cNvPr id="19579" name="Rectangle 123"/>
          <p:cNvSpPr>
            <a:spLocks noChangeArrowheads="1"/>
          </p:cNvSpPr>
          <p:nvPr/>
        </p:nvSpPr>
        <p:spPr bwMode="auto">
          <a:xfrm>
            <a:off x="8153132" y="3727591"/>
            <a:ext cx="230970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Database Develop.</a:t>
            </a:r>
          </a:p>
        </p:txBody>
      </p:sp>
      <p:sp>
        <p:nvSpPr>
          <p:cNvPr id="19580" name="Rectangle 124"/>
          <p:cNvSpPr>
            <a:spLocks noChangeArrowheads="1"/>
          </p:cNvSpPr>
          <p:nvPr/>
        </p:nvSpPr>
        <p:spPr bwMode="auto">
          <a:xfrm>
            <a:off x="10437713" y="3727591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135000</a:t>
            </a:r>
          </a:p>
        </p:txBody>
      </p:sp>
      <p:sp>
        <p:nvSpPr>
          <p:cNvPr id="19581" name="Rectangle 125"/>
          <p:cNvSpPr>
            <a:spLocks noChangeArrowheads="1"/>
          </p:cNvSpPr>
          <p:nvPr/>
        </p:nvSpPr>
        <p:spPr bwMode="auto">
          <a:xfrm>
            <a:off x="7525178" y="4278489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9582" name="Rectangle 126"/>
          <p:cNvSpPr>
            <a:spLocks noChangeArrowheads="1"/>
          </p:cNvSpPr>
          <p:nvPr/>
        </p:nvSpPr>
        <p:spPr bwMode="auto">
          <a:xfrm>
            <a:off x="8153132" y="4278489"/>
            <a:ext cx="164817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19583" name="Rectangle 127"/>
          <p:cNvSpPr>
            <a:spLocks noChangeArrowheads="1"/>
          </p:cNvSpPr>
          <p:nvPr/>
        </p:nvSpPr>
        <p:spPr bwMode="auto">
          <a:xfrm>
            <a:off x="10437713" y="4278489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19584" name="Rectangle 128"/>
          <p:cNvSpPr>
            <a:spLocks noChangeArrowheads="1"/>
          </p:cNvSpPr>
          <p:nvPr/>
        </p:nvSpPr>
        <p:spPr bwMode="auto">
          <a:xfrm>
            <a:off x="11480806" y="4278489"/>
            <a:ext cx="7495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  <p:sp>
        <p:nvSpPr>
          <p:cNvPr id="19585" name="Rectangle 129"/>
          <p:cNvSpPr>
            <a:spLocks noChangeArrowheads="1"/>
          </p:cNvSpPr>
          <p:nvPr/>
        </p:nvSpPr>
        <p:spPr bwMode="auto">
          <a:xfrm>
            <a:off x="7525178" y="4567485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9586" name="Rectangle 130"/>
          <p:cNvSpPr>
            <a:spLocks noChangeArrowheads="1"/>
          </p:cNvSpPr>
          <p:nvPr/>
        </p:nvSpPr>
        <p:spPr bwMode="auto">
          <a:xfrm>
            <a:off x="8153132" y="4567485"/>
            <a:ext cx="154206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9587" name="Rectangle 131"/>
          <p:cNvSpPr>
            <a:spLocks noChangeArrowheads="1"/>
          </p:cNvSpPr>
          <p:nvPr/>
        </p:nvSpPr>
        <p:spPr bwMode="auto">
          <a:xfrm>
            <a:off x="10437713" y="4567485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500000</a:t>
            </a:r>
          </a:p>
        </p:txBody>
      </p:sp>
      <p:sp>
        <p:nvSpPr>
          <p:cNvPr id="19588" name="Rectangle 132"/>
          <p:cNvSpPr>
            <a:spLocks noChangeArrowheads="1"/>
          </p:cNvSpPr>
          <p:nvPr/>
        </p:nvSpPr>
        <p:spPr bwMode="auto">
          <a:xfrm>
            <a:off x="11480806" y="4567485"/>
            <a:ext cx="9640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Boston</a:t>
            </a:r>
          </a:p>
        </p:txBody>
      </p:sp>
      <p:sp>
        <p:nvSpPr>
          <p:cNvPr id="19589" name="Line 133"/>
          <p:cNvSpPr>
            <a:spLocks noChangeShapeType="1"/>
          </p:cNvSpPr>
          <p:nvPr/>
        </p:nvSpPr>
        <p:spPr bwMode="auto">
          <a:xfrm>
            <a:off x="7378423" y="3379893"/>
            <a:ext cx="53531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90" name="Line 134"/>
          <p:cNvSpPr>
            <a:spLocks noChangeShapeType="1"/>
          </p:cNvSpPr>
          <p:nvPr/>
        </p:nvSpPr>
        <p:spPr bwMode="auto">
          <a:xfrm>
            <a:off x="8067045" y="2860604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91" name="Line 135"/>
          <p:cNvSpPr>
            <a:spLocks noChangeShapeType="1"/>
          </p:cNvSpPr>
          <p:nvPr/>
        </p:nvSpPr>
        <p:spPr bwMode="auto">
          <a:xfrm>
            <a:off x="10354175" y="2860604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9592" name="Line 136"/>
          <p:cNvSpPr>
            <a:spLocks noChangeShapeType="1"/>
          </p:cNvSpPr>
          <p:nvPr/>
        </p:nvSpPr>
        <p:spPr bwMode="auto">
          <a:xfrm>
            <a:off x="11442424" y="2860604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Degree of Fragmentation</a:t>
            </a:r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2469952" y="7024827"/>
            <a:ext cx="8459894" cy="123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310" tIns="36124" rIns="90310" bIns="36124">
            <a:spAutoFit/>
          </a:bodyPr>
          <a:lstStyle/>
          <a:p>
            <a:pPr algn="l">
              <a:lnSpc>
                <a:spcPct val="85000"/>
              </a:lnSpc>
            </a:pPr>
            <a:r>
              <a:rPr lang="en-US" sz="2800" dirty="0">
                <a:solidFill>
                  <a:schemeClr val="tx2"/>
                </a:solidFill>
                <a:latin typeface="Book Antiqua"/>
              </a:rPr>
              <a:t>Finding the suitable level of partitioning within this range</a:t>
            </a:r>
          </a:p>
          <a:p>
            <a:pPr algn="l"/>
            <a:endParaRPr lang="en-US" sz="2800" dirty="0">
              <a:solidFill>
                <a:schemeClr val="tx2"/>
              </a:solidFill>
              <a:latin typeface="Book Antiqua"/>
            </a:endParaRP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3567289" y="4493107"/>
            <a:ext cx="5834098" cy="0"/>
          </a:xfrm>
          <a:prstGeom prst="line">
            <a:avLst/>
          </a:prstGeom>
          <a:noFill/>
          <a:ln w="19050" cmpd="sng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3567289" y="4330547"/>
            <a:ext cx="0" cy="30705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1510" name="Line 6"/>
          <p:cNvSpPr>
            <a:spLocks noChangeShapeType="1"/>
          </p:cNvSpPr>
          <p:nvPr/>
        </p:nvSpPr>
        <p:spPr bwMode="auto">
          <a:xfrm>
            <a:off x="9419449" y="4330547"/>
            <a:ext cx="0" cy="30705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2797774" y="4818227"/>
            <a:ext cx="1699332" cy="1382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Book Antiqua"/>
              </a:rPr>
              <a:t>tuples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Book Antiqua"/>
              </a:rPr>
              <a:t>or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Book Antiqua"/>
              </a:rPr>
              <a:t>attributes</a:t>
            </a:r>
            <a:endParaRPr lang="en-US" sz="2800" dirty="0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8845988" y="4818227"/>
            <a:ext cx="1630087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relations</a:t>
            </a:r>
          </a:p>
        </p:txBody>
      </p:sp>
      <p:sp>
        <p:nvSpPr>
          <p:cNvPr id="21524" name="Rectangle 20"/>
          <p:cNvSpPr>
            <a:spLocks noChangeArrowheads="1"/>
          </p:cNvSpPr>
          <p:nvPr/>
        </p:nvSpPr>
        <p:spPr bwMode="auto">
          <a:xfrm>
            <a:off x="4319669" y="2948787"/>
            <a:ext cx="4778636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finite number of alternatives</a:t>
            </a:r>
          </a:p>
        </p:txBody>
      </p:sp>
      <p:sp>
        <p:nvSpPr>
          <p:cNvPr id="2" name="Right Brace 1"/>
          <p:cNvSpPr/>
          <p:nvPr/>
        </p:nvSpPr>
        <p:spPr bwMode="auto">
          <a:xfrm rot="16200000">
            <a:off x="6070352" y="904147"/>
            <a:ext cx="792088" cy="5832648"/>
          </a:xfrm>
          <a:prstGeom prst="rightBrace">
            <a:avLst/>
          </a:prstGeom>
          <a:noFill/>
          <a:ln w="19050" cmpd="sng">
            <a:solidFill>
              <a:schemeClr val="tx2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normalizeH="0" baseline="0" dirty="0">
              <a:ln>
                <a:noFill/>
              </a:ln>
              <a:solidFill>
                <a:srgbClr val="263750"/>
              </a:solidFill>
              <a:effectLst/>
              <a:latin typeface="Book Antiqua"/>
              <a:ea typeface="ヒラギノ明朝 ProN W3" charset="0"/>
              <a:cs typeface="ヒラギノ明朝 ProN W3" charset="0"/>
              <a:sym typeface="Palatin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Correctness of Fragmentation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Completeness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Decomposition of relation </a:t>
            </a:r>
            <a:r>
              <a:rPr lang="en-US" i="1" dirty="0"/>
              <a:t>R</a:t>
            </a:r>
            <a:r>
              <a:rPr lang="en-US" dirty="0"/>
              <a:t> into fragments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..., </a:t>
            </a:r>
            <a:r>
              <a:rPr lang="en-US" i="1" dirty="0" err="1"/>
              <a:t>R</a:t>
            </a:r>
            <a:r>
              <a:rPr lang="en-US" i="1" baseline="-25000" dirty="0" err="1"/>
              <a:t>n</a:t>
            </a:r>
            <a:r>
              <a:rPr lang="en-US" dirty="0"/>
              <a:t> is complete if and only if each data item in </a:t>
            </a:r>
            <a:r>
              <a:rPr lang="en-US" i="1" dirty="0"/>
              <a:t>R</a:t>
            </a:r>
            <a:r>
              <a:rPr lang="en-US" dirty="0"/>
              <a:t> can also be found in some </a:t>
            </a:r>
            <a:r>
              <a:rPr lang="en-US" i="1" dirty="0" err="1"/>
              <a:t>R</a:t>
            </a:r>
            <a:r>
              <a:rPr lang="en-US" i="1" baseline="-25000" dirty="0" err="1"/>
              <a:t>i</a:t>
            </a:r>
            <a:endParaRPr lang="en-US" i="1" dirty="0"/>
          </a:p>
          <a:p>
            <a:pPr>
              <a:lnSpc>
                <a:spcPct val="100000"/>
              </a:lnSpc>
            </a:pPr>
            <a:r>
              <a:rPr lang="en-US" dirty="0"/>
              <a:t>Reconstruction</a:t>
            </a:r>
          </a:p>
          <a:p>
            <a:pPr lvl="1"/>
            <a:r>
              <a:rPr lang="en-US" dirty="0"/>
              <a:t>If relation </a:t>
            </a:r>
            <a:r>
              <a:rPr lang="en-US" i="1" dirty="0"/>
              <a:t>R</a:t>
            </a:r>
            <a:r>
              <a:rPr lang="en-US" dirty="0"/>
              <a:t>  is decomposed into fragments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..., </a:t>
            </a:r>
            <a:r>
              <a:rPr lang="en-US" i="1" dirty="0" err="1"/>
              <a:t>R</a:t>
            </a:r>
            <a:r>
              <a:rPr lang="en-US" i="1" baseline="-25000" dirty="0" err="1"/>
              <a:t>n</a:t>
            </a:r>
            <a:r>
              <a:rPr lang="en-US" dirty="0"/>
              <a:t>, then there should exist some relational operator </a:t>
            </a:r>
            <a:r>
              <a:rPr lang="en-US" dirty="0" smtClean="0"/>
              <a:t>∇</a:t>
            </a:r>
            <a:r>
              <a:rPr lang="en-US" dirty="0" smtClean="0">
                <a:latin typeface="Symbol" charset="0"/>
              </a:rPr>
              <a:t> </a:t>
            </a:r>
            <a:r>
              <a:rPr lang="en-US" dirty="0" smtClean="0"/>
              <a:t>such </a:t>
            </a:r>
            <a:r>
              <a:rPr lang="en-US" dirty="0"/>
              <a:t>that</a:t>
            </a:r>
          </a:p>
          <a:p>
            <a:pPr lvl="4">
              <a:lnSpc>
                <a:spcPct val="100000"/>
              </a:lnSpc>
              <a:buFontTx/>
              <a:buNone/>
            </a:pPr>
            <a:r>
              <a:rPr lang="en-US" sz="2600" i="1" dirty="0"/>
              <a:t>R = </a:t>
            </a:r>
            <a:r>
              <a:rPr lang="en-US" sz="2800" dirty="0"/>
              <a:t>∇</a:t>
            </a:r>
            <a:r>
              <a:rPr lang="en-US" sz="2600" baseline="-25000" dirty="0" smtClean="0"/>
              <a:t>1</a:t>
            </a:r>
            <a:r>
              <a:rPr lang="en-US" sz="2600" baseline="-25000" dirty="0"/>
              <a:t>≤</a:t>
            </a:r>
            <a:r>
              <a:rPr lang="en-US" sz="2600" i="1" baseline="-25000" dirty="0"/>
              <a:t>i</a:t>
            </a:r>
            <a:r>
              <a:rPr lang="en-US" sz="2600" baseline="-25000" dirty="0"/>
              <a:t>≤</a:t>
            </a:r>
            <a:r>
              <a:rPr lang="en-US" sz="2600" i="1" baseline="-25000" dirty="0" smtClean="0"/>
              <a:t>n</a:t>
            </a:r>
            <a:r>
              <a:rPr lang="en-US" sz="2600" i="1" dirty="0" smtClean="0"/>
              <a:t>R</a:t>
            </a:r>
            <a:r>
              <a:rPr lang="en-US" sz="2600" i="1" baseline="-25000" dirty="0" smtClean="0"/>
              <a:t>i</a:t>
            </a:r>
            <a:endParaRPr lang="en-US" sz="1700" i="1" baseline="-25000" dirty="0"/>
          </a:p>
          <a:p>
            <a:pPr>
              <a:lnSpc>
                <a:spcPct val="100000"/>
              </a:lnSpc>
            </a:pPr>
            <a:r>
              <a:rPr lang="en-US" dirty="0" err="1" smtClean="0"/>
              <a:t>Disjointness</a:t>
            </a:r>
            <a:r>
              <a:rPr lang="en-US" dirty="0" smtClean="0"/>
              <a:t> </a:t>
            </a:r>
            <a:endParaRPr lang="en-US" dirty="0"/>
          </a:p>
          <a:p>
            <a:pPr lvl="1">
              <a:lnSpc>
                <a:spcPct val="100000"/>
              </a:lnSpc>
            </a:pPr>
            <a:r>
              <a:rPr lang="en-US" dirty="0"/>
              <a:t>If relation </a:t>
            </a:r>
            <a:r>
              <a:rPr lang="en-US" i="1" dirty="0"/>
              <a:t>R</a:t>
            </a:r>
            <a:r>
              <a:rPr lang="en-US" dirty="0"/>
              <a:t> is decomposed into fragments 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 ..., </a:t>
            </a:r>
            <a:r>
              <a:rPr lang="en-US" i="1" dirty="0" err="1"/>
              <a:t>R</a:t>
            </a:r>
            <a:r>
              <a:rPr lang="en-US" i="1" baseline="-25000" dirty="0" err="1"/>
              <a:t>n</a:t>
            </a:r>
            <a:r>
              <a:rPr lang="en-US" dirty="0"/>
              <a:t>, and data item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dirty="0"/>
              <a:t> is in </a:t>
            </a:r>
            <a:r>
              <a:rPr lang="en-US" i="1" dirty="0" err="1"/>
              <a:t>R</a:t>
            </a:r>
            <a:r>
              <a:rPr lang="en-US" i="1" baseline="-25000" dirty="0" err="1"/>
              <a:t>j</a:t>
            </a:r>
            <a:r>
              <a:rPr lang="en-US" i="1" dirty="0"/>
              <a:t>, </a:t>
            </a:r>
            <a:r>
              <a:rPr lang="en-US" dirty="0"/>
              <a:t>then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dirty="0"/>
              <a:t> should not be in any other fragment </a:t>
            </a:r>
            <a:r>
              <a:rPr lang="en-US" i="1" dirty="0" err="1"/>
              <a:t>R</a:t>
            </a:r>
            <a:r>
              <a:rPr lang="en-US" i="1" baseline="-25000" dirty="0" err="1"/>
              <a:t>k</a:t>
            </a:r>
            <a:r>
              <a:rPr lang="en-US" dirty="0"/>
              <a:t> (</a:t>
            </a:r>
            <a:r>
              <a:rPr lang="en-US" i="1" dirty="0"/>
              <a:t>k</a:t>
            </a:r>
            <a:r>
              <a:rPr lang="en-US" dirty="0"/>
              <a:t> ≠</a:t>
            </a:r>
            <a:r>
              <a:rPr lang="en-US" i="1" dirty="0"/>
              <a:t> j </a:t>
            </a:r>
            <a:r>
              <a:rPr lang="en-US" dirty="0"/>
              <a:t>)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Alternatives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342900" y="2286000"/>
            <a:ext cx="12293600" cy="6769100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Non-replicated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partitioned : each fragment resides at only one site</a:t>
            </a:r>
          </a:p>
          <a:p>
            <a:pPr>
              <a:lnSpc>
                <a:spcPct val="80000"/>
              </a:lnSpc>
            </a:pPr>
            <a:r>
              <a:rPr lang="en-US" dirty="0"/>
              <a:t>Replicated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fully replicated : each fragment at each site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partially replicated : each fragment at some of the </a:t>
            </a:r>
            <a:r>
              <a:rPr lang="en-US" dirty="0" smtClean="0"/>
              <a:t>sites</a:t>
            </a:r>
          </a:p>
          <a:p>
            <a:pPr>
              <a:lnSpc>
                <a:spcPct val="80000"/>
              </a:lnSpc>
            </a:pPr>
            <a:r>
              <a:rPr lang="en-US" b="1" dirty="0" smtClean="0"/>
              <a:t>read-only queries </a:t>
            </a:r>
            <a:r>
              <a:rPr lang="en-US" b="1" dirty="0" smtClean="0">
                <a:sym typeface="Wingdings" pitchFamily="2" charset="2"/>
              </a:rPr>
              <a:t>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Reliability and efficiency</a:t>
            </a:r>
          </a:p>
          <a:p>
            <a:pPr lvl="1"/>
            <a:r>
              <a:rPr lang="en-US" dirty="0" smtClean="0"/>
              <a:t>access the same data items can be executed in </a:t>
            </a:r>
            <a:r>
              <a:rPr lang="en-US" b="1" dirty="0" smtClean="0"/>
              <a:t>parallel </a:t>
            </a:r>
            <a:r>
              <a:rPr lang="en-US" dirty="0" smtClean="0"/>
              <a:t>since copies exist on multiple sites. </a:t>
            </a:r>
          </a:p>
          <a:p>
            <a:r>
              <a:rPr lang="en-US" b="1" dirty="0" smtClean="0"/>
              <a:t>Update queries</a:t>
            </a:r>
            <a:r>
              <a:rPr lang="en-US" dirty="0" smtClean="0"/>
              <a:t>  </a:t>
            </a:r>
            <a:r>
              <a:rPr lang="en-US" dirty="0" smtClean="0">
                <a:sym typeface="Wingdings" pitchFamily="2" charset="2"/>
              </a:rPr>
              <a:t> </a:t>
            </a:r>
          </a:p>
          <a:p>
            <a:pPr lvl="1"/>
            <a:r>
              <a:rPr lang="en-US" dirty="0" smtClean="0"/>
              <a:t>cause trouble since the system has to ensure that </a:t>
            </a:r>
            <a:r>
              <a:rPr lang="en-US" b="1" dirty="0" smtClean="0"/>
              <a:t>all </a:t>
            </a:r>
            <a:r>
              <a:rPr lang="en-US" dirty="0" smtClean="0"/>
              <a:t>the copies of the data are updated properly.  </a:t>
            </a:r>
          </a:p>
          <a:p>
            <a:pPr lvl="1"/>
            <a:r>
              <a:rPr lang="en-US" dirty="0" smtClean="0"/>
              <a:t>The decision regarding replication is a trade-off that depends on the ratio of the read-only queries to the update queries. This decision affects almost all of the distributed DBMS algorithms and control functions.</a:t>
            </a:r>
          </a:p>
          <a:p>
            <a:pPr>
              <a:lnSpc>
                <a:spcPct val="80000"/>
              </a:lnSpc>
              <a:buFont typeface="Monotype Sorts" charset="0"/>
              <a:buNone/>
            </a:pPr>
            <a:endParaRPr lang="en-US" dirty="0" smtClean="0"/>
          </a:p>
          <a:p>
            <a:pPr>
              <a:lnSpc>
                <a:spcPct val="80000"/>
              </a:lnSpc>
              <a:buFont typeface="Monotype Sorts" charset="0"/>
              <a:buNone/>
            </a:pPr>
            <a:endParaRPr lang="en-US" dirty="0"/>
          </a:p>
          <a:p>
            <a:pPr lvl="3">
              <a:lnSpc>
                <a:spcPct val="80000"/>
              </a:lnSpc>
              <a:buFont typeface="Monotype Sorts" charset="0"/>
              <a:buNone/>
            </a:pPr>
            <a:r>
              <a:rPr lang="en-US" dirty="0"/>
              <a:t>	</a:t>
            </a:r>
          </a:p>
          <a:p>
            <a:pPr>
              <a:lnSpc>
                <a:spcPct val="80000"/>
              </a:lnSpc>
            </a:pPr>
            <a:endParaRPr lang="en-US" sz="20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9473636" y="2382888"/>
            <a:ext cx="0" cy="680945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3919502" y="2382888"/>
            <a:ext cx="0" cy="680945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6520462" y="2382888"/>
            <a:ext cx="0" cy="680945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1210169" y="3033128"/>
            <a:ext cx="10494151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>
            <a:off x="1183076" y="4333608"/>
            <a:ext cx="1052124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6" name="Line 8"/>
          <p:cNvSpPr>
            <a:spLocks noChangeShapeType="1"/>
          </p:cNvSpPr>
          <p:nvPr/>
        </p:nvSpPr>
        <p:spPr bwMode="auto">
          <a:xfrm>
            <a:off x="1183076" y="5634088"/>
            <a:ext cx="1052124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7" name="Line 9"/>
          <p:cNvSpPr>
            <a:spLocks noChangeShapeType="1"/>
          </p:cNvSpPr>
          <p:nvPr/>
        </p:nvSpPr>
        <p:spPr bwMode="auto">
          <a:xfrm>
            <a:off x="1155982" y="6934568"/>
            <a:ext cx="1022321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8" name="Line 10"/>
          <p:cNvSpPr>
            <a:spLocks noChangeShapeType="1"/>
          </p:cNvSpPr>
          <p:nvPr/>
        </p:nvSpPr>
        <p:spPr bwMode="auto">
          <a:xfrm>
            <a:off x="1101796" y="8235048"/>
            <a:ext cx="10602524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4105984" y="2500294"/>
            <a:ext cx="2266379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Full-replication</a:t>
            </a:r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6746087" y="2500294"/>
            <a:ext cx="2610299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Partial-replication</a:t>
            </a: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9631390" y="2500294"/>
            <a:ext cx="182035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Partitioning</a:t>
            </a: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1237844" y="3231813"/>
            <a:ext cx="2209203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QUERY</a:t>
            </a:r>
          </a:p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 PROCESSING</a:t>
            </a:r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4800880" y="3405663"/>
            <a:ext cx="876588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Easy</a:t>
            </a:r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8284608" y="3276969"/>
            <a:ext cx="228323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Same Difficulty</a:t>
            </a:r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8284608" y="4586480"/>
            <a:ext cx="228323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Same Difficulty</a:t>
            </a:r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1194632" y="4586480"/>
            <a:ext cx="2575590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DIRECTORY</a:t>
            </a:r>
          </a:p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MANAGEMENT </a:t>
            </a:r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4263969" y="4586480"/>
            <a:ext cx="1952667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ctr"/>
            <a:r>
              <a:rPr lang="en-US" sz="2300" dirty="0">
                <a:solidFill>
                  <a:srgbClr val="000000"/>
                </a:solidFill>
                <a:latin typeface="Book Antiqua"/>
              </a:rPr>
              <a:t>Easy or</a:t>
            </a:r>
          </a:p>
          <a:p>
            <a:pPr algn="ctr"/>
            <a:r>
              <a:rPr lang="en-US" sz="2300" dirty="0">
                <a:solidFill>
                  <a:srgbClr val="000000"/>
                </a:solidFill>
                <a:latin typeface="Book Antiqua"/>
              </a:rPr>
              <a:t>Non-</a:t>
            </a:r>
            <a:r>
              <a:rPr lang="en-US" sz="2300" dirty="0" err="1">
                <a:solidFill>
                  <a:srgbClr val="000000"/>
                </a:solidFill>
                <a:latin typeface="Book Antiqua"/>
              </a:rPr>
              <a:t>existant</a:t>
            </a:r>
            <a:endParaRPr lang="en-US" sz="2300" dirty="0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1151131" y="5859866"/>
            <a:ext cx="2696460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CONCURRENCY</a:t>
            </a:r>
          </a:p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CONTROL</a:t>
            </a:r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10102142" y="6033717"/>
            <a:ext cx="876588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Easy</a:t>
            </a:r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7357212" y="6033717"/>
            <a:ext cx="1390307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Difficult</a:t>
            </a:r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4461523" y="6033717"/>
            <a:ext cx="1559818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Moderate</a:t>
            </a:r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1249210" y="7377094"/>
            <a:ext cx="208261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RELIABILITY</a:t>
            </a: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4476695" y="7377094"/>
            <a:ext cx="1529474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Very high</a:t>
            </a:r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7581451" y="7377094"/>
            <a:ext cx="939569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High</a:t>
            </a:r>
          </a:p>
        </p:txBody>
      </p:sp>
      <p:sp>
        <p:nvSpPr>
          <p:cNvPr id="27675" name="Rectangle 27"/>
          <p:cNvSpPr>
            <a:spLocks noChangeArrowheads="1"/>
          </p:cNvSpPr>
          <p:nvPr/>
        </p:nvSpPr>
        <p:spPr bwMode="auto">
          <a:xfrm>
            <a:off x="10119163" y="7377094"/>
            <a:ext cx="847064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Low</a:t>
            </a: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1211537" y="8607583"/>
            <a:ext cx="1523525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REALITY</a:t>
            </a:r>
          </a:p>
        </p:txBody>
      </p: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4352068" y="8433733"/>
            <a:ext cx="1778728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ctr"/>
            <a:r>
              <a:rPr lang="en-US" sz="2300" dirty="0">
                <a:solidFill>
                  <a:srgbClr val="000000"/>
                </a:solidFill>
                <a:latin typeface="Book Antiqua"/>
              </a:rPr>
              <a:t>Possible</a:t>
            </a:r>
          </a:p>
          <a:p>
            <a:pPr algn="ctr"/>
            <a:r>
              <a:rPr lang="en-US" sz="2300" dirty="0">
                <a:solidFill>
                  <a:srgbClr val="000000"/>
                </a:solidFill>
                <a:latin typeface="Book Antiqua"/>
              </a:rPr>
              <a:t>application</a:t>
            </a:r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7372453" y="8607583"/>
            <a:ext cx="135531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Realistic</a:t>
            </a:r>
          </a:p>
        </p:txBody>
      </p:sp>
      <p:sp>
        <p:nvSpPr>
          <p:cNvPr id="27679" name="Rectangle 31"/>
          <p:cNvSpPr>
            <a:spLocks noChangeArrowheads="1"/>
          </p:cNvSpPr>
          <p:nvPr/>
        </p:nvSpPr>
        <p:spPr bwMode="auto">
          <a:xfrm>
            <a:off x="9653330" y="8433733"/>
            <a:ext cx="1778728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pPr algn="ctr"/>
            <a:r>
              <a:rPr lang="en-US" sz="2300" dirty="0">
                <a:solidFill>
                  <a:srgbClr val="000000"/>
                </a:solidFill>
                <a:latin typeface="Book Antiqua"/>
              </a:rPr>
              <a:t>Possible</a:t>
            </a:r>
          </a:p>
          <a:p>
            <a:pPr algn="ctr"/>
            <a:r>
              <a:rPr lang="en-US" sz="2300" dirty="0">
                <a:solidFill>
                  <a:srgbClr val="000000"/>
                </a:solidFill>
                <a:latin typeface="Book Antiqua"/>
              </a:rPr>
              <a:t>application</a:t>
            </a:r>
          </a:p>
        </p:txBody>
      </p:sp>
      <p:sp>
        <p:nvSpPr>
          <p:cNvPr id="27680" name="Arc 32"/>
          <p:cNvSpPr>
            <a:spLocks/>
          </p:cNvSpPr>
          <p:nvPr/>
        </p:nvSpPr>
        <p:spPr bwMode="auto">
          <a:xfrm>
            <a:off x="10902810" y="3597573"/>
            <a:ext cx="171591" cy="137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7 w 21600"/>
              <a:gd name="T1" fmla="*/ 17254 h 17254"/>
              <a:gd name="T2" fmla="*/ 1851 w 21600"/>
              <a:gd name="T3" fmla="*/ 0 h 17254"/>
              <a:gd name="T4" fmla="*/ 21600 w 21600"/>
              <a:gd name="T5" fmla="*/ 8746 h 17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4" fill="none" extrusionOk="0">
                <a:moveTo>
                  <a:pt x="1746" y="17254"/>
                </a:moveTo>
                <a:cubicBezTo>
                  <a:pt x="594" y="14565"/>
                  <a:pt x="0" y="11671"/>
                  <a:pt x="0" y="8746"/>
                </a:cubicBezTo>
                <a:cubicBezTo>
                  <a:pt x="0" y="5733"/>
                  <a:pt x="630" y="2754"/>
                  <a:pt x="1850" y="-1"/>
                </a:cubicBezTo>
              </a:path>
              <a:path w="21600" h="17254" stroke="0" extrusionOk="0">
                <a:moveTo>
                  <a:pt x="1746" y="17254"/>
                </a:moveTo>
                <a:cubicBezTo>
                  <a:pt x="594" y="14565"/>
                  <a:pt x="0" y="11671"/>
                  <a:pt x="0" y="8746"/>
                </a:cubicBezTo>
                <a:cubicBezTo>
                  <a:pt x="0" y="5733"/>
                  <a:pt x="630" y="2754"/>
                  <a:pt x="1850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81" name="Arc 33"/>
          <p:cNvSpPr>
            <a:spLocks/>
          </p:cNvSpPr>
          <p:nvPr/>
        </p:nvSpPr>
        <p:spPr bwMode="auto">
          <a:xfrm>
            <a:off x="7495822" y="3597573"/>
            <a:ext cx="171591" cy="137725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2 w 21600"/>
              <a:gd name="T1" fmla="*/ 0 h 17464"/>
              <a:gd name="T2" fmla="*/ 19808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-1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4"/>
                </a:cubicBezTo>
              </a:path>
              <a:path w="21600" h="17464" stroke="0" extrusionOk="0">
                <a:moveTo>
                  <a:pt x="19702" y="-1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4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82" name="Line 34"/>
          <p:cNvSpPr>
            <a:spLocks noChangeShapeType="1"/>
          </p:cNvSpPr>
          <p:nvPr/>
        </p:nvSpPr>
        <p:spPr bwMode="auto">
          <a:xfrm>
            <a:off x="7640320" y="3683368"/>
            <a:ext cx="32692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83" name="Arc 35"/>
          <p:cNvSpPr>
            <a:spLocks/>
          </p:cNvSpPr>
          <p:nvPr/>
        </p:nvSpPr>
        <p:spPr bwMode="auto">
          <a:xfrm>
            <a:off x="10902810" y="4898053"/>
            <a:ext cx="171591" cy="137725"/>
          </a:xfrm>
          <a:custGeom>
            <a:avLst/>
            <a:gdLst>
              <a:gd name="G0" fmla="+- 21600 0 0"/>
              <a:gd name="G1" fmla="+- 8746 0 0"/>
              <a:gd name="G2" fmla="+- 21600 0 0"/>
              <a:gd name="T0" fmla="*/ 1747 w 21600"/>
              <a:gd name="T1" fmla="*/ 17254 h 17254"/>
              <a:gd name="T2" fmla="*/ 1851 w 21600"/>
              <a:gd name="T3" fmla="*/ 0 h 17254"/>
              <a:gd name="T4" fmla="*/ 21600 w 21600"/>
              <a:gd name="T5" fmla="*/ 8746 h 17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254" fill="none" extrusionOk="0">
                <a:moveTo>
                  <a:pt x="1746" y="17254"/>
                </a:moveTo>
                <a:cubicBezTo>
                  <a:pt x="594" y="14565"/>
                  <a:pt x="0" y="11671"/>
                  <a:pt x="0" y="8746"/>
                </a:cubicBezTo>
                <a:cubicBezTo>
                  <a:pt x="0" y="5733"/>
                  <a:pt x="630" y="2754"/>
                  <a:pt x="1850" y="-1"/>
                </a:cubicBezTo>
              </a:path>
              <a:path w="21600" h="17254" stroke="0" extrusionOk="0">
                <a:moveTo>
                  <a:pt x="1746" y="17254"/>
                </a:moveTo>
                <a:cubicBezTo>
                  <a:pt x="594" y="14565"/>
                  <a:pt x="0" y="11671"/>
                  <a:pt x="0" y="8746"/>
                </a:cubicBezTo>
                <a:cubicBezTo>
                  <a:pt x="0" y="5733"/>
                  <a:pt x="630" y="2754"/>
                  <a:pt x="1850" y="-1"/>
                </a:cubicBezTo>
                <a:lnTo>
                  <a:pt x="21600" y="87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84" name="Arc 36"/>
          <p:cNvSpPr>
            <a:spLocks/>
          </p:cNvSpPr>
          <p:nvPr/>
        </p:nvSpPr>
        <p:spPr bwMode="auto">
          <a:xfrm>
            <a:off x="7495822" y="4898053"/>
            <a:ext cx="171591" cy="137725"/>
          </a:xfrm>
          <a:custGeom>
            <a:avLst/>
            <a:gdLst>
              <a:gd name="G0" fmla="+- 0 0 0"/>
              <a:gd name="G1" fmla="+- 8852 0 0"/>
              <a:gd name="G2" fmla="+- 21600 0 0"/>
              <a:gd name="T0" fmla="*/ 19702 w 21600"/>
              <a:gd name="T1" fmla="*/ 0 h 17464"/>
              <a:gd name="T2" fmla="*/ 19808 w 21600"/>
              <a:gd name="T3" fmla="*/ 17464 h 17464"/>
              <a:gd name="T4" fmla="*/ 0 w 21600"/>
              <a:gd name="T5" fmla="*/ 8852 h 174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7464" fill="none" extrusionOk="0">
                <a:moveTo>
                  <a:pt x="19702" y="-1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4"/>
                </a:cubicBezTo>
              </a:path>
              <a:path w="21600" h="17464" stroke="0" extrusionOk="0">
                <a:moveTo>
                  <a:pt x="19702" y="-1"/>
                </a:moveTo>
                <a:cubicBezTo>
                  <a:pt x="20953" y="2783"/>
                  <a:pt x="21600" y="5800"/>
                  <a:pt x="21600" y="8852"/>
                </a:cubicBezTo>
                <a:cubicBezTo>
                  <a:pt x="21600" y="11815"/>
                  <a:pt x="20990" y="14746"/>
                  <a:pt x="19808" y="17464"/>
                </a:cubicBezTo>
                <a:lnTo>
                  <a:pt x="0" y="885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0" cap="rnd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27685" name="Line 37"/>
          <p:cNvSpPr>
            <a:spLocks noChangeShapeType="1"/>
          </p:cNvSpPr>
          <p:nvPr/>
        </p:nvSpPr>
        <p:spPr bwMode="auto">
          <a:xfrm>
            <a:off x="7640320" y="4983848"/>
            <a:ext cx="32692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of Replication Alternatives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Fragmentation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/>
              <a:t>Horizontal Fragmentation (HF)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 dirty="0"/>
              <a:t>Primary Horizontal Fragmentation (PHF)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 dirty="0" smtClean="0"/>
              <a:t>Derived Horizontal Fragmentation (DHF) =&gt;will not be detailed</a:t>
            </a:r>
          </a:p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 smtClean="0"/>
              <a:t>Vertical Fragmentation (VF) </a:t>
            </a:r>
          </a:p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 smtClean="0"/>
              <a:t>Hybrid </a:t>
            </a:r>
            <a:r>
              <a:rPr lang="en-US" dirty="0"/>
              <a:t>Fragmentation (HF)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sz="4800" dirty="0">
                <a:latin typeface="Book Antiqua"/>
                <a:cs typeface="Book Antiqua"/>
              </a:rPr>
              <a:t>PHF – Information Requirements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419868" y="2384425"/>
            <a:ext cx="10186988" cy="6664325"/>
          </a:xfrm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Database Information</a:t>
            </a:r>
          </a:p>
          <a:p>
            <a:pPr marL="1056623" lvl="1">
              <a:lnSpc>
                <a:spcPct val="80000"/>
              </a:lnSpc>
            </a:pPr>
            <a:r>
              <a:rPr lang="en-US" dirty="0"/>
              <a:t>relationship</a:t>
            </a:r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  <a:buNone/>
            </a:pPr>
            <a:endParaRPr lang="en-US" dirty="0"/>
          </a:p>
          <a:p>
            <a:pPr marL="1056623" lvl="1">
              <a:lnSpc>
                <a:spcPct val="80000"/>
              </a:lnSpc>
            </a:pPr>
            <a:r>
              <a:rPr lang="en-US" dirty="0"/>
              <a:t>cardinality of each relation: </a:t>
            </a:r>
            <a:r>
              <a:rPr lang="en-US" i="1" dirty="0"/>
              <a:t>card</a:t>
            </a:r>
            <a:r>
              <a:rPr lang="en-US" dirty="0"/>
              <a:t>(</a:t>
            </a:r>
            <a:r>
              <a:rPr lang="en-US" i="1" dirty="0"/>
              <a:t>R</a:t>
            </a:r>
            <a:r>
              <a:rPr lang="en-US" dirty="0"/>
              <a:t>)</a:t>
            </a:r>
          </a:p>
        </p:txBody>
      </p:sp>
      <p:sp>
        <p:nvSpPr>
          <p:cNvPr id="33796" name="Rectangle 4"/>
          <p:cNvSpPr>
            <a:spLocks noChangeArrowheads="1"/>
          </p:cNvSpPr>
          <p:nvPr/>
        </p:nvSpPr>
        <p:spPr bwMode="auto">
          <a:xfrm>
            <a:off x="3278293" y="3910471"/>
            <a:ext cx="2095218" cy="523804"/>
          </a:xfrm>
          <a:prstGeom prst="rect">
            <a:avLst/>
          </a:prstGeom>
          <a:noFill/>
          <a:ln w="19050" cmpd="sng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2469952" y="5536071"/>
            <a:ext cx="3228680" cy="523804"/>
          </a:xfrm>
          <a:prstGeom prst="rect">
            <a:avLst/>
          </a:prstGeom>
          <a:noFill/>
          <a:ln w="19050" cmpd="sng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4416212" y="7161671"/>
            <a:ext cx="3382331" cy="523804"/>
          </a:xfrm>
          <a:prstGeom prst="rect">
            <a:avLst/>
          </a:prstGeom>
          <a:noFill/>
          <a:ln w="19050" cmpd="sng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6186310" y="5536071"/>
            <a:ext cx="4420546" cy="523804"/>
          </a:xfrm>
          <a:prstGeom prst="rect">
            <a:avLst/>
          </a:prstGeom>
          <a:noFill/>
          <a:ln w="19050" cmpd="sng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3262040" y="3902554"/>
            <a:ext cx="1859642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u="sng" dirty="0">
                <a:solidFill>
                  <a:srgbClr val="000000"/>
                </a:solidFill>
                <a:latin typeface="Book Antiqua"/>
                <a:cs typeface="Book Antiqua"/>
              </a:rPr>
              <a:t>TITLE</a:t>
            </a:r>
            <a:r>
              <a:rPr lang="en-US" sz="2400" u="sng" dirty="0" smtClean="0">
                <a:solidFill>
                  <a:srgbClr val="000000"/>
                </a:solidFill>
                <a:latin typeface="Book Antiqua"/>
                <a:cs typeface="Book Antiqua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SAL</a:t>
            </a:r>
            <a:endParaRPr lang="en-US" sz="2400" u="sng" dirty="0">
              <a:solidFill>
                <a:srgbClr val="000000"/>
              </a:solidFill>
              <a:latin typeface="Book Antiqua"/>
              <a:cs typeface="Book Antiqua"/>
            </a:endParaRPr>
          </a:p>
        </p:txBody>
      </p:sp>
      <p:sp>
        <p:nvSpPr>
          <p:cNvPr id="33802" name="Rectangle 10"/>
          <p:cNvSpPr>
            <a:spLocks noChangeArrowheads="1"/>
          </p:cNvSpPr>
          <p:nvPr/>
        </p:nvSpPr>
        <p:spPr bwMode="auto">
          <a:xfrm>
            <a:off x="3123516" y="3436640"/>
            <a:ext cx="1124615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SKILL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2469952" y="5524872"/>
            <a:ext cx="3272589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u="sng" dirty="0">
                <a:solidFill>
                  <a:srgbClr val="000000"/>
                </a:solidFill>
                <a:latin typeface="Book Antiqua"/>
                <a:cs typeface="Book Antiqua"/>
              </a:rPr>
              <a:t>ENO</a:t>
            </a:r>
            <a:r>
              <a:rPr lang="en-US" sz="2400" u="sng" dirty="0" smtClean="0">
                <a:solidFill>
                  <a:srgbClr val="000000"/>
                </a:solidFill>
                <a:latin typeface="Book Antiqua"/>
                <a:cs typeface="Book Antiqua"/>
              </a:rPr>
              <a:t>, </a:t>
            </a:r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ENAME, </a:t>
            </a:r>
            <a:r>
              <a:rPr lang="en-US" sz="2400" dirty="0" smtClean="0">
                <a:solidFill>
                  <a:srgbClr val="000000"/>
                </a:solidFill>
                <a:latin typeface="Book Antiqua"/>
                <a:cs typeface="Book Antiqua"/>
              </a:rPr>
              <a:t>TITLE</a:t>
            </a:r>
            <a:endParaRPr lang="en-US" sz="2400" dirty="0">
              <a:solidFill>
                <a:srgbClr val="000000"/>
              </a:solidFill>
              <a:latin typeface="Book Antiqua"/>
              <a:cs typeface="Book Antiqua"/>
            </a:endParaRPr>
          </a:p>
        </p:txBody>
      </p:sp>
      <p:sp>
        <p:nvSpPr>
          <p:cNvPr id="33806" name="Rectangle 14"/>
          <p:cNvSpPr>
            <a:spLocks noChangeArrowheads="1"/>
          </p:cNvSpPr>
          <p:nvPr/>
        </p:nvSpPr>
        <p:spPr bwMode="auto">
          <a:xfrm>
            <a:off x="6177280" y="5524872"/>
            <a:ext cx="442957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28691" tIns="63217" rIns="128691" bIns="63217">
            <a:spAutoFit/>
          </a:bodyPr>
          <a:lstStyle/>
          <a:p>
            <a:r>
              <a:rPr lang="en-US" sz="2400" u="sng" dirty="0">
                <a:solidFill>
                  <a:srgbClr val="000000"/>
                </a:solidFill>
                <a:latin typeface="Book Antiqua"/>
                <a:cs typeface="Book Antiqua"/>
              </a:rPr>
              <a:t>PNO, </a:t>
            </a:r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PNAME, BUDGET, LOC</a:t>
            </a:r>
          </a:p>
        </p:txBody>
      </p:sp>
      <p:sp>
        <p:nvSpPr>
          <p:cNvPr id="33807" name="Rectangle 15"/>
          <p:cNvSpPr>
            <a:spLocks noChangeArrowheads="1"/>
          </p:cNvSpPr>
          <p:nvPr/>
        </p:nvSpPr>
        <p:spPr bwMode="auto">
          <a:xfrm>
            <a:off x="4391827" y="7181056"/>
            <a:ext cx="3478725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u="sng" dirty="0">
                <a:solidFill>
                  <a:srgbClr val="000000"/>
                </a:solidFill>
                <a:latin typeface="Book Antiqua"/>
                <a:cs typeface="Book Antiqua"/>
              </a:rPr>
              <a:t>ENO, PNO,</a:t>
            </a:r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 RESP, DUR</a:t>
            </a:r>
          </a:p>
        </p:txBody>
      </p:sp>
      <p:sp>
        <p:nvSpPr>
          <p:cNvPr id="33809" name="Rectangle 17"/>
          <p:cNvSpPr>
            <a:spLocks noChangeArrowheads="1"/>
          </p:cNvSpPr>
          <p:nvPr/>
        </p:nvSpPr>
        <p:spPr bwMode="auto">
          <a:xfrm>
            <a:off x="2397944" y="5092824"/>
            <a:ext cx="924891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EMP</a:t>
            </a:r>
          </a:p>
        </p:txBody>
      </p:sp>
      <p:sp>
        <p:nvSpPr>
          <p:cNvPr id="33810" name="Rectangle 18"/>
          <p:cNvSpPr>
            <a:spLocks noChangeArrowheads="1"/>
          </p:cNvSpPr>
          <p:nvPr/>
        </p:nvSpPr>
        <p:spPr bwMode="auto">
          <a:xfrm>
            <a:off x="6125280" y="5020816"/>
            <a:ext cx="995824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PROJ</a:t>
            </a:r>
          </a:p>
        </p:txBody>
      </p:sp>
      <p:sp>
        <p:nvSpPr>
          <p:cNvPr id="33811" name="Rectangle 19"/>
          <p:cNvSpPr>
            <a:spLocks noChangeArrowheads="1"/>
          </p:cNvSpPr>
          <p:nvPr/>
        </p:nvSpPr>
        <p:spPr bwMode="auto">
          <a:xfrm>
            <a:off x="4317171" y="6719149"/>
            <a:ext cx="895737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  <a:cs typeface="Book Antiqua"/>
              </a:rPr>
              <a:t>ASG</a:t>
            </a:r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>
            <a:off x="4270152" y="4444752"/>
            <a:ext cx="19626" cy="1080120"/>
          </a:xfrm>
          <a:prstGeom prst="line">
            <a:avLst/>
          </a:prstGeom>
          <a:noFill/>
          <a:ln w="19050" cmpd="sng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816" name="Line 24"/>
          <p:cNvSpPr>
            <a:spLocks noChangeShapeType="1"/>
          </p:cNvSpPr>
          <p:nvPr/>
        </p:nvSpPr>
        <p:spPr bwMode="auto">
          <a:xfrm>
            <a:off x="4270152" y="6067070"/>
            <a:ext cx="1103360" cy="1080120"/>
          </a:xfrm>
          <a:prstGeom prst="line">
            <a:avLst/>
          </a:prstGeom>
          <a:noFill/>
          <a:ln w="19050" cmpd="sng">
            <a:solidFill>
              <a:schemeClr val="tx2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819" name="Line 27"/>
          <p:cNvSpPr>
            <a:spLocks noChangeShapeType="1"/>
          </p:cNvSpPr>
          <p:nvPr/>
        </p:nvSpPr>
        <p:spPr bwMode="auto">
          <a:xfrm flipV="1">
            <a:off x="6403058" y="6045861"/>
            <a:ext cx="1447200" cy="1108800"/>
          </a:xfrm>
          <a:prstGeom prst="line">
            <a:avLst/>
          </a:prstGeom>
          <a:noFill/>
          <a:ln w="19050" cmpd="sng">
            <a:solidFill>
              <a:schemeClr val="tx2"/>
            </a:solidFill>
            <a:round/>
            <a:headEnd type="triangl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  <a:cs typeface="Book Antiqua"/>
            </a:endParaRPr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4213311" y="4748108"/>
            <a:ext cx="560897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i="1" dirty="0" smtClean="0">
                <a:solidFill>
                  <a:srgbClr val="000000"/>
                </a:solidFill>
                <a:latin typeface="Book Antiqua"/>
                <a:cs typeface="Book Antiqua"/>
              </a:rPr>
              <a:t>L</a:t>
            </a:r>
            <a:r>
              <a:rPr lang="en-US" sz="2400" baseline="-25000" dirty="0" smtClean="0">
                <a:solidFill>
                  <a:srgbClr val="000000"/>
                </a:solidFill>
                <a:latin typeface="Book Antiqua"/>
                <a:cs typeface="Book Antiqua"/>
              </a:rPr>
              <a:t>1</a:t>
            </a:r>
            <a:endParaRPr lang="en-US" sz="2400" baseline="-25000" dirty="0">
              <a:solidFill>
                <a:srgbClr val="000000"/>
              </a:solidFill>
              <a:latin typeface="Book Antiqua"/>
              <a:cs typeface="Book Antiqu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PHF - Information Requirements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Application Information</a:t>
            </a:r>
          </a:p>
          <a:p>
            <a:pPr lvl="1"/>
            <a:r>
              <a:rPr lang="en-US" b="1" dirty="0">
                <a:solidFill>
                  <a:schemeClr val="tx2"/>
                </a:solidFill>
              </a:rPr>
              <a:t>simple predicates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: Given </a:t>
            </a:r>
            <a:r>
              <a:rPr lang="en-US" i="1" dirty="0"/>
              <a:t>R</a:t>
            </a:r>
            <a:r>
              <a:rPr lang="en-US" dirty="0"/>
              <a:t>[</a:t>
            </a:r>
            <a:r>
              <a:rPr lang="en-US" i="1" dirty="0"/>
              <a:t>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i="1" dirty="0"/>
              <a:t>A</a:t>
            </a:r>
            <a:r>
              <a:rPr lang="en-US" i="1" baseline="-25000" dirty="0"/>
              <a:t>n</a:t>
            </a:r>
            <a:r>
              <a:rPr lang="en-US" dirty="0"/>
              <a:t>], a simple predicate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dirty="0"/>
              <a:t>  is</a:t>
            </a:r>
          </a:p>
          <a:p>
            <a:pPr lvl="2">
              <a:buFont typeface="Monotype Sorts" charset="0"/>
              <a:buNone/>
            </a:pPr>
            <a:r>
              <a:rPr lang="en-US" dirty="0"/>
              <a:t>		</a:t>
            </a:r>
            <a:r>
              <a:rPr lang="en-US" sz="2800" i="1" dirty="0" err="1"/>
              <a:t>p</a:t>
            </a:r>
            <a:r>
              <a:rPr lang="en-US" sz="2800" i="1" baseline="-25000" dirty="0" err="1"/>
              <a:t>j</a:t>
            </a:r>
            <a:r>
              <a:rPr lang="en-US" sz="2800" dirty="0"/>
              <a:t> : </a:t>
            </a:r>
            <a:r>
              <a:rPr lang="en-US" sz="2800" i="1" dirty="0"/>
              <a:t>A</a:t>
            </a:r>
            <a:r>
              <a:rPr lang="en-US" sz="2800" i="1" baseline="-25000" dirty="0"/>
              <a:t>i</a:t>
            </a:r>
            <a:r>
              <a:rPr lang="en-US" sz="2800" i="1" dirty="0"/>
              <a:t> </a:t>
            </a:r>
            <a:r>
              <a:rPr lang="en-US" sz="2800" dirty="0" err="1" smtClean="0">
                <a:cs typeface="Book Antiqua"/>
              </a:rPr>
              <a:t>θ</a:t>
            </a:r>
            <a:r>
              <a:rPr lang="en-US" sz="2800" i="1" dirty="0" err="1" smtClean="0"/>
              <a:t>Value</a:t>
            </a:r>
            <a:endParaRPr lang="en-US" i="1" dirty="0">
              <a:cs typeface="Book Antiqua"/>
            </a:endParaRPr>
          </a:p>
          <a:p>
            <a:pPr lvl="1">
              <a:buFont typeface="Monotype Sorts" charset="0"/>
              <a:buNone/>
            </a:pPr>
            <a:r>
              <a:rPr lang="en-US" dirty="0"/>
              <a:t>	where </a:t>
            </a:r>
            <a:r>
              <a:rPr lang="en-US" sz="2400" dirty="0" err="1" smtClean="0">
                <a:cs typeface="Book Antiqua"/>
              </a:rPr>
              <a:t>θ</a:t>
            </a:r>
            <a:r>
              <a:rPr lang="en-US" sz="2400" i="1" dirty="0" smtClean="0">
                <a:cs typeface="Book Antiqua"/>
              </a:rPr>
              <a:t> </a:t>
            </a:r>
            <a:r>
              <a:rPr lang="en-US" dirty="0" smtClean="0">
                <a:latin typeface="Symbol" charset="0"/>
                <a:sym typeface="Symbol"/>
              </a:rPr>
              <a:t> </a:t>
            </a:r>
            <a:r>
              <a:rPr lang="en-US" dirty="0" smtClean="0"/>
              <a:t>{=,&lt;,</a:t>
            </a:r>
            <a:r>
              <a:rPr lang="en-US" dirty="0"/>
              <a:t>≤,&gt;,≥,≠}, </a:t>
            </a:r>
            <a:r>
              <a:rPr lang="en-US" i="1" dirty="0" smtClean="0"/>
              <a:t>Value </a:t>
            </a:r>
            <a:r>
              <a:rPr lang="en-US" dirty="0" smtClean="0">
                <a:latin typeface="Symbol" charset="0"/>
                <a:sym typeface="Symbol"/>
              </a:rPr>
              <a:t> </a:t>
            </a:r>
            <a:r>
              <a:rPr lang="en-US" i="1" dirty="0" smtClean="0"/>
              <a:t>D</a:t>
            </a:r>
            <a:r>
              <a:rPr lang="en-US" i="1" baseline="-25000" dirty="0" smtClean="0"/>
              <a:t>i</a:t>
            </a:r>
            <a:r>
              <a:rPr lang="en-US" b="1" dirty="0" smtClean="0"/>
              <a:t>  </a:t>
            </a:r>
            <a:r>
              <a:rPr lang="en-US" dirty="0"/>
              <a:t>and </a:t>
            </a:r>
            <a:r>
              <a:rPr lang="en-US" i="1" dirty="0"/>
              <a:t>D</a:t>
            </a:r>
            <a:r>
              <a:rPr lang="en-US" i="1" baseline="-25000" dirty="0"/>
              <a:t>i</a:t>
            </a:r>
            <a:r>
              <a:rPr lang="en-US" b="1" dirty="0"/>
              <a:t> </a:t>
            </a:r>
            <a:r>
              <a:rPr lang="en-US" dirty="0"/>
              <a:t> is the domain of </a:t>
            </a:r>
            <a:r>
              <a:rPr lang="en-US" i="1" dirty="0"/>
              <a:t>A</a:t>
            </a:r>
            <a:r>
              <a:rPr lang="en-US" i="1" baseline="-25000" dirty="0"/>
              <a:t>i</a:t>
            </a:r>
            <a:r>
              <a:rPr lang="en-US" dirty="0"/>
              <a:t>.</a:t>
            </a:r>
          </a:p>
          <a:p>
            <a:pPr lvl="1">
              <a:buFont typeface="Monotype Sorts" charset="0"/>
              <a:buNone/>
            </a:pPr>
            <a:r>
              <a:rPr lang="en-US" dirty="0"/>
              <a:t>	For  relation </a:t>
            </a:r>
            <a:r>
              <a:rPr lang="en-US" i="1" dirty="0"/>
              <a:t>R</a:t>
            </a:r>
            <a:r>
              <a:rPr lang="en-US" dirty="0"/>
              <a:t>  we define </a:t>
            </a:r>
            <a:r>
              <a:rPr lang="en-US" i="1" dirty="0" err="1"/>
              <a:t>Pr</a:t>
            </a:r>
            <a:r>
              <a:rPr lang="en-US" i="1" dirty="0"/>
              <a:t> </a:t>
            </a:r>
            <a:r>
              <a:rPr lang="en-US" dirty="0"/>
              <a:t>= {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, …,</a:t>
            </a:r>
            <a:r>
              <a:rPr lang="en-US" i="1" dirty="0"/>
              <a:t>p</a:t>
            </a:r>
            <a:r>
              <a:rPr lang="en-US" i="1" baseline="-25000" dirty="0"/>
              <a:t>m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	Example :</a:t>
            </a:r>
          </a:p>
          <a:p>
            <a:pPr lvl="3">
              <a:buFont typeface="Monotype Sorts" charset="0"/>
              <a:buNone/>
            </a:pPr>
            <a:r>
              <a:rPr lang="en-US" sz="2600" dirty="0"/>
              <a:t>PNAME = "Maintenance"</a:t>
            </a:r>
          </a:p>
          <a:p>
            <a:pPr lvl="3">
              <a:buFont typeface="Monotype Sorts" charset="0"/>
              <a:buNone/>
            </a:pPr>
            <a:r>
              <a:rPr lang="en-US" sz="2600" dirty="0"/>
              <a:t>BUDGET ≤ 200000</a:t>
            </a:r>
          </a:p>
          <a:p>
            <a:pPr lvl="1"/>
            <a:r>
              <a:rPr lang="en-US" b="1" dirty="0" err="1">
                <a:solidFill>
                  <a:schemeClr val="tx2"/>
                </a:solidFill>
              </a:rPr>
              <a:t>minterm</a:t>
            </a:r>
            <a:r>
              <a:rPr lang="en-US" b="1" dirty="0">
                <a:solidFill>
                  <a:schemeClr val="tx2"/>
                </a:solidFill>
              </a:rPr>
              <a:t> predicates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/>
              <a:t>: Given  </a:t>
            </a:r>
            <a:r>
              <a:rPr lang="en-US" i="1" dirty="0"/>
              <a:t>R</a:t>
            </a:r>
            <a:r>
              <a:rPr lang="en-US" dirty="0"/>
              <a:t> and </a:t>
            </a:r>
            <a:r>
              <a:rPr lang="en-US" i="1" dirty="0" smtClean="0"/>
              <a:t>Pr </a:t>
            </a:r>
            <a:r>
              <a:rPr lang="en-US" dirty="0" smtClean="0"/>
              <a:t>= {</a:t>
            </a:r>
            <a:r>
              <a:rPr lang="en-US" i="1" dirty="0"/>
              <a:t>p</a:t>
            </a:r>
            <a:r>
              <a:rPr lang="en-US" i="1" baseline="-25000" dirty="0"/>
              <a:t>1</a:t>
            </a:r>
            <a:r>
              <a:rPr lang="en-US" dirty="0"/>
              <a:t>, </a:t>
            </a:r>
            <a:r>
              <a:rPr lang="en-US" i="1" dirty="0"/>
              <a:t>p</a:t>
            </a:r>
            <a:r>
              <a:rPr lang="en-US" i="1" baseline="-25000" dirty="0"/>
              <a:t>2</a:t>
            </a:r>
            <a:r>
              <a:rPr lang="en-US" dirty="0"/>
              <a:t>, …,</a:t>
            </a:r>
            <a:r>
              <a:rPr lang="en-US" i="1" dirty="0"/>
              <a:t>p</a:t>
            </a:r>
            <a:r>
              <a:rPr lang="en-US" i="1" baseline="-25000" dirty="0"/>
              <a:t>m</a:t>
            </a:r>
            <a:r>
              <a:rPr lang="en-US" dirty="0"/>
              <a:t>}</a:t>
            </a:r>
          </a:p>
          <a:p>
            <a:pPr lvl="1">
              <a:buFont typeface="Monotype Sorts" charset="0"/>
              <a:buNone/>
            </a:pPr>
            <a:r>
              <a:rPr lang="en-US" dirty="0"/>
              <a:t>	define </a:t>
            </a:r>
            <a:r>
              <a:rPr lang="en-US" i="1" dirty="0" smtClean="0"/>
              <a:t>M </a:t>
            </a:r>
            <a:r>
              <a:rPr lang="en-US" dirty="0" smtClean="0"/>
              <a:t>= {</a:t>
            </a:r>
            <a:r>
              <a:rPr lang="en-US" i="1" dirty="0"/>
              <a:t>m</a:t>
            </a:r>
            <a:r>
              <a:rPr lang="en-US" i="1" baseline="-25000" dirty="0"/>
              <a:t>1</a:t>
            </a:r>
            <a:r>
              <a:rPr lang="en-US" dirty="0"/>
              <a:t>,</a:t>
            </a:r>
            <a:r>
              <a:rPr lang="en-US" i="1" dirty="0"/>
              <a:t>m</a:t>
            </a:r>
            <a:r>
              <a:rPr lang="en-US" i="1" baseline="-25000" dirty="0"/>
              <a:t>2</a:t>
            </a:r>
            <a:r>
              <a:rPr lang="en-US" dirty="0"/>
              <a:t>,…,</a:t>
            </a:r>
            <a:r>
              <a:rPr lang="en-US" i="1" dirty="0" err="1"/>
              <a:t>m</a:t>
            </a:r>
            <a:r>
              <a:rPr lang="en-US" i="1" baseline="-25000" dirty="0" err="1"/>
              <a:t>r</a:t>
            </a:r>
            <a:r>
              <a:rPr lang="en-US" dirty="0"/>
              <a:t>} as</a:t>
            </a:r>
          </a:p>
          <a:p>
            <a:pPr lvl="1">
              <a:spcBef>
                <a:spcPts val="0"/>
              </a:spcBef>
              <a:buFont typeface="Monotype Sorts" charset="0"/>
              <a:buNone/>
            </a:pPr>
            <a:r>
              <a:rPr lang="en-US" i="1" dirty="0"/>
              <a:t>			</a:t>
            </a:r>
            <a:r>
              <a:rPr lang="en-US" i="1" dirty="0" smtClean="0"/>
              <a:t>M </a:t>
            </a:r>
            <a:r>
              <a:rPr lang="en-US" dirty="0" smtClean="0"/>
              <a:t>= { </a:t>
            </a:r>
            <a:r>
              <a:rPr lang="en-US" i="1" dirty="0" smtClean="0"/>
              <a:t>m</a:t>
            </a:r>
            <a:r>
              <a:rPr lang="en-US" i="1" baseline="-25000" dirty="0" smtClean="0"/>
              <a:t>i </a:t>
            </a:r>
            <a:r>
              <a:rPr lang="en-US" dirty="0" smtClean="0"/>
              <a:t>| </a:t>
            </a:r>
            <a:r>
              <a:rPr lang="en-US" i="1" dirty="0" smtClean="0"/>
              <a:t>m</a:t>
            </a:r>
            <a:r>
              <a:rPr lang="en-US" i="1" baseline="-25000" dirty="0" smtClean="0"/>
              <a:t>i</a:t>
            </a:r>
            <a:r>
              <a:rPr lang="en-US" dirty="0" smtClean="0"/>
              <a:t> </a:t>
            </a:r>
            <a:r>
              <a:rPr lang="en-US" dirty="0"/>
              <a:t>=  </a:t>
            </a:r>
            <a:r>
              <a:rPr lang="en-US" sz="4400" dirty="0" smtClean="0">
                <a:latin typeface="Symbol" charset="2"/>
                <a:cs typeface="Symbol" charset="2"/>
                <a:sym typeface="Symbol"/>
              </a:rPr>
              <a:t></a:t>
            </a:r>
            <a:r>
              <a:rPr lang="en-US" i="1" baseline="-25000" dirty="0" err="1" smtClean="0"/>
              <a:t>p</a:t>
            </a:r>
            <a:r>
              <a:rPr lang="en-US" i="1" baseline="-50000" dirty="0" err="1" smtClean="0"/>
              <a:t>j</a:t>
            </a:r>
            <a:r>
              <a:rPr lang="en-US" baseline="-25000" dirty="0" err="1" smtClean="0">
                <a:latin typeface="Symbol" charset="0"/>
                <a:sym typeface="Symbol"/>
              </a:rPr>
              <a:t></a:t>
            </a:r>
            <a:r>
              <a:rPr lang="en-US" i="1" baseline="-25000" dirty="0" err="1" smtClean="0"/>
              <a:t>Pr</a:t>
            </a:r>
            <a:r>
              <a:rPr lang="en-US" dirty="0" smtClean="0">
                <a:latin typeface="Symbol" charset="0"/>
              </a:rPr>
              <a:t> </a:t>
            </a:r>
            <a:r>
              <a:rPr lang="en-US" i="1" dirty="0" err="1" smtClean="0"/>
              <a:t>p</a:t>
            </a:r>
            <a:r>
              <a:rPr lang="en-US" i="1" baseline="-25000" dirty="0" err="1" smtClean="0"/>
              <a:t>j</a:t>
            </a:r>
            <a:r>
              <a:rPr lang="en-US" dirty="0"/>
              <a:t>* }, 1≤</a:t>
            </a:r>
            <a:r>
              <a:rPr lang="en-US" i="1" dirty="0"/>
              <a:t>j</a:t>
            </a:r>
            <a:r>
              <a:rPr lang="en-US" dirty="0"/>
              <a:t>≤</a:t>
            </a:r>
            <a:r>
              <a:rPr lang="en-US" i="1" dirty="0"/>
              <a:t>m</a:t>
            </a:r>
            <a:r>
              <a:rPr lang="en-US" dirty="0"/>
              <a:t>, 1≤</a:t>
            </a:r>
            <a:r>
              <a:rPr lang="en-US" i="1" dirty="0"/>
              <a:t>i</a:t>
            </a:r>
            <a:r>
              <a:rPr lang="en-US" dirty="0"/>
              <a:t>≤</a:t>
            </a:r>
            <a:r>
              <a:rPr lang="en-US" i="1" dirty="0"/>
              <a:t>z</a:t>
            </a:r>
          </a:p>
          <a:p>
            <a:pPr lvl="1">
              <a:buFont typeface="Monotype Sorts" charset="0"/>
              <a:buNone/>
            </a:pPr>
            <a:r>
              <a:rPr lang="en-US" dirty="0"/>
              <a:t>	where</a:t>
            </a:r>
            <a:r>
              <a:rPr lang="en-US" i="1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dirty="0"/>
              <a:t>* =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dirty="0"/>
              <a:t> or</a:t>
            </a:r>
            <a:r>
              <a:rPr lang="en-US" i="1" dirty="0"/>
              <a:t> 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dirty="0"/>
              <a:t>* = ¬(</a:t>
            </a:r>
            <a:r>
              <a:rPr lang="en-US" i="1" dirty="0" err="1"/>
              <a:t>p</a:t>
            </a:r>
            <a:r>
              <a:rPr lang="en-US" i="1" baseline="-25000" dirty="0" err="1"/>
              <a:t>j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type="title"/>
          </p:nvPr>
        </p:nvSpPr>
        <p:spPr>
          <a:xfrm>
            <a:off x="309712" y="444500"/>
            <a:ext cx="12649200" cy="1612900"/>
          </a:xfrm>
          <a:noFill/>
          <a:ln/>
        </p:spPr>
        <p:txBody>
          <a:bodyPr/>
          <a:lstStyle/>
          <a:p>
            <a:r>
              <a:rPr lang="en-US" dirty="0"/>
              <a:t>PHF – Information Requirements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idx="1"/>
          </p:nvPr>
        </p:nvSpPr>
        <p:spPr>
          <a:xfrm>
            <a:off x="630932" y="2489200"/>
            <a:ext cx="11560100" cy="6769100"/>
          </a:xfrm>
          <a:noFill/>
          <a:ln/>
        </p:spPr>
        <p:txBody>
          <a:bodyPr/>
          <a:lstStyle/>
          <a:p>
            <a:r>
              <a:rPr lang="en-US" dirty="0" smtClean="0"/>
              <a:t>Consider relation PAY. </a:t>
            </a:r>
          </a:p>
          <a:p>
            <a:r>
              <a:rPr lang="en-US" dirty="0" smtClean="0"/>
              <a:t>The following are some of the  possible simple </a:t>
            </a:r>
          </a:p>
          <a:p>
            <a:pPr>
              <a:buNone/>
            </a:pPr>
            <a:r>
              <a:rPr lang="en-US" dirty="0" smtClean="0"/>
              <a:t>predicates that can be defined on PAY.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p1:  TITLE = “Elect. Eng.”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p2:  TITLE = “Syst. Anal.”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p3:  TITLE = “Mech. Eng.”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p4:  TITLE = “Programmer”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p5:  SAL &lt;= 30000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P6:  SAL &gt; 30000</a:t>
            </a:r>
          </a:p>
          <a:p>
            <a:r>
              <a:rPr lang="en-US" dirty="0" smtClean="0"/>
              <a:t>The following are some of the </a:t>
            </a:r>
            <a:r>
              <a:rPr lang="en-US" dirty="0" err="1" smtClean="0"/>
              <a:t>minterm</a:t>
            </a:r>
            <a:r>
              <a:rPr lang="en-US" dirty="0" smtClean="0"/>
              <a:t> predicates that can be defined based on these simple predicates.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m1: TITLE = “Elect. Eng.” ^ SAL  &lt;= 30000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m2: TITLE = “Elect. Eng.” ^ SAL &gt; 30000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m3: :(TITLE = “Elect. Eng.”) ^ SAL &lt;=  30000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m4: :(TITLE = “Elect. Eng.”) ^ SAL &gt; 30000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m5: TITLE = “Programmer” ^ SAL  &lt;= 30000</a:t>
            </a:r>
          </a:p>
          <a:p>
            <a:pPr lvl="6">
              <a:buNone/>
            </a:pPr>
            <a:r>
              <a:rPr lang="en-US" sz="1600" b="1" dirty="0" smtClean="0">
                <a:latin typeface="Book Antiqua" pitchFamily="18" charset="0"/>
              </a:rPr>
              <a:t>m6: TITLE = “Programmer” ^ SAL &gt; 30000</a:t>
            </a:r>
          </a:p>
          <a:p>
            <a:pPr lvl="1">
              <a:buNone/>
            </a:pPr>
            <a:endParaRPr lang="en-US" dirty="0"/>
          </a:p>
        </p:txBody>
      </p:sp>
      <p:pic>
        <p:nvPicPr>
          <p:cNvPr id="4" name="Picture 3" descr="Fig-2-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34" t="64149" r="-1333" b="-1288"/>
          <a:stretch>
            <a:fillRect/>
          </a:stretch>
        </p:blipFill>
        <p:spPr>
          <a:xfrm>
            <a:off x="8561141" y="2971800"/>
            <a:ext cx="3629891" cy="2743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309712" y="444500"/>
            <a:ext cx="12649200" cy="1612900"/>
          </a:xfrm>
          <a:noFill/>
          <a:ln/>
        </p:spPr>
        <p:txBody>
          <a:bodyPr/>
          <a:lstStyle/>
          <a:p>
            <a:r>
              <a:rPr lang="en-US" dirty="0"/>
              <a:t>PHF – </a:t>
            </a:r>
            <a:r>
              <a:rPr lang="en-US" dirty="0" smtClean="0"/>
              <a:t>Information Requirements</a:t>
            </a:r>
            <a:endParaRPr lang="en-US" dirty="0"/>
          </a:p>
        </p:txBody>
      </p:sp>
      <p:sp>
        <p:nvSpPr>
          <p:cNvPr id="3993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dirty="0"/>
              <a:t>Application Information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b="1" dirty="0" err="1">
                <a:solidFill>
                  <a:schemeClr val="tx2"/>
                </a:solidFill>
              </a:rPr>
              <a:t>minterm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b="1" dirty="0" err="1">
                <a:solidFill>
                  <a:schemeClr val="tx2"/>
                </a:solidFill>
              </a:rPr>
              <a:t>selectivitie</a:t>
            </a:r>
            <a:r>
              <a:rPr lang="en-US" dirty="0" err="1">
                <a:solidFill>
                  <a:schemeClr val="tx2"/>
                </a:solidFill>
              </a:rPr>
              <a:t>s</a:t>
            </a:r>
            <a:r>
              <a:rPr lang="en-US" dirty="0"/>
              <a:t>: </a:t>
            </a:r>
            <a:r>
              <a:rPr lang="en-US" i="1" dirty="0" err="1"/>
              <a:t>sel</a:t>
            </a:r>
            <a:r>
              <a:rPr lang="en-US" dirty="0"/>
              <a:t>(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dirty="0"/>
              <a:t>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</a:pPr>
            <a:r>
              <a:rPr lang="en-US" dirty="0"/>
              <a:t>The number of </a:t>
            </a:r>
            <a:r>
              <a:rPr lang="en-US" dirty="0" err="1"/>
              <a:t>tuples</a:t>
            </a:r>
            <a:r>
              <a:rPr lang="en-US" dirty="0"/>
              <a:t> of the relation that would be accessed by a user query which is specified according to a given </a:t>
            </a:r>
            <a:r>
              <a:rPr lang="en-US" dirty="0" err="1"/>
              <a:t>minterm</a:t>
            </a:r>
            <a:r>
              <a:rPr lang="en-US" dirty="0"/>
              <a:t> predicate 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sz="2400" b="1" dirty="0" smtClean="0">
                <a:latin typeface="Book Antiqua" pitchFamily="18" charset="0"/>
              </a:rPr>
              <a:t>m1: TITLE = “Elect. Eng.” ^ SAL &lt; 30000 </a:t>
            </a:r>
          </a:p>
          <a:p>
            <a:pPr lvl="1">
              <a:buNone/>
            </a:pPr>
            <a:r>
              <a:rPr lang="en-US" dirty="0" smtClean="0"/>
              <a:t>The selectivity of m1</a:t>
            </a:r>
            <a:r>
              <a:rPr lang="en-US" sz="600" dirty="0" smtClean="0"/>
              <a:t> </a:t>
            </a:r>
            <a:r>
              <a:rPr lang="en-US" dirty="0" smtClean="0"/>
              <a:t>is 0</a:t>
            </a:r>
            <a:endParaRPr lang="en-US" sz="2800" b="1" dirty="0" smtClean="0">
              <a:latin typeface="Book Antiqua" pitchFamily="18" charset="0"/>
            </a:endParaRPr>
          </a:p>
          <a:p>
            <a:pPr lvl="1"/>
            <a:endParaRPr lang="en-US" dirty="0" smtClean="0"/>
          </a:p>
          <a:p>
            <a:pPr lvl="1"/>
            <a:r>
              <a:rPr lang="en-US" b="1" dirty="0" smtClean="0">
                <a:latin typeface="Book Antiqua" pitchFamily="18" charset="0"/>
              </a:rPr>
              <a:t>m2: TITLE = “Elect. Eng.” ^ SAL &gt; 30000</a:t>
            </a:r>
          </a:p>
          <a:p>
            <a:pPr>
              <a:buNone/>
            </a:pPr>
            <a:r>
              <a:rPr lang="en-US" dirty="0" smtClean="0"/>
              <a:t>	The selectivity of m2 is 0.25</a:t>
            </a:r>
            <a:endParaRPr lang="en-US" b="1" dirty="0" smtClean="0">
              <a:latin typeface="Book Antiqua" pitchFamily="18" charset="0"/>
            </a:endParaRPr>
          </a:p>
        </p:txBody>
      </p:sp>
      <p:pic>
        <p:nvPicPr>
          <p:cNvPr id="4" name="Picture 3" descr="Fig-2-3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34" t="64149" r="-1333" b="-1288"/>
          <a:stretch>
            <a:fillRect/>
          </a:stretch>
        </p:blipFill>
        <p:spPr>
          <a:xfrm>
            <a:off x="9245600" y="6248400"/>
            <a:ext cx="3327400" cy="25146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title"/>
          </p:nvPr>
        </p:nvSpPr>
        <p:spPr>
          <a:xfrm>
            <a:off x="309712" y="444500"/>
            <a:ext cx="12649200" cy="1612900"/>
          </a:xfrm>
          <a:noFill/>
          <a:ln/>
        </p:spPr>
        <p:txBody>
          <a:bodyPr/>
          <a:lstStyle/>
          <a:p>
            <a:r>
              <a:rPr lang="en-US" dirty="0"/>
              <a:t>PHF – </a:t>
            </a:r>
            <a:r>
              <a:rPr lang="en-US" dirty="0" smtClean="0"/>
              <a:t>Information Requirements</a:t>
            </a:r>
            <a:endParaRPr lang="en-US" dirty="0"/>
          </a:p>
        </p:txBody>
      </p:sp>
      <p:sp>
        <p:nvSpPr>
          <p:cNvPr id="3993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dirty="0"/>
              <a:t>Application Information</a:t>
            </a:r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b="1" dirty="0" smtClean="0">
                <a:solidFill>
                  <a:schemeClr val="tx2"/>
                </a:solidFill>
              </a:rPr>
              <a:t>access </a:t>
            </a:r>
            <a:r>
              <a:rPr lang="en-US" b="1" dirty="0">
                <a:solidFill>
                  <a:schemeClr val="tx2"/>
                </a:solidFill>
              </a:rPr>
              <a:t>frequencies</a:t>
            </a:r>
            <a:r>
              <a:rPr lang="en-US" dirty="0"/>
              <a:t>: </a:t>
            </a:r>
            <a:r>
              <a:rPr lang="en-US" i="1" dirty="0"/>
              <a:t>acc</a:t>
            </a:r>
            <a:r>
              <a:rPr lang="en-US" dirty="0"/>
              <a:t>(</a:t>
            </a:r>
            <a:r>
              <a:rPr lang="en-US" i="1" dirty="0" err="1"/>
              <a:t>q</a:t>
            </a:r>
            <a:r>
              <a:rPr lang="en-US" i="1" baseline="-25000" dirty="0" err="1"/>
              <a:t>i</a:t>
            </a:r>
            <a:r>
              <a:rPr lang="en-US" dirty="0"/>
              <a:t>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</a:pPr>
            <a:r>
              <a:rPr lang="en-US" dirty="0"/>
              <a:t>The frequency with which a user application </a:t>
            </a:r>
            <a:r>
              <a:rPr lang="en-US" i="1" dirty="0" err="1"/>
              <a:t>qi</a:t>
            </a:r>
            <a:r>
              <a:rPr lang="en-US" dirty="0"/>
              <a:t>  accesses data.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</a:pPr>
            <a:r>
              <a:rPr lang="en-US" dirty="0"/>
              <a:t>Access frequency for a </a:t>
            </a:r>
            <a:r>
              <a:rPr lang="en-US" dirty="0" err="1"/>
              <a:t>minterm</a:t>
            </a:r>
            <a:r>
              <a:rPr lang="en-US" dirty="0"/>
              <a:t> predicate can also be defined.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xfrm>
            <a:off x="237704" y="444500"/>
            <a:ext cx="12767096" cy="1612900"/>
          </a:xfrm>
          <a:noFill/>
          <a:ln/>
        </p:spPr>
        <p:txBody>
          <a:bodyPr/>
          <a:lstStyle/>
          <a:p>
            <a:r>
              <a:rPr lang="en-US" dirty="0"/>
              <a:t>Primary </a:t>
            </a:r>
            <a:r>
              <a:rPr lang="en-US" dirty="0" smtClean="0"/>
              <a:t>Horizontal Fragmentation</a:t>
            </a:r>
            <a:endParaRPr lang="en-US" dirty="0"/>
          </a:p>
        </p:txBody>
      </p:sp>
      <p:sp>
        <p:nvSpPr>
          <p:cNvPr id="41986" name="Rectangle 2"/>
          <p:cNvSpPr>
            <a:spLocks noGrp="1" noChangeArrowheads="1"/>
          </p:cNvSpPr>
          <p:nvPr>
            <p:ph idx="1"/>
          </p:nvPr>
        </p:nvSpPr>
        <p:spPr>
          <a:xfrm>
            <a:off x="473496" y="2489200"/>
            <a:ext cx="12293600" cy="6769100"/>
          </a:xfrm>
          <a:noFill/>
          <a:ln/>
        </p:spPr>
        <p:txBody>
          <a:bodyPr/>
          <a:lstStyle/>
          <a:p>
            <a:pPr>
              <a:buNone/>
              <a:tabLst>
                <a:tab pos="4714166" algn="l"/>
              </a:tabLst>
            </a:pPr>
            <a:r>
              <a:rPr lang="en-US" dirty="0"/>
              <a:t>Definition :</a:t>
            </a:r>
          </a:p>
          <a:p>
            <a:pPr lvl="3">
              <a:buNone/>
              <a:tabLst>
                <a:tab pos="4714166" algn="l"/>
              </a:tabLst>
            </a:pPr>
            <a:r>
              <a:rPr lang="en-US" sz="2600" i="1" dirty="0" err="1"/>
              <a:t>R</a:t>
            </a:r>
            <a:r>
              <a:rPr lang="en-US" sz="2600" i="1" baseline="-25000" dirty="0" err="1"/>
              <a:t>j</a:t>
            </a:r>
            <a:r>
              <a:rPr lang="en-US" sz="2600" dirty="0"/>
              <a:t> = </a:t>
            </a:r>
            <a:r>
              <a:rPr lang="en-US" sz="2600" dirty="0" smtClean="0">
                <a:latin typeface="Symbol" charset="0"/>
                <a:sym typeface="Symbol"/>
              </a:rPr>
              <a:t></a:t>
            </a:r>
            <a:r>
              <a:rPr lang="en-US" sz="2600" i="1" baseline="-25000" dirty="0" err="1" smtClean="0"/>
              <a:t>F</a:t>
            </a:r>
            <a:r>
              <a:rPr lang="en-US" sz="2600" i="1" baseline="-50000" dirty="0" err="1" smtClean="0"/>
              <a:t>j</a:t>
            </a:r>
            <a:r>
              <a:rPr lang="en-US" sz="2600" dirty="0" smtClean="0"/>
              <a:t>(</a:t>
            </a:r>
            <a:r>
              <a:rPr lang="en-US" sz="2600" i="1" dirty="0" smtClean="0"/>
              <a:t>R</a:t>
            </a:r>
            <a:r>
              <a:rPr lang="en-US" sz="2600" dirty="0" smtClean="0"/>
              <a:t>)</a:t>
            </a:r>
            <a:r>
              <a:rPr lang="en-US" sz="2600" dirty="0"/>
              <a:t>,  1 ≤ </a:t>
            </a:r>
            <a:r>
              <a:rPr lang="en-US" sz="2600" i="1" dirty="0"/>
              <a:t>j</a:t>
            </a:r>
            <a:r>
              <a:rPr lang="en-US" sz="2600" dirty="0"/>
              <a:t> ≤ </a:t>
            </a:r>
            <a:r>
              <a:rPr lang="en-US" sz="2600" i="1" dirty="0"/>
              <a:t>w</a:t>
            </a:r>
            <a:endParaRPr lang="en-US" sz="2600" dirty="0"/>
          </a:p>
          <a:p>
            <a:pPr marL="731509" lvl="1" indent="0">
              <a:buNone/>
              <a:tabLst>
                <a:tab pos="4714166" algn="l"/>
              </a:tabLst>
            </a:pPr>
            <a:r>
              <a:rPr lang="en-US" dirty="0"/>
              <a:t>where </a:t>
            </a:r>
            <a:r>
              <a:rPr lang="en-US" i="1" dirty="0" err="1"/>
              <a:t>F</a:t>
            </a:r>
            <a:r>
              <a:rPr lang="en-US" i="1" baseline="-25000" dirty="0" err="1"/>
              <a:t>j</a:t>
            </a:r>
            <a:r>
              <a:rPr lang="en-US" dirty="0"/>
              <a:t> is a selection formula, which is (preferably) a </a:t>
            </a:r>
            <a:r>
              <a:rPr lang="en-US" dirty="0" err="1"/>
              <a:t>minterm</a:t>
            </a:r>
            <a:r>
              <a:rPr lang="en-US" dirty="0"/>
              <a:t> predicate.</a:t>
            </a:r>
          </a:p>
          <a:p>
            <a:pPr>
              <a:buNone/>
              <a:tabLst>
                <a:tab pos="4714166" algn="l"/>
              </a:tabLst>
            </a:pPr>
            <a:r>
              <a:rPr lang="en-US" dirty="0"/>
              <a:t>Therefore,</a:t>
            </a:r>
          </a:p>
          <a:p>
            <a:pPr marL="731509" lvl="1" indent="0">
              <a:buNone/>
              <a:tabLst>
                <a:tab pos="4714166" algn="l"/>
              </a:tabLst>
            </a:pPr>
            <a:r>
              <a:rPr lang="en-US" dirty="0"/>
              <a:t>A horizontal fragment </a:t>
            </a:r>
            <a:r>
              <a:rPr lang="en-US" i="1" dirty="0" err="1"/>
              <a:t>R</a:t>
            </a:r>
            <a:r>
              <a:rPr lang="en-US" i="1" baseline="-25000" dirty="0" err="1"/>
              <a:t>i</a:t>
            </a:r>
            <a:r>
              <a:rPr lang="en-US" i="1" dirty="0"/>
              <a:t> </a:t>
            </a:r>
            <a:r>
              <a:rPr lang="en-US" dirty="0"/>
              <a:t>of relation </a:t>
            </a:r>
            <a:r>
              <a:rPr lang="en-US" i="1" dirty="0"/>
              <a:t>R</a:t>
            </a:r>
            <a:r>
              <a:rPr lang="en-US" dirty="0"/>
              <a:t> consists of all the tuples of </a:t>
            </a:r>
            <a:r>
              <a:rPr lang="en-US" i="1" dirty="0"/>
              <a:t>R</a:t>
            </a:r>
            <a:r>
              <a:rPr lang="en-US" dirty="0"/>
              <a:t> which satisfy a </a:t>
            </a:r>
            <a:r>
              <a:rPr lang="en-US" dirty="0" err="1"/>
              <a:t>minterm</a:t>
            </a:r>
            <a:r>
              <a:rPr lang="en-US" dirty="0"/>
              <a:t> predicate </a:t>
            </a:r>
            <a:r>
              <a:rPr lang="en-US" i="1" dirty="0"/>
              <a:t>m</a:t>
            </a:r>
            <a:r>
              <a:rPr lang="en-US" i="1" baseline="-25000" dirty="0"/>
              <a:t>i</a:t>
            </a:r>
            <a:r>
              <a:rPr lang="en-US" dirty="0"/>
              <a:t>. </a:t>
            </a:r>
          </a:p>
          <a:p>
            <a:pPr>
              <a:buNone/>
              <a:tabLst>
                <a:tab pos="4714166" algn="l"/>
              </a:tabLst>
            </a:pPr>
            <a:r>
              <a:rPr lang="en-US" dirty="0">
                <a:latin typeface="Symbol" charset="0"/>
              </a:rPr>
              <a:t>		</a:t>
            </a:r>
            <a:r>
              <a:rPr lang="en-US" sz="4600" dirty="0" smtClean="0">
                <a:latin typeface="Wingdings"/>
                <a:ea typeface="Wingdings"/>
                <a:cs typeface="Wingdings"/>
                <a:sym typeface="Wingdings"/>
              </a:rPr>
              <a:t></a:t>
            </a:r>
            <a:endParaRPr lang="en-US" dirty="0">
              <a:latin typeface="Symbol" charset="0"/>
            </a:endParaRPr>
          </a:p>
          <a:p>
            <a:pPr marL="731509" lvl="1" indent="0">
              <a:buNone/>
              <a:tabLst>
                <a:tab pos="4714166" algn="l"/>
              </a:tabLst>
            </a:pPr>
            <a:r>
              <a:rPr lang="en-US" dirty="0"/>
              <a:t>Given a set of </a:t>
            </a:r>
            <a:r>
              <a:rPr lang="en-US" dirty="0" err="1"/>
              <a:t>minterm</a:t>
            </a:r>
            <a:r>
              <a:rPr lang="en-US" dirty="0"/>
              <a:t> predicates </a:t>
            </a:r>
            <a:r>
              <a:rPr lang="en-US" i="1" dirty="0"/>
              <a:t>M,</a:t>
            </a:r>
            <a:r>
              <a:rPr lang="en-US" dirty="0"/>
              <a:t> there are as many horizontal fragments of relation </a:t>
            </a:r>
            <a:r>
              <a:rPr lang="en-US" i="1" dirty="0"/>
              <a:t>R</a:t>
            </a:r>
            <a:r>
              <a:rPr lang="en-US" dirty="0"/>
              <a:t> as there are </a:t>
            </a:r>
            <a:r>
              <a:rPr lang="en-US" dirty="0" err="1"/>
              <a:t>minterm</a:t>
            </a:r>
            <a:r>
              <a:rPr lang="en-US" dirty="0"/>
              <a:t> predicates. </a:t>
            </a:r>
          </a:p>
          <a:p>
            <a:pPr marL="731509" lvl="1" indent="0">
              <a:buNone/>
              <a:tabLst>
                <a:tab pos="4714166" algn="l"/>
              </a:tabLst>
            </a:pPr>
            <a:r>
              <a:rPr lang="en-US" dirty="0"/>
              <a:t>Set of horizontal fragments also referred to as </a:t>
            </a:r>
            <a:r>
              <a:rPr lang="en-US" dirty="0" err="1">
                <a:solidFill>
                  <a:srgbClr val="FF0000"/>
                </a:solidFill>
              </a:rPr>
              <a:t>minterm</a:t>
            </a:r>
            <a:r>
              <a:rPr lang="en-US" dirty="0">
                <a:solidFill>
                  <a:srgbClr val="FF0000"/>
                </a:solidFill>
              </a:rPr>
              <a:t> fragments</a:t>
            </a:r>
            <a:r>
              <a:rPr lang="en-US" i="1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3.7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decomposition of relation PROJ into horizontal fragments PROJ1 and PROJ2  :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>
                <a:latin typeface="Book Antiqua"/>
              </a:rPr>
              <a:t>Ch.x/</a:t>
            </a:r>
            <a:fld id="{D01B99BC-F82C-D046-99BD-FBA1D66F1CB4}" type="slidenum">
              <a:rPr lang="en-US" smtClean="0">
                <a:latin typeface="Book Antiqua"/>
              </a:rPr>
              <a:pPr/>
              <a:t>17</a:t>
            </a:fld>
            <a:endParaRPr lang="en-US" dirty="0">
              <a:latin typeface="Book Antiqua"/>
            </a:endParaRPr>
          </a:p>
        </p:txBody>
      </p:sp>
      <p:sp>
        <p:nvSpPr>
          <p:cNvPr id="93" name="Rectangle 31"/>
          <p:cNvSpPr>
            <a:spLocks noChangeArrowheads="1"/>
          </p:cNvSpPr>
          <p:nvPr/>
        </p:nvSpPr>
        <p:spPr bwMode="auto">
          <a:xfrm>
            <a:off x="762562" y="5827326"/>
            <a:ext cx="109841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400" baseline="-25000" dirty="0">
                <a:solidFill>
                  <a:srgbClr val="000000"/>
                </a:solidFill>
                <a:latin typeface="Book Antiqua"/>
              </a:rPr>
              <a:t>1</a:t>
            </a:r>
          </a:p>
        </p:txBody>
      </p:sp>
      <p:sp>
        <p:nvSpPr>
          <p:cNvPr id="94" name="Rectangle 32"/>
          <p:cNvSpPr>
            <a:spLocks noChangeArrowheads="1"/>
          </p:cNvSpPr>
          <p:nvPr/>
        </p:nvSpPr>
        <p:spPr bwMode="auto">
          <a:xfrm>
            <a:off x="7053298" y="6384996"/>
            <a:ext cx="5346418" cy="195072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95" name="Line 33"/>
          <p:cNvSpPr>
            <a:spLocks noChangeShapeType="1"/>
          </p:cNvSpPr>
          <p:nvPr/>
        </p:nvSpPr>
        <p:spPr bwMode="auto">
          <a:xfrm>
            <a:off x="7775787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96" name="Line 34"/>
          <p:cNvSpPr>
            <a:spLocks noChangeShapeType="1"/>
          </p:cNvSpPr>
          <p:nvPr/>
        </p:nvSpPr>
        <p:spPr bwMode="auto">
          <a:xfrm>
            <a:off x="7775787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97" name="Line 35"/>
          <p:cNvSpPr>
            <a:spLocks noChangeShapeType="1"/>
          </p:cNvSpPr>
          <p:nvPr/>
        </p:nvSpPr>
        <p:spPr bwMode="auto">
          <a:xfrm>
            <a:off x="7775787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98" name="Line 36"/>
          <p:cNvSpPr>
            <a:spLocks noChangeShapeType="1"/>
          </p:cNvSpPr>
          <p:nvPr/>
        </p:nvSpPr>
        <p:spPr bwMode="auto">
          <a:xfrm>
            <a:off x="7775787" y="6384996"/>
            <a:ext cx="0" cy="195072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99" name="Line 37"/>
          <p:cNvSpPr>
            <a:spLocks noChangeShapeType="1"/>
          </p:cNvSpPr>
          <p:nvPr/>
        </p:nvSpPr>
        <p:spPr bwMode="auto">
          <a:xfrm>
            <a:off x="9997440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00" name="Line 38"/>
          <p:cNvSpPr>
            <a:spLocks noChangeShapeType="1"/>
          </p:cNvSpPr>
          <p:nvPr/>
        </p:nvSpPr>
        <p:spPr bwMode="auto">
          <a:xfrm>
            <a:off x="9997440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01" name="Line 39"/>
          <p:cNvSpPr>
            <a:spLocks noChangeShapeType="1"/>
          </p:cNvSpPr>
          <p:nvPr/>
        </p:nvSpPr>
        <p:spPr bwMode="auto">
          <a:xfrm>
            <a:off x="9997440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02" name="Line 40"/>
          <p:cNvSpPr>
            <a:spLocks noChangeShapeType="1"/>
          </p:cNvSpPr>
          <p:nvPr/>
        </p:nvSpPr>
        <p:spPr bwMode="auto">
          <a:xfrm>
            <a:off x="9997440" y="6384996"/>
            <a:ext cx="0" cy="195072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03" name="Rectangle 41"/>
          <p:cNvSpPr>
            <a:spLocks noChangeArrowheads="1"/>
          </p:cNvSpPr>
          <p:nvPr/>
        </p:nvSpPr>
        <p:spPr bwMode="auto">
          <a:xfrm>
            <a:off x="7028791" y="6536268"/>
            <a:ext cx="83697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04" name="Rectangle 42"/>
          <p:cNvSpPr>
            <a:spLocks noChangeArrowheads="1"/>
          </p:cNvSpPr>
          <p:nvPr/>
        </p:nvSpPr>
        <p:spPr bwMode="auto">
          <a:xfrm>
            <a:off x="8272132" y="6536268"/>
            <a:ext cx="122670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05" name="Rectangle 43"/>
          <p:cNvSpPr>
            <a:spLocks noChangeArrowheads="1"/>
          </p:cNvSpPr>
          <p:nvPr/>
        </p:nvSpPr>
        <p:spPr bwMode="auto">
          <a:xfrm>
            <a:off x="9979892" y="6536268"/>
            <a:ext cx="1324289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06" name="Rectangle 44"/>
          <p:cNvSpPr>
            <a:spLocks noChangeArrowheads="1"/>
          </p:cNvSpPr>
          <p:nvPr/>
        </p:nvSpPr>
        <p:spPr bwMode="auto">
          <a:xfrm>
            <a:off x="11455576" y="6482081"/>
            <a:ext cx="800032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107" name="Rectangle 45"/>
          <p:cNvSpPr>
            <a:spLocks noChangeArrowheads="1"/>
          </p:cNvSpPr>
          <p:nvPr/>
        </p:nvSpPr>
        <p:spPr bwMode="auto">
          <a:xfrm>
            <a:off x="7200056" y="6969759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08" name="Rectangle 46"/>
          <p:cNvSpPr>
            <a:spLocks noChangeArrowheads="1"/>
          </p:cNvSpPr>
          <p:nvPr/>
        </p:nvSpPr>
        <p:spPr bwMode="auto">
          <a:xfrm>
            <a:off x="7806550" y="6969759"/>
            <a:ext cx="154206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09" name="Rectangle 47"/>
          <p:cNvSpPr>
            <a:spLocks noChangeArrowheads="1"/>
          </p:cNvSpPr>
          <p:nvPr/>
        </p:nvSpPr>
        <p:spPr bwMode="auto">
          <a:xfrm>
            <a:off x="10094526" y="6969759"/>
            <a:ext cx="9527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110" name="Rectangle 48"/>
          <p:cNvSpPr>
            <a:spLocks noChangeArrowheads="1"/>
          </p:cNvSpPr>
          <p:nvPr/>
        </p:nvSpPr>
        <p:spPr bwMode="auto">
          <a:xfrm>
            <a:off x="11137619" y="6969759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11" name="Rectangle 50"/>
          <p:cNvSpPr>
            <a:spLocks noChangeArrowheads="1"/>
          </p:cNvSpPr>
          <p:nvPr/>
        </p:nvSpPr>
        <p:spPr bwMode="auto">
          <a:xfrm>
            <a:off x="7200056" y="7457439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12" name="Rectangle 51"/>
          <p:cNvSpPr>
            <a:spLocks noChangeArrowheads="1"/>
          </p:cNvSpPr>
          <p:nvPr/>
        </p:nvSpPr>
        <p:spPr bwMode="auto">
          <a:xfrm>
            <a:off x="7806550" y="7457439"/>
            <a:ext cx="164817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113" name="Rectangle 52"/>
          <p:cNvSpPr>
            <a:spLocks noChangeArrowheads="1"/>
          </p:cNvSpPr>
          <p:nvPr/>
        </p:nvSpPr>
        <p:spPr bwMode="auto">
          <a:xfrm>
            <a:off x="10094527" y="7457439"/>
            <a:ext cx="9527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114" name="Rectangle 53"/>
          <p:cNvSpPr>
            <a:spLocks noChangeArrowheads="1"/>
          </p:cNvSpPr>
          <p:nvPr/>
        </p:nvSpPr>
        <p:spPr bwMode="auto">
          <a:xfrm>
            <a:off x="11162456" y="7457439"/>
            <a:ext cx="7495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  <p:sp>
        <p:nvSpPr>
          <p:cNvPr id="115" name="Rectangle 55"/>
          <p:cNvSpPr>
            <a:spLocks noChangeArrowheads="1"/>
          </p:cNvSpPr>
          <p:nvPr/>
        </p:nvSpPr>
        <p:spPr bwMode="auto">
          <a:xfrm>
            <a:off x="7200056" y="7915767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16" name="Rectangle 56"/>
          <p:cNvSpPr>
            <a:spLocks noChangeArrowheads="1"/>
          </p:cNvSpPr>
          <p:nvPr/>
        </p:nvSpPr>
        <p:spPr bwMode="auto">
          <a:xfrm>
            <a:off x="7806550" y="7915767"/>
            <a:ext cx="154206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17" name="Rectangle 57"/>
          <p:cNvSpPr>
            <a:spLocks noChangeArrowheads="1"/>
          </p:cNvSpPr>
          <p:nvPr/>
        </p:nvSpPr>
        <p:spPr bwMode="auto">
          <a:xfrm>
            <a:off x="10094528" y="7915767"/>
            <a:ext cx="9527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500000</a:t>
            </a:r>
          </a:p>
        </p:txBody>
      </p:sp>
      <p:sp>
        <p:nvSpPr>
          <p:cNvPr id="118" name="Rectangle 58"/>
          <p:cNvSpPr>
            <a:spLocks noChangeArrowheads="1"/>
          </p:cNvSpPr>
          <p:nvPr/>
        </p:nvSpPr>
        <p:spPr bwMode="auto">
          <a:xfrm>
            <a:off x="11162457" y="7915767"/>
            <a:ext cx="9640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Boston</a:t>
            </a:r>
          </a:p>
        </p:txBody>
      </p:sp>
      <p:sp>
        <p:nvSpPr>
          <p:cNvPr id="119" name="Rectangle 60"/>
          <p:cNvSpPr>
            <a:spLocks noChangeArrowheads="1"/>
          </p:cNvSpPr>
          <p:nvPr/>
        </p:nvSpPr>
        <p:spPr bwMode="auto">
          <a:xfrm>
            <a:off x="767644" y="6384995"/>
            <a:ext cx="5346418" cy="153528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20" name="Line 61"/>
          <p:cNvSpPr>
            <a:spLocks noChangeShapeType="1"/>
          </p:cNvSpPr>
          <p:nvPr/>
        </p:nvSpPr>
        <p:spPr bwMode="auto">
          <a:xfrm>
            <a:off x="785706" y="6917831"/>
            <a:ext cx="532835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21" name="Line 62"/>
          <p:cNvSpPr>
            <a:spLocks noChangeShapeType="1"/>
          </p:cNvSpPr>
          <p:nvPr/>
        </p:nvSpPr>
        <p:spPr bwMode="auto">
          <a:xfrm>
            <a:off x="4940018" y="6384995"/>
            <a:ext cx="0" cy="15352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22" name="Rectangle 63"/>
          <p:cNvSpPr>
            <a:spLocks noChangeArrowheads="1"/>
          </p:cNvSpPr>
          <p:nvPr/>
        </p:nvSpPr>
        <p:spPr bwMode="auto">
          <a:xfrm>
            <a:off x="743138" y="6536268"/>
            <a:ext cx="83697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23" name="Rectangle 64"/>
          <p:cNvSpPr>
            <a:spLocks noChangeArrowheads="1"/>
          </p:cNvSpPr>
          <p:nvPr/>
        </p:nvSpPr>
        <p:spPr bwMode="auto">
          <a:xfrm>
            <a:off x="1986479" y="6536268"/>
            <a:ext cx="1226707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24" name="Rectangle 65"/>
          <p:cNvSpPr>
            <a:spLocks noChangeArrowheads="1"/>
          </p:cNvSpPr>
          <p:nvPr/>
        </p:nvSpPr>
        <p:spPr bwMode="auto">
          <a:xfrm>
            <a:off x="5169922" y="6482081"/>
            <a:ext cx="800032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grpSp>
        <p:nvGrpSpPr>
          <p:cNvPr id="125" name="Group 70"/>
          <p:cNvGrpSpPr>
            <a:grpSpLocks/>
          </p:cNvGrpSpPr>
          <p:nvPr/>
        </p:nvGrpSpPr>
        <p:grpSpPr bwMode="auto">
          <a:xfrm>
            <a:off x="914401" y="6969759"/>
            <a:ext cx="5154506" cy="397369"/>
            <a:chOff x="405" y="3087"/>
            <a:chExt cx="2283" cy="176"/>
          </a:xfrm>
        </p:grpSpPr>
        <p:sp>
          <p:nvSpPr>
            <p:cNvPr id="126" name="Rectangle 66"/>
            <p:cNvSpPr>
              <a:spLocks noChangeArrowheads="1"/>
            </p:cNvSpPr>
            <p:nvPr/>
          </p:nvSpPr>
          <p:spPr bwMode="auto">
            <a:xfrm>
              <a:off x="405" y="3087"/>
              <a:ext cx="20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P1</a:t>
              </a:r>
            </a:p>
          </p:txBody>
        </p:sp>
        <p:sp>
          <p:nvSpPr>
            <p:cNvPr id="127" name="Rectangle 67"/>
            <p:cNvSpPr>
              <a:spLocks noChangeArrowheads="1"/>
            </p:cNvSpPr>
            <p:nvPr/>
          </p:nvSpPr>
          <p:spPr bwMode="auto">
            <a:xfrm>
              <a:off x="631" y="3087"/>
              <a:ext cx="899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Instrumentation</a:t>
              </a:r>
            </a:p>
          </p:txBody>
        </p:sp>
        <p:sp>
          <p:nvSpPr>
            <p:cNvPr id="128" name="Rectangle 68"/>
            <p:cNvSpPr>
              <a:spLocks noChangeArrowheads="1"/>
            </p:cNvSpPr>
            <p:nvPr/>
          </p:nvSpPr>
          <p:spPr bwMode="auto">
            <a:xfrm>
              <a:off x="1655" y="3087"/>
              <a:ext cx="494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150000</a:t>
              </a:r>
            </a:p>
          </p:txBody>
        </p:sp>
        <p:sp>
          <p:nvSpPr>
            <p:cNvPr id="129" name="Rectangle 69"/>
            <p:cNvSpPr>
              <a:spLocks noChangeArrowheads="1"/>
            </p:cNvSpPr>
            <p:nvPr/>
          </p:nvSpPr>
          <p:spPr bwMode="auto">
            <a:xfrm>
              <a:off x="2147" y="3087"/>
              <a:ext cx="541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Montreal</a:t>
              </a:r>
            </a:p>
          </p:txBody>
        </p:sp>
      </p:grpSp>
      <p:grpSp>
        <p:nvGrpSpPr>
          <p:cNvPr id="130" name="Group 75"/>
          <p:cNvGrpSpPr>
            <a:grpSpLocks/>
          </p:cNvGrpSpPr>
          <p:nvPr/>
        </p:nvGrpSpPr>
        <p:grpSpPr bwMode="auto">
          <a:xfrm>
            <a:off x="914401" y="7457439"/>
            <a:ext cx="5260622" cy="397369"/>
            <a:chOff x="405" y="3303"/>
            <a:chExt cx="2330" cy="176"/>
          </a:xfrm>
        </p:grpSpPr>
        <p:sp>
          <p:nvSpPr>
            <p:cNvPr id="131" name="Rectangle 71"/>
            <p:cNvSpPr>
              <a:spLocks noChangeArrowheads="1"/>
            </p:cNvSpPr>
            <p:nvPr/>
          </p:nvSpPr>
          <p:spPr bwMode="auto">
            <a:xfrm>
              <a:off x="405" y="3303"/>
              <a:ext cx="20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P2</a:t>
              </a:r>
            </a:p>
          </p:txBody>
        </p:sp>
        <p:sp>
          <p:nvSpPr>
            <p:cNvPr id="132" name="Rectangle 72"/>
            <p:cNvSpPr>
              <a:spLocks noChangeArrowheads="1"/>
            </p:cNvSpPr>
            <p:nvPr/>
          </p:nvSpPr>
          <p:spPr bwMode="auto">
            <a:xfrm>
              <a:off x="651" y="3303"/>
              <a:ext cx="1023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Database Develop.</a:t>
              </a:r>
            </a:p>
          </p:txBody>
        </p:sp>
        <p:sp>
          <p:nvSpPr>
            <p:cNvPr id="133" name="Rectangle 73"/>
            <p:cNvSpPr>
              <a:spLocks noChangeArrowheads="1"/>
            </p:cNvSpPr>
            <p:nvPr/>
          </p:nvSpPr>
          <p:spPr bwMode="auto">
            <a:xfrm>
              <a:off x="1687" y="3303"/>
              <a:ext cx="42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135000</a:t>
              </a:r>
            </a:p>
          </p:txBody>
        </p:sp>
        <p:sp>
          <p:nvSpPr>
            <p:cNvPr id="134" name="Rectangle 74"/>
            <p:cNvSpPr>
              <a:spLocks noChangeArrowheads="1"/>
            </p:cNvSpPr>
            <p:nvPr/>
          </p:nvSpPr>
          <p:spPr bwMode="auto">
            <a:xfrm>
              <a:off x="2149" y="3303"/>
              <a:ext cx="586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New York</a:t>
              </a:r>
            </a:p>
          </p:txBody>
        </p:sp>
      </p:grpSp>
      <p:sp>
        <p:nvSpPr>
          <p:cNvPr id="135" name="Rectangle 76"/>
          <p:cNvSpPr>
            <a:spLocks noChangeArrowheads="1"/>
          </p:cNvSpPr>
          <p:nvPr/>
        </p:nvSpPr>
        <p:spPr bwMode="auto">
          <a:xfrm>
            <a:off x="3694238" y="6536268"/>
            <a:ext cx="1324289" cy="43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36" name="Line 77"/>
          <p:cNvSpPr>
            <a:spLocks noChangeShapeType="1"/>
          </p:cNvSpPr>
          <p:nvPr/>
        </p:nvSpPr>
        <p:spPr bwMode="auto">
          <a:xfrm>
            <a:off x="1490133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37" name="Line 78"/>
          <p:cNvSpPr>
            <a:spLocks noChangeShapeType="1"/>
          </p:cNvSpPr>
          <p:nvPr/>
        </p:nvSpPr>
        <p:spPr bwMode="auto">
          <a:xfrm>
            <a:off x="1490133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38" name="Line 79"/>
          <p:cNvSpPr>
            <a:spLocks noChangeShapeType="1"/>
          </p:cNvSpPr>
          <p:nvPr/>
        </p:nvSpPr>
        <p:spPr bwMode="auto">
          <a:xfrm>
            <a:off x="1490133" y="6384996"/>
            <a:ext cx="0" cy="52380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39" name="Line 80"/>
          <p:cNvSpPr>
            <a:spLocks noChangeShapeType="1"/>
          </p:cNvSpPr>
          <p:nvPr/>
        </p:nvSpPr>
        <p:spPr bwMode="auto">
          <a:xfrm>
            <a:off x="1490133" y="6384995"/>
            <a:ext cx="0" cy="15352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0" name="Line 81"/>
          <p:cNvSpPr>
            <a:spLocks noChangeShapeType="1"/>
          </p:cNvSpPr>
          <p:nvPr/>
        </p:nvSpPr>
        <p:spPr bwMode="auto">
          <a:xfrm>
            <a:off x="3711787" y="6384995"/>
            <a:ext cx="0" cy="153528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1" name="Line 82"/>
          <p:cNvSpPr>
            <a:spLocks noChangeShapeType="1"/>
          </p:cNvSpPr>
          <p:nvPr/>
        </p:nvSpPr>
        <p:spPr bwMode="auto">
          <a:xfrm>
            <a:off x="3711787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2" name="Line 83"/>
          <p:cNvSpPr>
            <a:spLocks noChangeShapeType="1"/>
          </p:cNvSpPr>
          <p:nvPr/>
        </p:nvSpPr>
        <p:spPr bwMode="auto">
          <a:xfrm>
            <a:off x="3711787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3" name="Line 84"/>
          <p:cNvSpPr>
            <a:spLocks noChangeShapeType="1"/>
          </p:cNvSpPr>
          <p:nvPr/>
        </p:nvSpPr>
        <p:spPr bwMode="auto">
          <a:xfrm>
            <a:off x="3711787" y="6384995"/>
            <a:ext cx="0" cy="54186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4" name="Line 85"/>
          <p:cNvSpPr>
            <a:spLocks noChangeShapeType="1"/>
          </p:cNvSpPr>
          <p:nvPr/>
        </p:nvSpPr>
        <p:spPr bwMode="auto">
          <a:xfrm>
            <a:off x="7064588" y="6917831"/>
            <a:ext cx="5312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5" name="Line 86"/>
          <p:cNvSpPr>
            <a:spLocks noChangeShapeType="1"/>
          </p:cNvSpPr>
          <p:nvPr/>
        </p:nvSpPr>
        <p:spPr bwMode="auto">
          <a:xfrm>
            <a:off x="11194062" y="6384996"/>
            <a:ext cx="0" cy="195072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46" name="Rectangle 87"/>
          <p:cNvSpPr>
            <a:spLocks noChangeArrowheads="1"/>
          </p:cNvSpPr>
          <p:nvPr/>
        </p:nvSpPr>
        <p:spPr bwMode="auto">
          <a:xfrm>
            <a:off x="7145299" y="5827326"/>
            <a:ext cx="1098416" cy="49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400" baseline="-25000" dirty="0">
                <a:solidFill>
                  <a:srgbClr val="000000"/>
                </a:solidFill>
                <a:latin typeface="Book Antiqua"/>
              </a:rPr>
              <a:t>2</a:t>
            </a:r>
          </a:p>
        </p:txBody>
      </p:sp>
      <p:sp>
        <p:nvSpPr>
          <p:cNvPr id="147" name="Rectangle 17"/>
          <p:cNvSpPr>
            <a:spLocks noChangeArrowheads="1"/>
          </p:cNvSpPr>
          <p:nvPr/>
        </p:nvSpPr>
        <p:spPr bwMode="auto">
          <a:xfrm>
            <a:off x="11451455" y="4850836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48" name="Rectangle 21"/>
          <p:cNvSpPr>
            <a:spLocks noChangeArrowheads="1"/>
          </p:cNvSpPr>
          <p:nvPr/>
        </p:nvSpPr>
        <p:spPr bwMode="auto">
          <a:xfrm>
            <a:off x="11451455" y="4561841"/>
            <a:ext cx="13230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149" name="Rectangle 4"/>
          <p:cNvSpPr>
            <a:spLocks noChangeArrowheads="1"/>
          </p:cNvSpPr>
          <p:nvPr/>
        </p:nvSpPr>
        <p:spPr bwMode="auto">
          <a:xfrm>
            <a:off x="7378423" y="3679049"/>
            <a:ext cx="5346420" cy="212231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50" name="Rectangle 5"/>
          <p:cNvSpPr>
            <a:spLocks noChangeArrowheads="1"/>
          </p:cNvSpPr>
          <p:nvPr/>
        </p:nvSpPr>
        <p:spPr bwMode="auto">
          <a:xfrm>
            <a:off x="7378423" y="3200400"/>
            <a:ext cx="918916" cy="458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Book Antiqua"/>
              </a:rPr>
              <a:t>PROJ</a:t>
            </a:r>
            <a:endParaRPr lang="en-US" sz="1600" dirty="0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151" name="Rectangle 6"/>
          <p:cNvSpPr>
            <a:spLocks noChangeArrowheads="1"/>
          </p:cNvSpPr>
          <p:nvPr/>
        </p:nvSpPr>
        <p:spPr bwMode="auto">
          <a:xfrm>
            <a:off x="7373907" y="3753556"/>
            <a:ext cx="7608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152" name="Rectangle 7"/>
          <p:cNvSpPr>
            <a:spLocks noChangeArrowheads="1"/>
          </p:cNvSpPr>
          <p:nvPr/>
        </p:nvSpPr>
        <p:spPr bwMode="auto">
          <a:xfrm>
            <a:off x="8586334" y="3753556"/>
            <a:ext cx="114920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153" name="Rectangle 8"/>
          <p:cNvSpPr>
            <a:spLocks noChangeArrowheads="1"/>
          </p:cNvSpPr>
          <p:nvPr/>
        </p:nvSpPr>
        <p:spPr bwMode="auto">
          <a:xfrm>
            <a:off x="10295473" y="3753556"/>
            <a:ext cx="1246294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154" name="Rectangle 9"/>
          <p:cNvSpPr>
            <a:spLocks noChangeArrowheads="1"/>
          </p:cNvSpPr>
          <p:nvPr/>
        </p:nvSpPr>
        <p:spPr bwMode="auto">
          <a:xfrm>
            <a:off x="11769802" y="3753556"/>
            <a:ext cx="722489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155" name="Rectangle 10"/>
          <p:cNvSpPr>
            <a:spLocks noChangeArrowheads="1"/>
          </p:cNvSpPr>
          <p:nvPr/>
        </p:nvSpPr>
        <p:spPr bwMode="auto">
          <a:xfrm>
            <a:off x="7525178" y="4263814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P1</a:t>
            </a:r>
          </a:p>
        </p:txBody>
      </p:sp>
      <p:sp>
        <p:nvSpPr>
          <p:cNvPr id="156" name="Rectangle 11"/>
          <p:cNvSpPr>
            <a:spLocks noChangeArrowheads="1"/>
          </p:cNvSpPr>
          <p:nvPr/>
        </p:nvSpPr>
        <p:spPr bwMode="auto">
          <a:xfrm>
            <a:off x="8012858" y="4263814"/>
            <a:ext cx="2029401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Instrumentation</a:t>
            </a:r>
          </a:p>
        </p:txBody>
      </p:sp>
      <p:sp>
        <p:nvSpPr>
          <p:cNvPr id="157" name="Rectangle 12"/>
          <p:cNvSpPr>
            <a:spLocks noChangeArrowheads="1"/>
          </p:cNvSpPr>
          <p:nvPr/>
        </p:nvSpPr>
        <p:spPr bwMode="auto">
          <a:xfrm>
            <a:off x="10426424" y="4263814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150000</a:t>
            </a:r>
          </a:p>
        </p:txBody>
      </p:sp>
      <p:sp>
        <p:nvSpPr>
          <p:cNvPr id="158" name="Rectangle 13"/>
          <p:cNvSpPr>
            <a:spLocks noChangeArrowheads="1"/>
          </p:cNvSpPr>
          <p:nvPr/>
        </p:nvSpPr>
        <p:spPr bwMode="auto">
          <a:xfrm>
            <a:off x="11451455" y="4263814"/>
            <a:ext cx="122145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Montreal</a:t>
            </a:r>
          </a:p>
        </p:txBody>
      </p:sp>
      <p:sp>
        <p:nvSpPr>
          <p:cNvPr id="159" name="Rectangle 14"/>
          <p:cNvSpPr>
            <a:spLocks noChangeArrowheads="1"/>
          </p:cNvSpPr>
          <p:nvPr/>
        </p:nvSpPr>
        <p:spPr bwMode="auto">
          <a:xfrm>
            <a:off x="7510512" y="4796650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160" name="Rectangle 15"/>
          <p:cNvSpPr>
            <a:spLocks noChangeArrowheads="1"/>
          </p:cNvSpPr>
          <p:nvPr/>
        </p:nvSpPr>
        <p:spPr bwMode="auto">
          <a:xfrm>
            <a:off x="8012858" y="4796650"/>
            <a:ext cx="154208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61" name="Rectangle 16"/>
          <p:cNvSpPr>
            <a:spLocks noChangeArrowheads="1"/>
          </p:cNvSpPr>
          <p:nvPr/>
        </p:nvSpPr>
        <p:spPr bwMode="auto">
          <a:xfrm>
            <a:off x="10426424" y="4796650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162" name="Rectangle 18"/>
          <p:cNvSpPr>
            <a:spLocks noChangeArrowheads="1"/>
          </p:cNvSpPr>
          <p:nvPr/>
        </p:nvSpPr>
        <p:spPr bwMode="auto">
          <a:xfrm>
            <a:off x="7525178" y="4543778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P2</a:t>
            </a:r>
          </a:p>
        </p:txBody>
      </p:sp>
      <p:sp>
        <p:nvSpPr>
          <p:cNvPr id="163" name="Rectangle 19"/>
          <p:cNvSpPr>
            <a:spLocks noChangeArrowheads="1"/>
          </p:cNvSpPr>
          <p:nvPr/>
        </p:nvSpPr>
        <p:spPr bwMode="auto">
          <a:xfrm>
            <a:off x="8012858" y="4543778"/>
            <a:ext cx="2364429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Database Develop.</a:t>
            </a:r>
          </a:p>
        </p:txBody>
      </p:sp>
      <p:sp>
        <p:nvSpPr>
          <p:cNvPr id="164" name="Rectangle 20"/>
          <p:cNvSpPr>
            <a:spLocks noChangeArrowheads="1"/>
          </p:cNvSpPr>
          <p:nvPr/>
        </p:nvSpPr>
        <p:spPr bwMode="auto">
          <a:xfrm>
            <a:off x="10426424" y="4543778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135000</a:t>
            </a:r>
          </a:p>
        </p:txBody>
      </p:sp>
      <p:sp>
        <p:nvSpPr>
          <p:cNvPr id="165" name="Rectangle 22"/>
          <p:cNvSpPr>
            <a:spLocks noChangeArrowheads="1"/>
          </p:cNvSpPr>
          <p:nvPr/>
        </p:nvSpPr>
        <p:spPr bwMode="auto">
          <a:xfrm>
            <a:off x="7525178" y="5094676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166" name="Rectangle 23"/>
          <p:cNvSpPr>
            <a:spLocks noChangeArrowheads="1"/>
          </p:cNvSpPr>
          <p:nvPr/>
        </p:nvSpPr>
        <p:spPr bwMode="auto">
          <a:xfrm>
            <a:off x="8012858" y="5094676"/>
            <a:ext cx="1648178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167" name="Rectangle 24"/>
          <p:cNvSpPr>
            <a:spLocks noChangeArrowheads="1"/>
          </p:cNvSpPr>
          <p:nvPr/>
        </p:nvSpPr>
        <p:spPr bwMode="auto">
          <a:xfrm>
            <a:off x="10426424" y="5094676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168" name="Rectangle 25"/>
          <p:cNvSpPr>
            <a:spLocks noChangeArrowheads="1"/>
          </p:cNvSpPr>
          <p:nvPr/>
        </p:nvSpPr>
        <p:spPr bwMode="auto">
          <a:xfrm>
            <a:off x="11451455" y="5094676"/>
            <a:ext cx="74958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  <p:sp>
        <p:nvSpPr>
          <p:cNvPr id="169" name="Rectangle 26"/>
          <p:cNvSpPr>
            <a:spLocks noChangeArrowheads="1"/>
          </p:cNvSpPr>
          <p:nvPr/>
        </p:nvSpPr>
        <p:spPr bwMode="auto">
          <a:xfrm>
            <a:off x="7525178" y="5383672"/>
            <a:ext cx="465102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P5</a:t>
            </a:r>
          </a:p>
        </p:txBody>
      </p:sp>
      <p:sp>
        <p:nvSpPr>
          <p:cNvPr id="170" name="Rectangle 27"/>
          <p:cNvSpPr>
            <a:spLocks noChangeArrowheads="1"/>
          </p:cNvSpPr>
          <p:nvPr/>
        </p:nvSpPr>
        <p:spPr bwMode="auto">
          <a:xfrm>
            <a:off x="8012858" y="5383672"/>
            <a:ext cx="154208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171" name="Rectangle 28"/>
          <p:cNvSpPr>
            <a:spLocks noChangeArrowheads="1"/>
          </p:cNvSpPr>
          <p:nvPr/>
        </p:nvSpPr>
        <p:spPr bwMode="auto">
          <a:xfrm>
            <a:off x="10426424" y="5383672"/>
            <a:ext cx="952783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 algn="r"/>
            <a:r>
              <a:rPr lang="en-US" sz="2000" dirty="0">
                <a:solidFill>
                  <a:srgbClr val="000000"/>
                </a:solidFill>
                <a:latin typeface="Book Antiqua"/>
              </a:rPr>
              <a:t>500000</a:t>
            </a:r>
          </a:p>
        </p:txBody>
      </p:sp>
      <p:sp>
        <p:nvSpPr>
          <p:cNvPr id="172" name="Rectangle 29"/>
          <p:cNvSpPr>
            <a:spLocks noChangeArrowheads="1"/>
          </p:cNvSpPr>
          <p:nvPr/>
        </p:nvSpPr>
        <p:spPr bwMode="auto">
          <a:xfrm>
            <a:off x="11451455" y="5383672"/>
            <a:ext cx="964071" cy="397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Boston</a:t>
            </a:r>
          </a:p>
        </p:txBody>
      </p:sp>
      <p:sp>
        <p:nvSpPr>
          <p:cNvPr id="173" name="Line 88"/>
          <p:cNvSpPr>
            <a:spLocks noChangeShapeType="1"/>
          </p:cNvSpPr>
          <p:nvPr/>
        </p:nvSpPr>
        <p:spPr bwMode="auto">
          <a:xfrm>
            <a:off x="7378423" y="4196080"/>
            <a:ext cx="535319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4" name="Line 89"/>
          <p:cNvSpPr>
            <a:spLocks noChangeShapeType="1"/>
          </p:cNvSpPr>
          <p:nvPr/>
        </p:nvSpPr>
        <p:spPr bwMode="auto">
          <a:xfrm>
            <a:off x="8067045" y="3676791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5" name="Line 90"/>
          <p:cNvSpPr>
            <a:spLocks noChangeShapeType="1"/>
          </p:cNvSpPr>
          <p:nvPr/>
        </p:nvSpPr>
        <p:spPr bwMode="auto">
          <a:xfrm>
            <a:off x="10354175" y="3676791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sp>
        <p:nvSpPr>
          <p:cNvPr id="176" name="Line 91"/>
          <p:cNvSpPr>
            <a:spLocks noChangeShapeType="1"/>
          </p:cNvSpPr>
          <p:nvPr/>
        </p:nvSpPr>
        <p:spPr bwMode="auto">
          <a:xfrm>
            <a:off x="11442424" y="3676791"/>
            <a:ext cx="0" cy="2124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Book Antiqua"/>
            </a:endParaRPr>
          </a:p>
        </p:txBody>
      </p:sp>
      <p:pic>
        <p:nvPicPr>
          <p:cNvPr id="8601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400" y="3810000"/>
            <a:ext cx="5562600" cy="1638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3.8.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define the following  horizontal fragments based on the project location. The resulting fragments are shown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>
                <a:latin typeface="Book Antiqua"/>
              </a:rPr>
              <a:t>Ch.x/</a:t>
            </a:r>
            <a:fld id="{D01B99BC-F82C-D046-99BD-FBA1D66F1CB4}" type="slidenum">
              <a:rPr lang="en-US" smtClean="0">
                <a:latin typeface="Book Antiqua"/>
              </a:rPr>
              <a:pPr/>
              <a:t>18</a:t>
            </a:fld>
            <a:endParaRPr lang="en-US" dirty="0">
              <a:latin typeface="Book Antiqua"/>
            </a:endParaRPr>
          </a:p>
        </p:txBody>
      </p:sp>
      <p:pic>
        <p:nvPicPr>
          <p:cNvPr id="849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7200" y="3810000"/>
            <a:ext cx="5629275" cy="479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5000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800" y="4267200"/>
            <a:ext cx="560832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PHF – Algorithm</a:t>
            </a:r>
          </a:p>
        </p:txBody>
      </p:sp>
      <p:sp>
        <p:nvSpPr>
          <p:cNvPr id="44034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buNone/>
              <a:tabLst>
                <a:tab pos="1788132" algn="l"/>
              </a:tabLst>
            </a:pPr>
            <a:r>
              <a:rPr lang="en-US" dirty="0">
                <a:solidFill>
                  <a:schemeClr val="hlink"/>
                </a:solidFill>
              </a:rPr>
              <a:t>Given:</a:t>
            </a:r>
            <a:r>
              <a:rPr lang="en-US" dirty="0"/>
              <a:t>	A relation </a:t>
            </a:r>
            <a:r>
              <a:rPr lang="en-US" i="1" dirty="0"/>
              <a:t>R,</a:t>
            </a:r>
            <a:r>
              <a:rPr lang="en-US" dirty="0"/>
              <a:t> the set of simple predicates </a:t>
            </a:r>
            <a:r>
              <a:rPr lang="en-US" i="1" dirty="0" err="1"/>
              <a:t>Pr</a:t>
            </a:r>
            <a:endParaRPr lang="en-US" i="1" dirty="0"/>
          </a:p>
          <a:p>
            <a:pPr marL="1790700" indent="-1790700">
              <a:buNone/>
              <a:tabLst>
                <a:tab pos="1788132" algn="l"/>
              </a:tabLst>
            </a:pPr>
            <a:r>
              <a:rPr lang="en-US" dirty="0">
                <a:solidFill>
                  <a:schemeClr val="hlink"/>
                </a:solidFill>
              </a:rPr>
              <a:t>Output:</a:t>
            </a:r>
            <a:r>
              <a:rPr lang="en-US" dirty="0"/>
              <a:t>	The set of fragments of </a:t>
            </a:r>
            <a:r>
              <a:rPr lang="en-US" i="1" dirty="0"/>
              <a:t>R</a:t>
            </a:r>
            <a:r>
              <a:rPr lang="en-US" dirty="0"/>
              <a:t> = {</a:t>
            </a:r>
            <a:r>
              <a:rPr lang="en-US" i="1" dirty="0"/>
              <a:t>R</a:t>
            </a:r>
            <a:r>
              <a:rPr lang="en-US" i="1" baseline="-25000" dirty="0"/>
              <a:t>1</a:t>
            </a:r>
            <a:r>
              <a:rPr lang="en-US" i="1" dirty="0"/>
              <a:t>,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i="1" baseline="-25000" dirty="0"/>
              <a:t>2</a:t>
            </a:r>
            <a:r>
              <a:rPr lang="en-US" i="1" dirty="0"/>
              <a:t>,</a:t>
            </a:r>
            <a:r>
              <a:rPr lang="en-US" dirty="0"/>
              <a:t>…,</a:t>
            </a:r>
            <a:r>
              <a:rPr lang="en-US" i="1" dirty="0" err="1"/>
              <a:t>R</a:t>
            </a:r>
            <a:r>
              <a:rPr lang="en-US" i="1" baseline="-25000" dirty="0" err="1"/>
              <a:t>w</a:t>
            </a:r>
            <a:r>
              <a:rPr lang="en-US" dirty="0"/>
              <a:t>} </a:t>
            </a:r>
            <a:r>
              <a:rPr lang="en-US" dirty="0" smtClean="0"/>
              <a:t>which </a:t>
            </a:r>
            <a:r>
              <a:rPr lang="en-US" dirty="0"/>
              <a:t>obey the fragmentation rules.</a:t>
            </a:r>
          </a:p>
          <a:p>
            <a:pPr>
              <a:spcBef>
                <a:spcPct val="55000"/>
              </a:spcBef>
              <a:buNone/>
              <a:tabLst>
                <a:tab pos="1788132" algn="l"/>
              </a:tabLst>
            </a:pPr>
            <a:endParaRPr lang="en-US" dirty="0"/>
          </a:p>
          <a:p>
            <a:pPr>
              <a:spcBef>
                <a:spcPct val="55000"/>
              </a:spcBef>
              <a:buNone/>
              <a:tabLst>
                <a:tab pos="1788132" algn="l"/>
              </a:tabLst>
            </a:pPr>
            <a:r>
              <a:rPr lang="en-US" dirty="0"/>
              <a:t>Preliminaries :</a:t>
            </a:r>
          </a:p>
          <a:p>
            <a:pPr marL="975345" lvl="1" indent="-325115">
              <a:spcBef>
                <a:spcPct val="55000"/>
              </a:spcBef>
              <a:tabLst>
                <a:tab pos="1788132" algn="l"/>
              </a:tabLst>
            </a:pPr>
            <a:r>
              <a:rPr lang="en-US" i="1" dirty="0" err="1"/>
              <a:t>Pr</a:t>
            </a:r>
            <a:r>
              <a:rPr lang="en-US" dirty="0"/>
              <a:t>  should be </a:t>
            </a:r>
            <a:r>
              <a:rPr lang="en-US" i="1" dirty="0"/>
              <a:t>complete</a:t>
            </a:r>
          </a:p>
          <a:p>
            <a:pPr marL="975345" lvl="1" indent="-325115">
              <a:spcBef>
                <a:spcPct val="55000"/>
              </a:spcBef>
              <a:tabLst>
                <a:tab pos="1788132" algn="l"/>
              </a:tabLst>
            </a:pPr>
            <a:r>
              <a:rPr lang="en-US" i="1" dirty="0" err="1"/>
              <a:t>Pr</a:t>
            </a:r>
            <a:r>
              <a:rPr lang="en-US" dirty="0"/>
              <a:t>  should be </a:t>
            </a:r>
            <a:r>
              <a:rPr lang="en-US" i="1" dirty="0"/>
              <a:t>minimal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Completeness of Simple Predicates</a:t>
            </a:r>
          </a:p>
        </p:txBody>
      </p:sp>
      <p:sp>
        <p:nvSpPr>
          <p:cNvPr id="46082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tabLst>
                <a:tab pos="9103218" algn="l"/>
              </a:tabLst>
            </a:pPr>
            <a:r>
              <a:rPr lang="en-US" dirty="0"/>
              <a:t>A set of simple predicates </a:t>
            </a:r>
            <a:r>
              <a:rPr lang="en-US" i="1" dirty="0" err="1"/>
              <a:t>Pr</a:t>
            </a:r>
            <a:r>
              <a:rPr lang="en-US" dirty="0"/>
              <a:t> is said to be </a:t>
            </a:r>
            <a:r>
              <a:rPr lang="en-US" i="1" dirty="0">
                <a:solidFill>
                  <a:schemeClr val="hlink"/>
                </a:solidFill>
              </a:rPr>
              <a:t>complete</a:t>
            </a:r>
            <a:r>
              <a:rPr lang="en-US" dirty="0"/>
              <a:t> if and only if the accesses to the tuples of the </a:t>
            </a:r>
            <a:r>
              <a:rPr lang="en-US" dirty="0" err="1"/>
              <a:t>minterm</a:t>
            </a:r>
            <a:r>
              <a:rPr lang="en-US" dirty="0"/>
              <a:t> fragments defined on </a:t>
            </a:r>
            <a:r>
              <a:rPr lang="en-US" i="1" dirty="0" err="1"/>
              <a:t>Pr</a:t>
            </a:r>
            <a:r>
              <a:rPr lang="en-US" dirty="0"/>
              <a:t> requires that two tuples of the same </a:t>
            </a:r>
            <a:r>
              <a:rPr lang="en-US" dirty="0" err="1"/>
              <a:t>minterm</a:t>
            </a:r>
            <a:r>
              <a:rPr lang="en-US" dirty="0"/>
              <a:t> fragment have the same probability of being accessed by any application.</a:t>
            </a:r>
          </a:p>
          <a:p>
            <a:pPr>
              <a:buNone/>
              <a:tabLst>
                <a:tab pos="9103218" algn="l"/>
              </a:tabLst>
            </a:pPr>
            <a:endParaRPr lang="en-US" dirty="0"/>
          </a:p>
          <a:p>
            <a:pPr>
              <a:tabLst>
                <a:tab pos="9103218" algn="l"/>
              </a:tabLst>
            </a:pPr>
            <a:r>
              <a:rPr lang="en-US" dirty="0"/>
              <a:t>Example :</a:t>
            </a:r>
          </a:p>
          <a:p>
            <a:pPr marL="975345" lvl="1" indent="-325115">
              <a:tabLst>
                <a:tab pos="9103218" algn="l"/>
              </a:tabLst>
            </a:pPr>
            <a:r>
              <a:rPr lang="en-US" dirty="0"/>
              <a:t>Assume PROJ[PNO,PNAME,BUDGET,LOC] has two applications defined on it.</a:t>
            </a:r>
          </a:p>
          <a:p>
            <a:pPr marL="975345" lvl="1" indent="-325115">
              <a:tabLst>
                <a:tab pos="9103218" algn="l"/>
              </a:tabLst>
            </a:pPr>
            <a:r>
              <a:rPr lang="en-US" dirty="0"/>
              <a:t>Find the budgets of projects at each location.	(1)</a:t>
            </a:r>
          </a:p>
          <a:p>
            <a:pPr marL="975345" lvl="1" indent="-325115">
              <a:tabLst>
                <a:tab pos="9103218" algn="l"/>
              </a:tabLst>
            </a:pPr>
            <a:r>
              <a:rPr lang="en-US" dirty="0"/>
              <a:t>Find projects with budgets less than $200000.	(2)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Example (Completeness </a:t>
            </a:r>
            <a:r>
              <a:rPr lang="en-US" dirty="0"/>
              <a:t>of Simple </a:t>
            </a:r>
            <a:r>
              <a:rPr lang="en-US" dirty="0" smtClean="0"/>
              <a:t>Predicates)</a:t>
            </a:r>
            <a:endParaRPr lang="en-US" dirty="0"/>
          </a:p>
        </p:txBody>
      </p:sp>
      <p:sp>
        <p:nvSpPr>
          <p:cNvPr id="48130" name="Rectangle 2"/>
          <p:cNvSpPr>
            <a:spLocks noGrp="1" noChangeArrowheads="1"/>
          </p:cNvSpPr>
          <p:nvPr>
            <p:ph idx="1"/>
          </p:nvPr>
        </p:nvSpPr>
        <p:spPr>
          <a:xfrm>
            <a:off x="473496" y="2489200"/>
            <a:ext cx="12293600" cy="6769100"/>
          </a:xfrm>
          <a:noFill/>
          <a:ln/>
        </p:spPr>
        <p:txBody>
          <a:bodyPr/>
          <a:lstStyle/>
          <a:p>
            <a:pPr>
              <a:spcBef>
                <a:spcPct val="60000"/>
              </a:spcBef>
              <a:buFont typeface="Monotype Sorts" charset="0"/>
              <a:buNone/>
            </a:pPr>
            <a:r>
              <a:rPr lang="en-US" dirty="0"/>
              <a:t>According to (1),</a:t>
            </a:r>
          </a:p>
          <a:p>
            <a:pPr lvl="1">
              <a:spcBef>
                <a:spcPct val="60000"/>
              </a:spcBef>
              <a:buFont typeface="Monotype Sorts" charset="0"/>
              <a:buNone/>
            </a:pPr>
            <a:r>
              <a:rPr lang="en-US" i="1" dirty="0" err="1"/>
              <a:t>Pr</a:t>
            </a:r>
            <a:r>
              <a:rPr lang="en-US" dirty="0"/>
              <a:t>={LOC=“</a:t>
            </a:r>
            <a:r>
              <a:rPr lang="en-US" dirty="0" err="1"/>
              <a:t>Montreal”,LOC</a:t>
            </a:r>
            <a:r>
              <a:rPr lang="en-US" dirty="0"/>
              <a:t>=“New </a:t>
            </a:r>
            <a:r>
              <a:rPr lang="en-US" dirty="0" err="1"/>
              <a:t>York”,LOC</a:t>
            </a:r>
            <a:r>
              <a:rPr lang="en-US" dirty="0"/>
              <a:t>=“Paris”} </a:t>
            </a:r>
          </a:p>
          <a:p>
            <a:pPr>
              <a:spcBef>
                <a:spcPct val="60000"/>
              </a:spcBef>
              <a:buFont typeface="Monotype Sorts" charset="0"/>
              <a:buNone/>
            </a:pPr>
            <a:r>
              <a:rPr lang="en-US" dirty="0"/>
              <a:t>which is not complete with respect to (2). </a:t>
            </a:r>
          </a:p>
          <a:p>
            <a:pPr>
              <a:spcBef>
                <a:spcPct val="60000"/>
              </a:spcBef>
              <a:buFont typeface="Monotype Sorts" charset="0"/>
              <a:buNone/>
            </a:pPr>
            <a:r>
              <a:rPr lang="en-US" dirty="0"/>
              <a:t>Modify</a:t>
            </a:r>
          </a:p>
          <a:p>
            <a:pPr lvl="1">
              <a:spcBef>
                <a:spcPct val="60000"/>
              </a:spcBef>
              <a:buFont typeface="Monotype Sorts" charset="0"/>
              <a:buNone/>
            </a:pPr>
            <a:r>
              <a:rPr lang="en-US" i="1" dirty="0" err="1"/>
              <a:t>Pr</a:t>
            </a:r>
            <a:r>
              <a:rPr lang="en-US" dirty="0"/>
              <a:t> ={LOC=“</a:t>
            </a:r>
            <a:r>
              <a:rPr lang="en-US" dirty="0" err="1"/>
              <a:t>Montreal”,LOC</a:t>
            </a:r>
            <a:r>
              <a:rPr lang="en-US" dirty="0"/>
              <a:t>=“New </a:t>
            </a:r>
            <a:r>
              <a:rPr lang="en-US" dirty="0" err="1"/>
              <a:t>York”,LOC</a:t>
            </a:r>
            <a:r>
              <a:rPr lang="en-US" dirty="0"/>
              <a:t>=“Paris”, BUDGET≤200000,BUDGET&gt;200000}</a:t>
            </a:r>
          </a:p>
          <a:p>
            <a:pPr>
              <a:spcBef>
                <a:spcPct val="60000"/>
              </a:spcBef>
              <a:buFont typeface="Monotype Sorts" charset="0"/>
              <a:buNone/>
            </a:pPr>
            <a:r>
              <a:rPr lang="en-US" dirty="0"/>
              <a:t> which is complete.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Minimality of Simple Predicates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If a predicate influences how fragmentation is performed, (i.e., causes a fragment </a:t>
            </a:r>
            <a:r>
              <a:rPr lang="en-US" i="1" dirty="0"/>
              <a:t>f</a:t>
            </a:r>
            <a:r>
              <a:rPr lang="en-US" dirty="0"/>
              <a:t> to be further fragmented into, say,</a:t>
            </a:r>
            <a:r>
              <a:rPr lang="en-US" i="1" dirty="0"/>
              <a:t> f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and</a:t>
            </a:r>
            <a:r>
              <a:rPr lang="en-US" i="1" dirty="0"/>
              <a:t> </a:t>
            </a:r>
            <a:r>
              <a:rPr lang="en-US" i="1" dirty="0" err="1"/>
              <a:t>f</a:t>
            </a:r>
            <a:r>
              <a:rPr lang="en-US" i="1" baseline="-25000" dirty="0" err="1"/>
              <a:t>j</a:t>
            </a:r>
            <a:r>
              <a:rPr lang="en-US" dirty="0"/>
              <a:t>) then there should be at least one application that accesses </a:t>
            </a:r>
            <a:r>
              <a:rPr lang="en-US" i="1" dirty="0"/>
              <a:t>f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 and</a:t>
            </a:r>
            <a:r>
              <a:rPr lang="en-US" i="1" dirty="0"/>
              <a:t> </a:t>
            </a:r>
            <a:r>
              <a:rPr lang="en-US" i="1" dirty="0" err="1"/>
              <a:t>f</a:t>
            </a:r>
            <a:r>
              <a:rPr lang="en-US" i="1" baseline="-25000" dirty="0" err="1"/>
              <a:t>j</a:t>
            </a:r>
            <a:r>
              <a:rPr lang="en-US" dirty="0"/>
              <a:t> differently. </a:t>
            </a:r>
          </a:p>
          <a:p>
            <a:r>
              <a:rPr lang="en-US" dirty="0"/>
              <a:t>In other words, the simple predicate should be </a:t>
            </a:r>
            <a:r>
              <a:rPr lang="en-US" i="1" dirty="0"/>
              <a:t>relevant</a:t>
            </a:r>
            <a:r>
              <a:rPr lang="en-US" dirty="0"/>
              <a:t> in determining a fragmentation. </a:t>
            </a:r>
          </a:p>
          <a:p>
            <a:r>
              <a:rPr lang="en-US" dirty="0"/>
              <a:t>If all the predicates of a set </a:t>
            </a:r>
            <a:r>
              <a:rPr lang="en-US" i="1" dirty="0" err="1"/>
              <a:t>Pr</a:t>
            </a:r>
            <a:r>
              <a:rPr lang="en-US" dirty="0"/>
              <a:t> are relevant, then </a:t>
            </a:r>
            <a:r>
              <a:rPr lang="en-US" i="1" dirty="0" err="1"/>
              <a:t>Pr</a:t>
            </a:r>
            <a:r>
              <a:rPr lang="en-US" dirty="0"/>
              <a:t> is </a:t>
            </a:r>
            <a:r>
              <a:rPr lang="en-US" i="1" dirty="0"/>
              <a:t>minimal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 smtClean="0"/>
              <a:t>Example (</a:t>
            </a:r>
            <a:r>
              <a:rPr lang="en-US" dirty="0" err="1" smtClean="0"/>
              <a:t>Minimality</a:t>
            </a:r>
            <a:r>
              <a:rPr lang="en-US" dirty="0" smtClean="0"/>
              <a:t> </a:t>
            </a:r>
            <a:r>
              <a:rPr lang="en-US" dirty="0"/>
              <a:t>of Simple </a:t>
            </a:r>
            <a:r>
              <a:rPr lang="en-US" dirty="0" smtClean="0"/>
              <a:t>Predicates)</a:t>
            </a:r>
            <a:endParaRPr lang="en-US" dirty="0"/>
          </a:p>
        </p:txBody>
      </p:sp>
      <p:sp>
        <p:nvSpPr>
          <p:cNvPr id="52226" name="Rectangle 2"/>
          <p:cNvSpPr>
            <a:spLocks noGrp="1" noChangeArrowheads="1"/>
          </p:cNvSpPr>
          <p:nvPr>
            <p:ph idx="1"/>
          </p:nvPr>
        </p:nvSpPr>
        <p:spPr>
          <a:xfrm>
            <a:off x="473496" y="2489200"/>
            <a:ext cx="12293600" cy="6769100"/>
          </a:xfrm>
          <a:noFill/>
          <a:ln/>
        </p:spPr>
        <p:txBody>
          <a:bodyPr/>
          <a:lstStyle/>
          <a:p>
            <a:pPr marL="0" indent="0">
              <a:spcBef>
                <a:spcPct val="70000"/>
              </a:spcBef>
              <a:buNone/>
            </a:pPr>
            <a:r>
              <a:rPr lang="en-US" dirty="0"/>
              <a:t>Example :</a:t>
            </a:r>
          </a:p>
          <a:p>
            <a:pPr marL="975345" lvl="1" indent="-325115">
              <a:spcBef>
                <a:spcPct val="70000"/>
              </a:spcBef>
              <a:buNone/>
            </a:pPr>
            <a:r>
              <a:rPr lang="en-US" i="1" dirty="0" err="1"/>
              <a:t>Pr</a:t>
            </a:r>
            <a:r>
              <a:rPr lang="en-US" dirty="0"/>
              <a:t> ={LOC=“</a:t>
            </a:r>
            <a:r>
              <a:rPr lang="en-US" dirty="0" err="1"/>
              <a:t>Montreal”,LOC</a:t>
            </a:r>
            <a:r>
              <a:rPr lang="en-US" dirty="0"/>
              <a:t>=“New York”, LOC=“Paris”, </a:t>
            </a:r>
          </a:p>
          <a:p>
            <a:pPr lvl="2">
              <a:lnSpc>
                <a:spcPct val="100000"/>
              </a:lnSpc>
              <a:spcBef>
                <a:spcPct val="40000"/>
              </a:spcBef>
              <a:buFont typeface="Monotype Sorts" charset="0"/>
              <a:buNone/>
            </a:pPr>
            <a:r>
              <a:rPr lang="en-US" dirty="0"/>
              <a:t>BUDGET≤200000,BUDGET&gt;200000}</a:t>
            </a:r>
          </a:p>
          <a:p>
            <a:pPr marL="0" indent="0">
              <a:spcBef>
                <a:spcPct val="70000"/>
              </a:spcBef>
              <a:buNone/>
            </a:pPr>
            <a:r>
              <a:rPr lang="en-US" dirty="0"/>
              <a:t>is minimal (in addition to being complete). However, if we add</a:t>
            </a:r>
          </a:p>
          <a:p>
            <a:pPr marL="975345" lvl="1" indent="-325115">
              <a:spcBef>
                <a:spcPct val="70000"/>
              </a:spcBef>
              <a:buNone/>
            </a:pPr>
            <a:r>
              <a:rPr lang="en-US" dirty="0"/>
              <a:t>PNAME = “Instrumentation”</a:t>
            </a:r>
          </a:p>
          <a:p>
            <a:pPr marL="0" indent="0">
              <a:spcBef>
                <a:spcPct val="70000"/>
              </a:spcBef>
              <a:buNone/>
            </a:pPr>
            <a:r>
              <a:rPr lang="en-US" dirty="0"/>
              <a:t>then </a:t>
            </a:r>
            <a:r>
              <a:rPr lang="en-US" i="1" dirty="0" err="1"/>
              <a:t>Pr</a:t>
            </a:r>
            <a:r>
              <a:rPr lang="en-US" dirty="0"/>
              <a:t>  is not minimal.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PHF – </a:t>
            </a:r>
            <a:r>
              <a:rPr lang="en-US" dirty="0" smtClean="0"/>
              <a:t>Example1</a:t>
            </a:r>
            <a:endParaRPr lang="en-US" dirty="0"/>
          </a:p>
        </p:txBody>
      </p:sp>
      <p:sp>
        <p:nvSpPr>
          <p:cNvPr id="604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Two candidate relations : PAY and PROJ.</a:t>
            </a:r>
          </a:p>
          <a:p>
            <a:r>
              <a:rPr lang="en-US" dirty="0">
                <a:solidFill>
                  <a:schemeClr val="tx2"/>
                </a:solidFill>
              </a:rPr>
              <a:t>Fragmentation of relation PAY</a:t>
            </a:r>
            <a:r>
              <a:rPr lang="en-US" dirty="0">
                <a:solidFill>
                  <a:schemeClr val="bg2"/>
                </a:solidFill>
              </a:rPr>
              <a:t> 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Application: Check the salary info and determine raise.</a:t>
            </a:r>
          </a:p>
          <a:p>
            <a:pPr lvl="1"/>
            <a:r>
              <a:rPr lang="en-US" dirty="0"/>
              <a:t>Employee records kept at two sites </a:t>
            </a:r>
            <a:r>
              <a:rPr lang="en-US" dirty="0">
                <a:latin typeface="Symbol" charset="0"/>
              </a:rPr>
              <a:t></a:t>
            </a:r>
            <a:r>
              <a:rPr lang="en-US" dirty="0"/>
              <a:t> application run at two sites</a:t>
            </a:r>
          </a:p>
          <a:p>
            <a:pPr lvl="1"/>
            <a:r>
              <a:rPr lang="en-US" dirty="0"/>
              <a:t>Simple predicates</a:t>
            </a:r>
          </a:p>
          <a:p>
            <a:pPr lvl="2">
              <a:buFont typeface="Monotype Sorts" charset="0"/>
              <a:buNone/>
            </a:pP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:  SAL ≤ 30000</a:t>
            </a:r>
          </a:p>
          <a:p>
            <a:pPr lvl="2">
              <a:buFont typeface="Monotype Sorts" charset="0"/>
              <a:buNone/>
            </a:pP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:  SAL &gt; 30000</a:t>
            </a:r>
          </a:p>
          <a:p>
            <a:pPr lvl="2">
              <a:buFont typeface="Monotype Sorts" charset="0"/>
              <a:buNone/>
            </a:pPr>
            <a:r>
              <a:rPr lang="en-US" i="1" dirty="0"/>
              <a:t>Pr</a:t>
            </a:r>
            <a:r>
              <a:rPr lang="en-US" dirty="0"/>
              <a:t> = {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} which is complete and </a:t>
            </a:r>
            <a:r>
              <a:rPr lang="en-US" dirty="0" smtClean="0"/>
              <a:t>minimal</a:t>
            </a:r>
            <a:endParaRPr lang="en-US" i="1" dirty="0"/>
          </a:p>
          <a:p>
            <a:pPr lvl="1"/>
            <a:r>
              <a:rPr lang="en-US" dirty="0" err="1"/>
              <a:t>Minterm</a:t>
            </a:r>
            <a:r>
              <a:rPr lang="en-US" dirty="0"/>
              <a:t> predicates</a:t>
            </a:r>
          </a:p>
          <a:p>
            <a:pPr lvl="2">
              <a:buFont typeface="Monotype Sorts" charset="0"/>
              <a:buNone/>
            </a:pPr>
            <a:r>
              <a:rPr lang="en-US" i="1" dirty="0"/>
              <a:t>m</a:t>
            </a:r>
            <a:r>
              <a:rPr lang="en-US" baseline="-25000" dirty="0"/>
              <a:t>1</a:t>
            </a:r>
            <a:r>
              <a:rPr lang="en-US" dirty="0"/>
              <a:t> : (SAL ≤ 30000)</a:t>
            </a:r>
          </a:p>
          <a:p>
            <a:pPr lvl="2">
              <a:buFont typeface="Monotype Sorts" charset="0"/>
              <a:buNone/>
            </a:pPr>
            <a:r>
              <a:rPr lang="en-US" i="1" dirty="0"/>
              <a:t>m</a:t>
            </a:r>
            <a:r>
              <a:rPr lang="en-US" baseline="-25000" dirty="0"/>
              <a:t>2</a:t>
            </a:r>
            <a:r>
              <a:rPr lang="en-US" dirty="0"/>
              <a:t> : </a:t>
            </a:r>
            <a:r>
              <a:rPr lang="en-US" b="1" dirty="0"/>
              <a:t>NOT</a:t>
            </a:r>
            <a:r>
              <a:rPr lang="en-US" dirty="0"/>
              <a:t>(SAL ≤ 30000) </a:t>
            </a:r>
            <a:r>
              <a:rPr lang="en-US" dirty="0">
                <a:latin typeface="Symbol" charset="0"/>
              </a:rPr>
              <a:t>=</a:t>
            </a:r>
            <a:r>
              <a:rPr lang="en-US" dirty="0"/>
              <a:t> (SAL &gt; 30000)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PHF – </a:t>
            </a:r>
            <a:r>
              <a:rPr lang="en-US" dirty="0" smtClean="0"/>
              <a:t>Example1</a:t>
            </a:r>
            <a:endParaRPr lang="en-US" dirty="0"/>
          </a:p>
        </p:txBody>
      </p:sp>
      <p:grpSp>
        <p:nvGrpSpPr>
          <p:cNvPr id="62477" name="Group 13"/>
          <p:cNvGrpSpPr>
            <a:grpSpLocks/>
          </p:cNvGrpSpPr>
          <p:nvPr/>
        </p:nvGrpSpPr>
        <p:grpSpPr bwMode="auto">
          <a:xfrm>
            <a:off x="2377441" y="4319129"/>
            <a:ext cx="3314418" cy="1770098"/>
            <a:chOff x="1216" y="3232"/>
            <a:chExt cx="1468" cy="784"/>
          </a:xfrm>
          <a:noFill/>
        </p:grpSpPr>
        <p:sp>
          <p:nvSpPr>
            <p:cNvPr id="62468" name="Rectangle 4"/>
            <p:cNvSpPr>
              <a:spLocks noChangeArrowheads="1"/>
            </p:cNvSpPr>
            <p:nvPr/>
          </p:nvSpPr>
          <p:spPr bwMode="auto">
            <a:xfrm>
              <a:off x="1216" y="3232"/>
              <a:ext cx="1468" cy="784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2469" name="Line 5"/>
            <p:cNvSpPr>
              <a:spLocks noChangeShapeType="1"/>
            </p:cNvSpPr>
            <p:nvPr/>
          </p:nvSpPr>
          <p:spPr bwMode="auto">
            <a:xfrm>
              <a:off x="1216" y="3520"/>
              <a:ext cx="1468" cy="0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2470" name="Line 6"/>
            <p:cNvSpPr>
              <a:spLocks noChangeShapeType="1"/>
            </p:cNvSpPr>
            <p:nvPr/>
          </p:nvSpPr>
          <p:spPr bwMode="auto">
            <a:xfrm>
              <a:off x="2128" y="3240"/>
              <a:ext cx="0" cy="776"/>
            </a:xfrm>
            <a:prstGeom prst="line">
              <a:avLst/>
            </a:prstGeom>
            <a:grp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2471" name="Rectangle 7"/>
            <p:cNvSpPr>
              <a:spLocks noChangeArrowheads="1"/>
            </p:cNvSpPr>
            <p:nvPr/>
          </p:nvSpPr>
          <p:spPr bwMode="auto">
            <a:xfrm>
              <a:off x="1306" y="3262"/>
              <a:ext cx="492" cy="21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TITLE</a:t>
              </a:r>
            </a:p>
          </p:txBody>
        </p:sp>
        <p:sp>
          <p:nvSpPr>
            <p:cNvPr id="62472" name="Rectangle 8"/>
            <p:cNvSpPr>
              <a:spLocks noChangeArrowheads="1"/>
            </p:cNvSpPr>
            <p:nvPr/>
          </p:nvSpPr>
          <p:spPr bwMode="auto">
            <a:xfrm>
              <a:off x="1242" y="3510"/>
              <a:ext cx="812" cy="21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Mech. Eng.</a:t>
              </a:r>
            </a:p>
          </p:txBody>
        </p:sp>
        <p:sp>
          <p:nvSpPr>
            <p:cNvPr id="62473" name="Rectangle 9"/>
            <p:cNvSpPr>
              <a:spLocks noChangeArrowheads="1"/>
            </p:cNvSpPr>
            <p:nvPr/>
          </p:nvSpPr>
          <p:spPr bwMode="auto">
            <a:xfrm>
              <a:off x="1229" y="3750"/>
              <a:ext cx="911" cy="21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Programmer</a:t>
              </a:r>
            </a:p>
          </p:txBody>
        </p:sp>
        <p:sp>
          <p:nvSpPr>
            <p:cNvPr id="62474" name="Rectangle 10"/>
            <p:cNvSpPr>
              <a:spLocks noChangeArrowheads="1"/>
            </p:cNvSpPr>
            <p:nvPr/>
          </p:nvSpPr>
          <p:spPr bwMode="auto">
            <a:xfrm>
              <a:off x="2214" y="3250"/>
              <a:ext cx="364" cy="21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SAL</a:t>
              </a:r>
            </a:p>
          </p:txBody>
        </p:sp>
        <p:sp>
          <p:nvSpPr>
            <p:cNvPr id="62475" name="Rectangle 11"/>
            <p:cNvSpPr>
              <a:spLocks noChangeArrowheads="1"/>
            </p:cNvSpPr>
            <p:nvPr/>
          </p:nvSpPr>
          <p:spPr bwMode="auto">
            <a:xfrm>
              <a:off x="2191" y="3510"/>
              <a:ext cx="450" cy="21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27000</a:t>
              </a:r>
            </a:p>
          </p:txBody>
        </p:sp>
        <p:sp>
          <p:nvSpPr>
            <p:cNvPr id="62476" name="Rectangle 12"/>
            <p:cNvSpPr>
              <a:spLocks noChangeArrowheads="1"/>
            </p:cNvSpPr>
            <p:nvPr/>
          </p:nvSpPr>
          <p:spPr bwMode="auto">
            <a:xfrm>
              <a:off x="2191" y="3750"/>
              <a:ext cx="450" cy="21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24000</a:t>
              </a:r>
            </a:p>
          </p:txBody>
        </p:sp>
      </p:grpSp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2370689" y="3793067"/>
            <a:ext cx="1002279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chemeClr val="tx2"/>
                </a:solidFill>
                <a:latin typeface="Book Antiqua"/>
              </a:rPr>
              <a:t>PAY</a:t>
            </a:r>
            <a:r>
              <a:rPr lang="en-US" sz="2600" baseline="-25000" dirty="0">
                <a:solidFill>
                  <a:schemeClr val="tx2"/>
                </a:solidFill>
                <a:latin typeface="Book Antiqua"/>
              </a:rPr>
              <a:t>1</a:t>
            </a:r>
          </a:p>
        </p:txBody>
      </p:sp>
      <p:sp>
        <p:nvSpPr>
          <p:cNvPr id="62480" name="Rectangle 16"/>
          <p:cNvSpPr>
            <a:spLocks noChangeArrowheads="1"/>
          </p:cNvSpPr>
          <p:nvPr/>
        </p:nvSpPr>
        <p:spPr bwMode="auto">
          <a:xfrm>
            <a:off x="7247489" y="3793067"/>
            <a:ext cx="1002279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chemeClr val="tx2"/>
                </a:solidFill>
                <a:latin typeface="Book Antiqua"/>
              </a:rPr>
              <a:t>PAY</a:t>
            </a:r>
            <a:r>
              <a:rPr lang="en-US" sz="2600" baseline="-25000" dirty="0">
                <a:solidFill>
                  <a:schemeClr val="tx2"/>
                </a:solidFill>
                <a:latin typeface="Book Antiqua"/>
              </a:rPr>
              <a:t>2</a:t>
            </a:r>
          </a:p>
        </p:txBody>
      </p: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7200054" y="4319129"/>
            <a:ext cx="3314418" cy="177009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2482" name="Line 18"/>
          <p:cNvSpPr>
            <a:spLocks noChangeShapeType="1"/>
          </p:cNvSpPr>
          <p:nvPr/>
        </p:nvSpPr>
        <p:spPr bwMode="auto">
          <a:xfrm>
            <a:off x="7200054" y="4969370"/>
            <a:ext cx="331441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2483" name="Line 19"/>
          <p:cNvSpPr>
            <a:spLocks noChangeShapeType="1"/>
          </p:cNvSpPr>
          <p:nvPr/>
        </p:nvSpPr>
        <p:spPr bwMode="auto">
          <a:xfrm>
            <a:off x="9259147" y="4337192"/>
            <a:ext cx="0" cy="1752036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2484" name="Rectangle 20"/>
          <p:cNvSpPr>
            <a:spLocks noChangeArrowheads="1"/>
          </p:cNvSpPr>
          <p:nvPr/>
        </p:nvSpPr>
        <p:spPr bwMode="auto">
          <a:xfrm>
            <a:off x="7364562" y="4386864"/>
            <a:ext cx="1188210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TITLE</a:t>
            </a:r>
          </a:p>
        </p:txBody>
      </p:sp>
      <p:sp>
        <p:nvSpPr>
          <p:cNvPr id="62485" name="Rectangle 21"/>
          <p:cNvSpPr>
            <a:spLocks noChangeArrowheads="1"/>
          </p:cNvSpPr>
          <p:nvPr/>
        </p:nvSpPr>
        <p:spPr bwMode="auto">
          <a:xfrm>
            <a:off x="7234146" y="4946793"/>
            <a:ext cx="1810287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Elect. Eng.</a:t>
            </a:r>
          </a:p>
        </p:txBody>
      </p:sp>
      <p:sp>
        <p:nvSpPr>
          <p:cNvPr id="62486" name="Rectangle 22"/>
          <p:cNvSpPr>
            <a:spLocks noChangeArrowheads="1"/>
          </p:cNvSpPr>
          <p:nvPr/>
        </p:nvSpPr>
        <p:spPr bwMode="auto">
          <a:xfrm>
            <a:off x="7217544" y="5488659"/>
            <a:ext cx="1825428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Syst. Anal.</a:t>
            </a:r>
          </a:p>
        </p:txBody>
      </p:sp>
      <p:sp>
        <p:nvSpPr>
          <p:cNvPr id="62487" name="Rectangle 23"/>
          <p:cNvSpPr>
            <a:spLocks noChangeArrowheads="1"/>
          </p:cNvSpPr>
          <p:nvPr/>
        </p:nvSpPr>
        <p:spPr bwMode="auto">
          <a:xfrm>
            <a:off x="9415268" y="4359771"/>
            <a:ext cx="897928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SAL</a:t>
            </a:r>
          </a:p>
        </p:txBody>
      </p:sp>
      <p:sp>
        <p:nvSpPr>
          <p:cNvPr id="62488" name="Rectangle 24"/>
          <p:cNvSpPr>
            <a:spLocks noChangeArrowheads="1"/>
          </p:cNvSpPr>
          <p:nvPr/>
        </p:nvSpPr>
        <p:spPr bwMode="auto">
          <a:xfrm>
            <a:off x="9362658" y="4946793"/>
            <a:ext cx="1093457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40000</a:t>
            </a:r>
          </a:p>
        </p:txBody>
      </p:sp>
      <p:sp>
        <p:nvSpPr>
          <p:cNvPr id="62489" name="Rectangle 25"/>
          <p:cNvSpPr>
            <a:spLocks noChangeArrowheads="1"/>
          </p:cNvSpPr>
          <p:nvPr/>
        </p:nvSpPr>
        <p:spPr bwMode="auto">
          <a:xfrm>
            <a:off x="9362658" y="5488659"/>
            <a:ext cx="1093457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34000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PHF – </a:t>
            </a:r>
            <a:r>
              <a:rPr lang="en-US" dirty="0" smtClean="0"/>
              <a:t>Example2</a:t>
            </a:r>
            <a:endParaRPr lang="en-US" dirty="0"/>
          </a:p>
        </p:txBody>
      </p:sp>
      <p:sp>
        <p:nvSpPr>
          <p:cNvPr id="64514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>
                <a:solidFill>
                  <a:schemeClr val="tx2"/>
                </a:solidFill>
              </a:rPr>
              <a:t>Fragmentation of relation PROJ </a:t>
            </a:r>
            <a:endParaRPr lang="en-US" dirty="0"/>
          </a:p>
          <a:p>
            <a:pPr marL="1056623" lvl="1">
              <a:lnSpc>
                <a:spcPct val="8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Application:</a:t>
            </a:r>
            <a:endParaRPr lang="en-US" b="1" dirty="0">
              <a:solidFill>
                <a:srgbClr val="FF0000"/>
              </a:solidFill>
            </a:endParaRPr>
          </a:p>
          <a:p>
            <a:pPr marL="1633196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Find the name and budget of projects given their no.</a:t>
            </a:r>
          </a:p>
          <a:p>
            <a:pPr marL="2096740" lvl="3" indent="-514350">
              <a:lnSpc>
                <a:spcPct val="80000"/>
              </a:lnSpc>
            </a:pPr>
            <a:r>
              <a:rPr lang="en-US" sz="2600" b="1" dirty="0">
                <a:solidFill>
                  <a:srgbClr val="FF0000"/>
                </a:solidFill>
              </a:rPr>
              <a:t>Issued at three sites</a:t>
            </a:r>
          </a:p>
          <a:p>
            <a:pPr marL="1633196" lvl="2" indent="-457200">
              <a:lnSpc>
                <a:spcPct val="80000"/>
              </a:lnSpc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Access project information according to budget 	</a:t>
            </a:r>
          </a:p>
          <a:p>
            <a:pPr marL="2096740" lvl="3" indent="-514350">
              <a:lnSpc>
                <a:spcPct val="80000"/>
              </a:lnSpc>
            </a:pPr>
            <a:r>
              <a:rPr lang="en-US" sz="2600" b="1" dirty="0">
                <a:solidFill>
                  <a:srgbClr val="FF0000"/>
                </a:solidFill>
              </a:rPr>
              <a:t>one site accesses ≤200000 other accesses &gt;200000</a:t>
            </a:r>
          </a:p>
          <a:p>
            <a:pPr marL="1056623" lvl="1">
              <a:lnSpc>
                <a:spcPct val="80000"/>
              </a:lnSpc>
            </a:pPr>
            <a:r>
              <a:rPr lang="en-US" dirty="0"/>
              <a:t>Simple predicates</a:t>
            </a:r>
          </a:p>
          <a:p>
            <a:pPr marL="1056623" lvl="1">
              <a:lnSpc>
                <a:spcPct val="80000"/>
              </a:lnSpc>
            </a:pPr>
            <a:r>
              <a:rPr lang="en-US" dirty="0" smtClean="0"/>
              <a:t>For point (1</a:t>
            </a:r>
            <a:r>
              <a:rPr lang="en-US" dirty="0"/>
              <a:t>)</a:t>
            </a:r>
          </a:p>
          <a:p>
            <a:pPr marL="1544296" lvl="2">
              <a:lnSpc>
                <a:spcPct val="80000"/>
              </a:lnSpc>
              <a:buNone/>
            </a:pP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: LOC = “Montreal”</a:t>
            </a:r>
          </a:p>
          <a:p>
            <a:pPr marL="1544296" lvl="2">
              <a:lnSpc>
                <a:spcPct val="80000"/>
              </a:lnSpc>
              <a:buNone/>
            </a:pP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 : LOC = “New York”</a:t>
            </a:r>
          </a:p>
          <a:p>
            <a:pPr marL="1544296" lvl="2">
              <a:lnSpc>
                <a:spcPct val="80000"/>
              </a:lnSpc>
              <a:buNone/>
            </a:pP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 : LOC = “Paris”</a:t>
            </a:r>
          </a:p>
          <a:p>
            <a:pPr marL="1056623" lvl="1">
              <a:lnSpc>
                <a:spcPct val="80000"/>
              </a:lnSpc>
            </a:pPr>
            <a:r>
              <a:rPr lang="en-US" dirty="0"/>
              <a:t>For </a:t>
            </a:r>
            <a:r>
              <a:rPr lang="en-US" dirty="0" smtClean="0"/>
              <a:t>point </a:t>
            </a:r>
            <a:r>
              <a:rPr lang="en-US" dirty="0"/>
              <a:t>(2)</a:t>
            </a:r>
          </a:p>
          <a:p>
            <a:pPr marL="1544296" lvl="2">
              <a:lnSpc>
                <a:spcPct val="80000"/>
              </a:lnSpc>
              <a:buNone/>
            </a:pPr>
            <a:r>
              <a:rPr lang="en-US" i="1" dirty="0"/>
              <a:t>p</a:t>
            </a:r>
            <a:r>
              <a:rPr lang="en-US" baseline="-25000" dirty="0"/>
              <a:t>4</a:t>
            </a:r>
            <a:r>
              <a:rPr lang="en-US" dirty="0"/>
              <a:t> : BUDGET ≤ 200000</a:t>
            </a:r>
          </a:p>
          <a:p>
            <a:pPr marL="1544296" lvl="2">
              <a:lnSpc>
                <a:spcPct val="80000"/>
              </a:lnSpc>
              <a:buNone/>
            </a:pPr>
            <a:r>
              <a:rPr lang="en-US" i="1" dirty="0"/>
              <a:t>p</a:t>
            </a:r>
            <a:r>
              <a:rPr lang="en-US" baseline="-25000" dirty="0"/>
              <a:t>5</a:t>
            </a:r>
            <a:r>
              <a:rPr lang="en-US" dirty="0"/>
              <a:t> : BUDGET &gt; 200000</a:t>
            </a:r>
          </a:p>
          <a:p>
            <a:pPr marL="1056623" lvl="1">
              <a:lnSpc>
                <a:spcPct val="80000"/>
              </a:lnSpc>
            </a:pPr>
            <a:r>
              <a:rPr lang="en-US" i="1" dirty="0"/>
              <a:t>Pr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{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n-US" i="1" dirty="0"/>
              <a:t>p</a:t>
            </a:r>
            <a:r>
              <a:rPr lang="en-US" baseline="-25000" dirty="0"/>
              <a:t>2</a:t>
            </a:r>
            <a:r>
              <a:rPr lang="en-US" dirty="0"/>
              <a:t>,</a:t>
            </a:r>
            <a:r>
              <a:rPr lang="en-US" i="1" dirty="0"/>
              <a:t>p</a:t>
            </a:r>
            <a:r>
              <a:rPr lang="en-US" baseline="-25000" dirty="0"/>
              <a:t>3</a:t>
            </a:r>
            <a:r>
              <a:rPr lang="en-US" dirty="0"/>
              <a:t>,</a:t>
            </a:r>
            <a:r>
              <a:rPr lang="en-US" i="1" dirty="0"/>
              <a:t>p</a:t>
            </a:r>
            <a:r>
              <a:rPr lang="en-US" baseline="-25000" dirty="0"/>
              <a:t>4</a:t>
            </a:r>
            <a:r>
              <a:rPr lang="en-US" dirty="0"/>
              <a:t>,</a:t>
            </a:r>
            <a:r>
              <a:rPr lang="en-US" i="1" dirty="0"/>
              <a:t>p</a:t>
            </a:r>
            <a:r>
              <a:rPr lang="en-US" baseline="-25000" dirty="0"/>
              <a:t>5</a:t>
            </a:r>
            <a:r>
              <a:rPr lang="en-US" dirty="0"/>
              <a:t>}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solidFill>
                  <a:schemeClr val="tx2"/>
                </a:solidFill>
              </a:rPr>
              <a:t>Fragmentation of relation PROJ continued</a:t>
            </a:r>
            <a:endParaRPr lang="en-US" dirty="0"/>
          </a:p>
          <a:p>
            <a:pPr lvl="1">
              <a:lnSpc>
                <a:spcPct val="100000"/>
              </a:lnSpc>
              <a:spcBef>
                <a:spcPct val="50000"/>
              </a:spcBef>
            </a:pPr>
            <a:r>
              <a:rPr lang="en-US" dirty="0" err="1"/>
              <a:t>Minterm</a:t>
            </a:r>
            <a:r>
              <a:rPr lang="en-US" dirty="0"/>
              <a:t> fragments left after elimination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en-US" i="1" dirty="0">
                <a:solidFill>
                  <a:schemeClr val="tx2"/>
                </a:solidFill>
              </a:rPr>
              <a:t>m</a:t>
            </a:r>
            <a:r>
              <a:rPr lang="en-US" baseline="-25000" dirty="0">
                <a:solidFill>
                  <a:schemeClr val="tx2"/>
                </a:solidFill>
              </a:rPr>
              <a:t>1</a:t>
            </a:r>
            <a:r>
              <a:rPr lang="en-US" dirty="0">
                <a:solidFill>
                  <a:schemeClr val="tx2"/>
                </a:solidFill>
              </a:rPr>
              <a:t> : (LOC = “Montreal”) </a:t>
            </a:r>
            <a:r>
              <a:rPr lang="en-US" dirty="0" smtClean="0">
                <a:solidFill>
                  <a:schemeClr val="tx2"/>
                </a:solidFill>
                <a:latin typeface="Symbol" charset="0"/>
                <a:sym typeface="Symbol"/>
              </a:rPr>
              <a:t>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(BUDGET ≤ 200000)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baseline="-25000" dirty="0" smtClean="0">
                <a:solidFill>
                  <a:schemeClr val="tx2"/>
                </a:solidFill>
              </a:rPr>
              <a:t>2</a:t>
            </a:r>
            <a:r>
              <a:rPr lang="en-US" dirty="0" smtClean="0">
                <a:solidFill>
                  <a:schemeClr val="tx2"/>
                </a:solidFill>
              </a:rPr>
              <a:t> : (LOC = “Montreal”) </a:t>
            </a:r>
            <a:r>
              <a:rPr lang="en-US" dirty="0" smtClean="0">
                <a:solidFill>
                  <a:schemeClr val="tx2"/>
                </a:solidFill>
                <a:latin typeface="Symbol" charset="0"/>
                <a:sym typeface="Symbol"/>
              </a:rPr>
              <a:t></a:t>
            </a:r>
            <a:r>
              <a:rPr lang="en-US" dirty="0" smtClean="0">
                <a:solidFill>
                  <a:schemeClr val="tx2"/>
                </a:solidFill>
              </a:rPr>
              <a:t> (BUDGET &gt; 200000)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baseline="-25000" dirty="0" smtClean="0">
                <a:solidFill>
                  <a:schemeClr val="tx2"/>
                </a:solidFill>
              </a:rPr>
              <a:t>3</a:t>
            </a:r>
            <a:r>
              <a:rPr lang="en-US" dirty="0" smtClean="0">
                <a:solidFill>
                  <a:schemeClr val="tx2"/>
                </a:solidFill>
              </a:rPr>
              <a:t> : (LOC = “New York”) </a:t>
            </a:r>
            <a:r>
              <a:rPr lang="en-US" dirty="0" smtClean="0">
                <a:solidFill>
                  <a:schemeClr val="tx2"/>
                </a:solidFill>
                <a:latin typeface="Symbol" charset="0"/>
                <a:sym typeface="Symbol"/>
              </a:rPr>
              <a:t></a:t>
            </a:r>
            <a:r>
              <a:rPr lang="en-US" dirty="0" smtClean="0">
                <a:solidFill>
                  <a:schemeClr val="tx2"/>
                </a:solidFill>
              </a:rPr>
              <a:t> (BUDGET ≤ 200000)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en-US" i="1" dirty="0" smtClean="0">
                <a:solidFill>
                  <a:schemeClr val="tx2"/>
                </a:solidFill>
              </a:rPr>
              <a:t>m</a:t>
            </a:r>
            <a:r>
              <a:rPr lang="en-US" baseline="-25000" dirty="0" smtClean="0">
                <a:solidFill>
                  <a:schemeClr val="tx2"/>
                </a:solidFill>
              </a:rPr>
              <a:t>4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: (LOC = “New York”) </a:t>
            </a:r>
            <a:r>
              <a:rPr lang="en-US" dirty="0" smtClean="0">
                <a:solidFill>
                  <a:schemeClr val="tx2"/>
                </a:solidFill>
                <a:latin typeface="Symbol" charset="0"/>
                <a:sym typeface="Symbol"/>
              </a:rPr>
              <a:t>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(BUDGET &gt; 200000)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en-US" i="1" dirty="0">
                <a:solidFill>
                  <a:schemeClr val="tx2"/>
                </a:solidFill>
              </a:rPr>
              <a:t>m</a:t>
            </a:r>
            <a:r>
              <a:rPr lang="en-US" baseline="-25000" dirty="0">
                <a:solidFill>
                  <a:schemeClr val="tx2"/>
                </a:solidFill>
              </a:rPr>
              <a:t>5</a:t>
            </a:r>
            <a:r>
              <a:rPr lang="en-US" dirty="0">
                <a:solidFill>
                  <a:schemeClr val="tx2"/>
                </a:solidFill>
              </a:rPr>
              <a:t> : (LOC = “Paris”) </a:t>
            </a:r>
            <a:r>
              <a:rPr lang="en-US" dirty="0" smtClean="0">
                <a:solidFill>
                  <a:schemeClr val="tx2"/>
                </a:solidFill>
                <a:latin typeface="Symbol" charset="0"/>
                <a:sym typeface="Symbol"/>
              </a:rPr>
              <a:t>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(BUDGET ≤ 200000)</a:t>
            </a:r>
          </a:p>
          <a:p>
            <a:pPr lvl="2">
              <a:lnSpc>
                <a:spcPct val="100000"/>
              </a:lnSpc>
              <a:spcBef>
                <a:spcPct val="50000"/>
              </a:spcBef>
              <a:buFont typeface="Monotype Sorts" charset="0"/>
              <a:buNone/>
            </a:pPr>
            <a:r>
              <a:rPr lang="en-US" i="1" dirty="0">
                <a:solidFill>
                  <a:schemeClr val="tx2"/>
                </a:solidFill>
              </a:rPr>
              <a:t>m</a:t>
            </a:r>
            <a:r>
              <a:rPr lang="en-US" baseline="-25000" dirty="0">
                <a:solidFill>
                  <a:schemeClr val="tx2"/>
                </a:solidFill>
              </a:rPr>
              <a:t>6</a:t>
            </a:r>
            <a:r>
              <a:rPr lang="en-US" dirty="0">
                <a:solidFill>
                  <a:schemeClr val="tx2"/>
                </a:solidFill>
              </a:rPr>
              <a:t> : (LOC = “Paris”) </a:t>
            </a:r>
            <a:r>
              <a:rPr lang="en-US" dirty="0" smtClean="0">
                <a:solidFill>
                  <a:schemeClr val="tx2"/>
                </a:solidFill>
                <a:latin typeface="Symbol" charset="0"/>
                <a:sym typeface="Symbol"/>
              </a:rPr>
              <a:t>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(BUDGET &gt; 200000)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PHF – </a:t>
            </a:r>
            <a:r>
              <a:rPr lang="en-US" dirty="0" smtClean="0"/>
              <a:t>Example2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PHF – Example</a:t>
            </a:r>
          </a:p>
        </p:txBody>
      </p:sp>
      <p:sp>
        <p:nvSpPr>
          <p:cNvPr id="68611" name="Rectangle 3"/>
          <p:cNvSpPr>
            <a:spLocks noChangeArrowheads="1"/>
          </p:cNvSpPr>
          <p:nvPr/>
        </p:nvSpPr>
        <p:spPr bwMode="auto">
          <a:xfrm>
            <a:off x="661019" y="2880924"/>
            <a:ext cx="1168293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600" baseline="-25000" dirty="0">
                <a:solidFill>
                  <a:srgbClr val="000000"/>
                </a:solidFill>
                <a:latin typeface="Book Antiqua"/>
              </a:rPr>
              <a:t>1</a:t>
            </a:r>
          </a:p>
        </p:txBody>
      </p:sp>
      <p:sp>
        <p:nvSpPr>
          <p:cNvPr id="68612" name="Rectangle 4"/>
          <p:cNvSpPr>
            <a:spLocks noChangeArrowheads="1"/>
          </p:cNvSpPr>
          <p:nvPr/>
        </p:nvSpPr>
        <p:spPr bwMode="auto">
          <a:xfrm>
            <a:off x="526063" y="3526649"/>
            <a:ext cx="6048345" cy="14765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13" name="Rectangle 5"/>
          <p:cNvSpPr>
            <a:spLocks noChangeArrowheads="1"/>
          </p:cNvSpPr>
          <p:nvPr/>
        </p:nvSpPr>
        <p:spPr bwMode="auto">
          <a:xfrm>
            <a:off x="627663" y="3662116"/>
            <a:ext cx="837636" cy="44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68614" name="Rectangle 6"/>
          <p:cNvSpPr>
            <a:spLocks noChangeArrowheads="1"/>
          </p:cNvSpPr>
          <p:nvPr/>
        </p:nvSpPr>
        <p:spPr bwMode="auto">
          <a:xfrm>
            <a:off x="1589476" y="3662116"/>
            <a:ext cx="1293707" cy="44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68615" name="Rectangle 7"/>
          <p:cNvSpPr>
            <a:spLocks noChangeArrowheads="1"/>
          </p:cNvSpPr>
          <p:nvPr/>
        </p:nvSpPr>
        <p:spPr bwMode="auto">
          <a:xfrm>
            <a:off x="3822418" y="3662116"/>
            <a:ext cx="1406596" cy="44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5391574" y="3662116"/>
            <a:ext cx="803769" cy="444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68617" name="Line 9"/>
          <p:cNvSpPr>
            <a:spLocks noChangeShapeType="1"/>
          </p:cNvSpPr>
          <p:nvPr/>
        </p:nvSpPr>
        <p:spPr bwMode="auto">
          <a:xfrm>
            <a:off x="1548836" y="3531165"/>
            <a:ext cx="0" cy="14720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18" name="Line 10"/>
          <p:cNvSpPr>
            <a:spLocks noChangeShapeType="1"/>
          </p:cNvSpPr>
          <p:nvPr/>
        </p:nvSpPr>
        <p:spPr bwMode="auto">
          <a:xfrm>
            <a:off x="3788552" y="3558258"/>
            <a:ext cx="0" cy="14449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19" name="Line 11"/>
          <p:cNvSpPr>
            <a:spLocks noChangeShapeType="1"/>
          </p:cNvSpPr>
          <p:nvPr/>
        </p:nvSpPr>
        <p:spPr bwMode="auto">
          <a:xfrm>
            <a:off x="5244818" y="3531165"/>
            <a:ext cx="0" cy="14720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20" name="Line 12"/>
          <p:cNvSpPr>
            <a:spLocks noChangeShapeType="1"/>
          </p:cNvSpPr>
          <p:nvPr/>
        </p:nvSpPr>
        <p:spPr bwMode="auto">
          <a:xfrm>
            <a:off x="523805" y="4280747"/>
            <a:ext cx="605060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22" name="Rectangle 14"/>
          <p:cNvSpPr>
            <a:spLocks noChangeArrowheads="1"/>
          </p:cNvSpPr>
          <p:nvPr/>
        </p:nvSpPr>
        <p:spPr bwMode="auto">
          <a:xfrm>
            <a:off x="6757530" y="3526649"/>
            <a:ext cx="5994399" cy="1476587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23" name="Rectangle 15"/>
          <p:cNvSpPr>
            <a:spLocks noChangeArrowheads="1"/>
          </p:cNvSpPr>
          <p:nvPr/>
        </p:nvSpPr>
        <p:spPr bwMode="auto">
          <a:xfrm>
            <a:off x="6822684" y="3635023"/>
            <a:ext cx="915042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PNO</a:t>
            </a:r>
          </a:p>
        </p:txBody>
      </p: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7794349" y="3635023"/>
            <a:ext cx="1371728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PNAME</a:t>
            </a:r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9991589" y="3635023"/>
            <a:ext cx="1483776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BUDGET</a:t>
            </a:r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11630683" y="3635023"/>
            <a:ext cx="881053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LOC</a:t>
            </a:r>
          </a:p>
        </p:txBody>
      </p:sp>
      <p:sp>
        <p:nvSpPr>
          <p:cNvPr id="68627" name="Line 19"/>
          <p:cNvSpPr>
            <a:spLocks noChangeShapeType="1"/>
          </p:cNvSpPr>
          <p:nvPr/>
        </p:nvSpPr>
        <p:spPr bwMode="auto">
          <a:xfrm>
            <a:off x="7789333" y="3504071"/>
            <a:ext cx="0" cy="14720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28" name="Line 20"/>
          <p:cNvSpPr>
            <a:spLocks noChangeShapeType="1"/>
          </p:cNvSpPr>
          <p:nvPr/>
        </p:nvSpPr>
        <p:spPr bwMode="auto">
          <a:xfrm>
            <a:off x="10049370" y="3531164"/>
            <a:ext cx="0" cy="144497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29" name="Line 21"/>
          <p:cNvSpPr>
            <a:spLocks noChangeShapeType="1"/>
          </p:cNvSpPr>
          <p:nvPr/>
        </p:nvSpPr>
        <p:spPr bwMode="auto">
          <a:xfrm>
            <a:off x="11383716" y="3504071"/>
            <a:ext cx="0" cy="147207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30" name="Line 22"/>
          <p:cNvSpPr>
            <a:spLocks noChangeShapeType="1"/>
          </p:cNvSpPr>
          <p:nvPr/>
        </p:nvSpPr>
        <p:spPr bwMode="auto">
          <a:xfrm>
            <a:off x="6755271" y="4253653"/>
            <a:ext cx="599665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68631" name="Rectangle 23"/>
          <p:cNvSpPr>
            <a:spLocks noChangeArrowheads="1"/>
          </p:cNvSpPr>
          <p:nvPr/>
        </p:nvSpPr>
        <p:spPr bwMode="auto">
          <a:xfrm>
            <a:off x="655506" y="4404926"/>
            <a:ext cx="585524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P1</a:t>
            </a:r>
          </a:p>
        </p:txBody>
      </p:sp>
      <p:sp>
        <p:nvSpPr>
          <p:cNvPr id="68632" name="Rectangle 24"/>
          <p:cNvSpPr>
            <a:spLocks noChangeArrowheads="1"/>
          </p:cNvSpPr>
          <p:nvPr/>
        </p:nvSpPr>
        <p:spPr bwMode="auto">
          <a:xfrm>
            <a:off x="1468287" y="4404926"/>
            <a:ext cx="2375978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Instrumentation</a:t>
            </a:r>
          </a:p>
        </p:txBody>
      </p:sp>
      <p:sp>
        <p:nvSpPr>
          <p:cNvPr id="68633" name="Rectangle 25"/>
          <p:cNvSpPr>
            <a:spLocks noChangeArrowheads="1"/>
          </p:cNvSpPr>
          <p:nvPr/>
        </p:nvSpPr>
        <p:spPr bwMode="auto">
          <a:xfrm>
            <a:off x="3807712" y="4404926"/>
            <a:ext cx="1144753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150000</a:t>
            </a:r>
          </a:p>
        </p:txBody>
      </p:sp>
      <p:sp>
        <p:nvSpPr>
          <p:cNvPr id="68634" name="Rectangle 26"/>
          <p:cNvSpPr>
            <a:spLocks noChangeArrowheads="1"/>
          </p:cNvSpPr>
          <p:nvPr/>
        </p:nvSpPr>
        <p:spPr bwMode="auto">
          <a:xfrm>
            <a:off x="5152249" y="4404926"/>
            <a:ext cx="1494167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Montreal</a:t>
            </a:r>
          </a:p>
        </p:txBody>
      </p:sp>
      <p:sp>
        <p:nvSpPr>
          <p:cNvPr id="68635" name="Rectangle 27"/>
          <p:cNvSpPr>
            <a:spLocks noChangeArrowheads="1"/>
          </p:cNvSpPr>
          <p:nvPr/>
        </p:nvSpPr>
        <p:spPr bwMode="auto">
          <a:xfrm>
            <a:off x="6986315" y="4393636"/>
            <a:ext cx="585524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P2</a:t>
            </a:r>
          </a:p>
        </p:txBody>
      </p:sp>
      <p:sp>
        <p:nvSpPr>
          <p:cNvPr id="68636" name="Rectangle 28"/>
          <p:cNvSpPr>
            <a:spLocks noChangeArrowheads="1"/>
          </p:cNvSpPr>
          <p:nvPr/>
        </p:nvSpPr>
        <p:spPr bwMode="auto">
          <a:xfrm>
            <a:off x="7893191" y="4219787"/>
            <a:ext cx="1456268" cy="835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Database</a:t>
            </a:r>
          </a:p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Develop.</a:t>
            </a:r>
          </a:p>
        </p:txBody>
      </p:sp>
      <p:sp>
        <p:nvSpPr>
          <p:cNvPr id="68637" name="Rectangle 29"/>
          <p:cNvSpPr>
            <a:spLocks noChangeArrowheads="1"/>
          </p:cNvSpPr>
          <p:nvPr/>
        </p:nvSpPr>
        <p:spPr bwMode="auto">
          <a:xfrm>
            <a:off x="10039179" y="4393636"/>
            <a:ext cx="1144753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135000</a:t>
            </a:r>
          </a:p>
        </p:txBody>
      </p:sp>
      <p:sp>
        <p:nvSpPr>
          <p:cNvPr id="68638" name="Rectangle 30"/>
          <p:cNvSpPr>
            <a:spLocks noChangeArrowheads="1"/>
          </p:cNvSpPr>
          <p:nvPr/>
        </p:nvSpPr>
        <p:spPr bwMode="auto">
          <a:xfrm>
            <a:off x="11239055" y="4393636"/>
            <a:ext cx="158077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sp>
        <p:nvSpPr>
          <p:cNvPr id="68639" name="Rectangle 31"/>
          <p:cNvSpPr>
            <a:spLocks noChangeArrowheads="1"/>
          </p:cNvSpPr>
          <p:nvPr/>
        </p:nvSpPr>
        <p:spPr bwMode="auto">
          <a:xfrm>
            <a:off x="6865392" y="2853831"/>
            <a:ext cx="1168293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600" baseline="-25000" dirty="0">
                <a:solidFill>
                  <a:srgbClr val="000000"/>
                </a:solidFill>
                <a:latin typeface="Book Antiqua"/>
              </a:rPr>
              <a:t>2</a:t>
            </a:r>
          </a:p>
        </p:txBody>
      </p:sp>
      <p:sp>
        <p:nvSpPr>
          <p:cNvPr id="68640" name="Rectangle 32"/>
          <p:cNvSpPr>
            <a:spLocks noChangeArrowheads="1"/>
          </p:cNvSpPr>
          <p:nvPr/>
        </p:nvSpPr>
        <p:spPr bwMode="auto">
          <a:xfrm>
            <a:off x="714151" y="5373511"/>
            <a:ext cx="1170401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600" baseline="-25000" dirty="0">
                <a:solidFill>
                  <a:srgbClr val="000000"/>
                </a:solidFill>
                <a:latin typeface="Book Antiqua"/>
              </a:rPr>
              <a:t>4</a:t>
            </a:r>
          </a:p>
        </p:txBody>
      </p:sp>
      <p:sp>
        <p:nvSpPr>
          <p:cNvPr id="68641" name="Rectangle 33"/>
          <p:cNvSpPr>
            <a:spLocks noChangeArrowheads="1"/>
          </p:cNvSpPr>
          <p:nvPr/>
        </p:nvSpPr>
        <p:spPr bwMode="auto">
          <a:xfrm>
            <a:off x="7000859" y="5373511"/>
            <a:ext cx="1168293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PROJ</a:t>
            </a:r>
            <a:r>
              <a:rPr lang="en-US" sz="2600" baseline="-25000" dirty="0">
                <a:solidFill>
                  <a:srgbClr val="000000"/>
                </a:solidFill>
                <a:latin typeface="Book Antiqua"/>
              </a:rPr>
              <a:t>6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81720" y="6073423"/>
            <a:ext cx="6194620" cy="1476587"/>
            <a:chOff x="523804" y="6073423"/>
            <a:chExt cx="6194620" cy="1476587"/>
          </a:xfrm>
          <a:noFill/>
        </p:grpSpPr>
        <p:sp>
          <p:nvSpPr>
            <p:cNvPr id="68642" name="Rectangle 34"/>
            <p:cNvSpPr>
              <a:spLocks noChangeArrowheads="1"/>
            </p:cNvSpPr>
            <p:nvPr/>
          </p:nvSpPr>
          <p:spPr bwMode="auto">
            <a:xfrm>
              <a:off x="526106" y="6073423"/>
              <a:ext cx="6192318" cy="1476587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43" name="Rectangle 35"/>
            <p:cNvSpPr>
              <a:spLocks noChangeArrowheads="1"/>
            </p:cNvSpPr>
            <p:nvPr/>
          </p:nvSpPr>
          <p:spPr bwMode="auto">
            <a:xfrm>
              <a:off x="629704" y="6208890"/>
              <a:ext cx="837994" cy="44478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PNO</a:t>
              </a:r>
            </a:p>
          </p:txBody>
        </p:sp>
        <p:sp>
          <p:nvSpPr>
            <p:cNvPr id="68644" name="Rectangle 36"/>
            <p:cNvSpPr>
              <a:spLocks noChangeArrowheads="1"/>
            </p:cNvSpPr>
            <p:nvPr/>
          </p:nvSpPr>
          <p:spPr bwMode="auto">
            <a:xfrm>
              <a:off x="1615038" y="6208890"/>
              <a:ext cx="1293826" cy="44478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PNAME</a:t>
              </a:r>
            </a:p>
          </p:txBody>
        </p:sp>
        <p:sp>
          <p:nvSpPr>
            <p:cNvPr id="68645" name="Rectangle 37"/>
            <p:cNvSpPr>
              <a:spLocks noChangeArrowheads="1"/>
            </p:cNvSpPr>
            <p:nvPr/>
          </p:nvSpPr>
          <p:spPr bwMode="auto">
            <a:xfrm>
              <a:off x="3905709" y="6208890"/>
              <a:ext cx="1406633" cy="44478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BUDGET</a:t>
              </a:r>
            </a:p>
          </p:txBody>
        </p:sp>
        <p:sp>
          <p:nvSpPr>
            <p:cNvPr id="68646" name="Rectangle 38"/>
            <p:cNvSpPr>
              <a:spLocks noChangeArrowheads="1"/>
            </p:cNvSpPr>
            <p:nvPr/>
          </p:nvSpPr>
          <p:spPr bwMode="auto">
            <a:xfrm>
              <a:off x="5510330" y="6208890"/>
              <a:ext cx="803461" cy="444782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LOC</a:t>
              </a:r>
            </a:p>
          </p:txBody>
        </p:sp>
        <p:sp>
          <p:nvSpPr>
            <p:cNvPr id="68647" name="Line 39"/>
            <p:cNvSpPr>
              <a:spLocks noChangeShapeType="1"/>
            </p:cNvSpPr>
            <p:nvPr/>
          </p:nvSpPr>
          <p:spPr bwMode="auto">
            <a:xfrm>
              <a:off x="1573599" y="6077939"/>
              <a:ext cx="0" cy="1472071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48" name="Line 40"/>
            <p:cNvSpPr>
              <a:spLocks noChangeShapeType="1"/>
            </p:cNvSpPr>
            <p:nvPr/>
          </p:nvSpPr>
          <p:spPr bwMode="auto">
            <a:xfrm>
              <a:off x="3868874" y="6105032"/>
              <a:ext cx="0" cy="1444978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49" name="Line 41"/>
            <p:cNvSpPr>
              <a:spLocks noChangeShapeType="1"/>
            </p:cNvSpPr>
            <p:nvPr/>
          </p:nvSpPr>
          <p:spPr bwMode="auto">
            <a:xfrm>
              <a:off x="5360688" y="6077939"/>
              <a:ext cx="0" cy="1472071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50" name="Line 42"/>
            <p:cNvSpPr>
              <a:spLocks noChangeShapeType="1"/>
            </p:cNvSpPr>
            <p:nvPr/>
          </p:nvSpPr>
          <p:spPr bwMode="auto">
            <a:xfrm>
              <a:off x="523804" y="6827521"/>
              <a:ext cx="6194620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</p:grpSp>
      <p:sp>
        <p:nvSpPr>
          <p:cNvPr id="68652" name="Rectangle 44"/>
          <p:cNvSpPr>
            <a:spLocks noChangeArrowheads="1"/>
          </p:cNvSpPr>
          <p:nvPr/>
        </p:nvSpPr>
        <p:spPr bwMode="auto">
          <a:xfrm>
            <a:off x="590187" y="6899770"/>
            <a:ext cx="585524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P3 </a:t>
            </a:r>
          </a:p>
        </p:txBody>
      </p:sp>
      <p:sp>
        <p:nvSpPr>
          <p:cNvPr id="68653" name="Rectangle 45"/>
          <p:cNvSpPr>
            <a:spLocks noChangeArrowheads="1"/>
          </p:cNvSpPr>
          <p:nvPr/>
        </p:nvSpPr>
        <p:spPr bwMode="auto">
          <a:xfrm>
            <a:off x="1439098" y="6899770"/>
            <a:ext cx="1822942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CAD/CAM</a:t>
            </a:r>
          </a:p>
        </p:txBody>
      </p:sp>
      <p:sp>
        <p:nvSpPr>
          <p:cNvPr id="68654" name="Rectangle 46"/>
          <p:cNvSpPr>
            <a:spLocks noChangeArrowheads="1"/>
          </p:cNvSpPr>
          <p:nvPr/>
        </p:nvSpPr>
        <p:spPr bwMode="auto">
          <a:xfrm>
            <a:off x="3728846" y="6899770"/>
            <a:ext cx="1144753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250000</a:t>
            </a:r>
          </a:p>
        </p:txBody>
      </p:sp>
      <p:sp>
        <p:nvSpPr>
          <p:cNvPr id="68655" name="Rectangle 47"/>
          <p:cNvSpPr>
            <a:spLocks noChangeArrowheads="1"/>
          </p:cNvSpPr>
          <p:nvPr/>
        </p:nvSpPr>
        <p:spPr bwMode="auto">
          <a:xfrm>
            <a:off x="5098219" y="6899770"/>
            <a:ext cx="1582702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New York</a:t>
            </a:r>
          </a:p>
        </p:txBody>
      </p:sp>
      <p:grpSp>
        <p:nvGrpSpPr>
          <p:cNvPr id="68665" name="Group 57"/>
          <p:cNvGrpSpPr>
            <a:grpSpLocks/>
          </p:cNvGrpSpPr>
          <p:nvPr/>
        </p:nvGrpSpPr>
        <p:grpSpPr bwMode="auto">
          <a:xfrm>
            <a:off x="6757530" y="6073423"/>
            <a:ext cx="5942471" cy="1476587"/>
            <a:chOff x="2993" y="2690"/>
            <a:chExt cx="2632" cy="654"/>
          </a:xfrm>
          <a:noFill/>
        </p:grpSpPr>
        <p:sp>
          <p:nvSpPr>
            <p:cNvPr id="68656" name="Rectangle 48"/>
            <p:cNvSpPr>
              <a:spLocks noChangeArrowheads="1"/>
            </p:cNvSpPr>
            <p:nvPr/>
          </p:nvSpPr>
          <p:spPr bwMode="auto">
            <a:xfrm>
              <a:off x="2994" y="2690"/>
              <a:ext cx="2631" cy="654"/>
            </a:xfrm>
            <a:prstGeom prst="rect">
              <a:avLst/>
            </a:prstGeom>
            <a:grp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57" name="Rectangle 49"/>
            <p:cNvSpPr>
              <a:spLocks noChangeArrowheads="1"/>
            </p:cNvSpPr>
            <p:nvPr/>
          </p:nvSpPr>
          <p:spPr bwMode="auto">
            <a:xfrm>
              <a:off x="3039" y="2750"/>
              <a:ext cx="371" cy="1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PNO</a:t>
              </a:r>
            </a:p>
          </p:txBody>
        </p:sp>
        <p:sp>
          <p:nvSpPr>
            <p:cNvPr id="68658" name="Rectangle 50"/>
            <p:cNvSpPr>
              <a:spLocks noChangeArrowheads="1"/>
            </p:cNvSpPr>
            <p:nvPr/>
          </p:nvSpPr>
          <p:spPr bwMode="auto">
            <a:xfrm>
              <a:off x="3465" y="2750"/>
              <a:ext cx="573" cy="1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PNAME</a:t>
              </a:r>
            </a:p>
          </p:txBody>
        </p:sp>
        <p:sp>
          <p:nvSpPr>
            <p:cNvPr id="68659" name="Rectangle 51"/>
            <p:cNvSpPr>
              <a:spLocks noChangeArrowheads="1"/>
            </p:cNvSpPr>
            <p:nvPr/>
          </p:nvSpPr>
          <p:spPr bwMode="auto">
            <a:xfrm>
              <a:off x="4454" y="2750"/>
              <a:ext cx="623" cy="1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BUDGET</a:t>
              </a:r>
            </a:p>
          </p:txBody>
        </p:sp>
        <p:sp>
          <p:nvSpPr>
            <p:cNvPr id="68660" name="Rectangle 52"/>
            <p:cNvSpPr>
              <a:spLocks noChangeArrowheads="1"/>
            </p:cNvSpPr>
            <p:nvPr/>
          </p:nvSpPr>
          <p:spPr bwMode="auto">
            <a:xfrm>
              <a:off x="5149" y="2750"/>
              <a:ext cx="356" cy="19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300" dirty="0">
                  <a:solidFill>
                    <a:srgbClr val="000000"/>
                  </a:solidFill>
                  <a:latin typeface="Book Antiqua"/>
                </a:rPr>
                <a:t>LOC</a:t>
              </a:r>
            </a:p>
          </p:txBody>
        </p:sp>
        <p:sp>
          <p:nvSpPr>
            <p:cNvPr id="68661" name="Line 53"/>
            <p:cNvSpPr>
              <a:spLocks noChangeShapeType="1"/>
            </p:cNvSpPr>
            <p:nvPr/>
          </p:nvSpPr>
          <p:spPr bwMode="auto">
            <a:xfrm>
              <a:off x="3447" y="2692"/>
              <a:ext cx="0" cy="65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62" name="Line 54"/>
            <p:cNvSpPr>
              <a:spLocks noChangeShapeType="1"/>
            </p:cNvSpPr>
            <p:nvPr/>
          </p:nvSpPr>
          <p:spPr bwMode="auto">
            <a:xfrm>
              <a:off x="4439" y="2704"/>
              <a:ext cx="0" cy="64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63" name="Line 55"/>
            <p:cNvSpPr>
              <a:spLocks noChangeShapeType="1"/>
            </p:cNvSpPr>
            <p:nvPr/>
          </p:nvSpPr>
          <p:spPr bwMode="auto">
            <a:xfrm>
              <a:off x="5084" y="2692"/>
              <a:ext cx="0" cy="652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68664" name="Line 56"/>
            <p:cNvSpPr>
              <a:spLocks noChangeShapeType="1"/>
            </p:cNvSpPr>
            <p:nvPr/>
          </p:nvSpPr>
          <p:spPr bwMode="auto">
            <a:xfrm>
              <a:off x="2993" y="3024"/>
              <a:ext cx="2632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Book Antiqua"/>
              </a:endParaRPr>
            </a:p>
          </p:txBody>
        </p:sp>
      </p:grpSp>
      <p:sp>
        <p:nvSpPr>
          <p:cNvPr id="68666" name="Rectangle 58"/>
          <p:cNvSpPr>
            <a:spLocks noChangeArrowheads="1"/>
          </p:cNvSpPr>
          <p:nvPr/>
        </p:nvSpPr>
        <p:spPr bwMode="auto">
          <a:xfrm>
            <a:off x="7927986" y="6911059"/>
            <a:ext cx="1944351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Maintenance</a:t>
            </a:r>
          </a:p>
        </p:txBody>
      </p:sp>
      <p:sp>
        <p:nvSpPr>
          <p:cNvPr id="68667" name="Rectangle 59"/>
          <p:cNvSpPr>
            <a:spLocks noChangeArrowheads="1"/>
          </p:cNvSpPr>
          <p:nvPr/>
        </p:nvSpPr>
        <p:spPr bwMode="auto">
          <a:xfrm>
            <a:off x="6984674" y="6911059"/>
            <a:ext cx="593320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P4</a:t>
            </a:r>
          </a:p>
        </p:txBody>
      </p:sp>
      <p:sp>
        <p:nvSpPr>
          <p:cNvPr id="68668" name="Rectangle 60"/>
          <p:cNvSpPr>
            <a:spLocks noChangeArrowheads="1"/>
          </p:cNvSpPr>
          <p:nvPr/>
        </p:nvSpPr>
        <p:spPr bwMode="auto">
          <a:xfrm>
            <a:off x="10203997" y="6911059"/>
            <a:ext cx="1144753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310000</a:t>
            </a:r>
          </a:p>
        </p:txBody>
      </p:sp>
      <p:sp>
        <p:nvSpPr>
          <p:cNvPr id="68669" name="Rectangle 61"/>
          <p:cNvSpPr>
            <a:spLocks noChangeArrowheads="1"/>
          </p:cNvSpPr>
          <p:nvPr/>
        </p:nvSpPr>
        <p:spPr bwMode="auto">
          <a:xfrm>
            <a:off x="11623800" y="6911059"/>
            <a:ext cx="912881" cy="481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300" dirty="0">
                <a:solidFill>
                  <a:srgbClr val="000000"/>
                </a:solidFill>
                <a:latin typeface="Book Antiqua"/>
              </a:rPr>
              <a:t>Paris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>
                <a:solidFill>
                  <a:schemeClr val="tx2"/>
                </a:solidFill>
              </a:rPr>
              <a:t>Completeness</a:t>
            </a:r>
            <a:endParaRPr lang="en-US" dirty="0"/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 dirty="0"/>
              <a:t>Since </a:t>
            </a:r>
            <a:r>
              <a:rPr lang="en-US" i="1" dirty="0"/>
              <a:t>Pr</a:t>
            </a:r>
            <a:r>
              <a:rPr lang="en-US" dirty="0"/>
              <a:t>' is complete and minimal, the selection predicates are complete</a:t>
            </a:r>
          </a:p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>
                <a:solidFill>
                  <a:schemeClr val="tx2"/>
                </a:solidFill>
              </a:rPr>
              <a:t>Reconstruction</a:t>
            </a:r>
            <a:endParaRPr lang="en-US" dirty="0"/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 dirty="0"/>
              <a:t>If relation </a:t>
            </a:r>
            <a:r>
              <a:rPr lang="en-US" i="1" dirty="0"/>
              <a:t>R</a:t>
            </a:r>
            <a:r>
              <a:rPr lang="en-US" dirty="0"/>
              <a:t> is fragmented into </a:t>
            </a:r>
            <a:r>
              <a:rPr lang="en-US" i="1" dirty="0"/>
              <a:t>F</a:t>
            </a:r>
            <a:r>
              <a:rPr lang="en-US" i="1" baseline="-25000" dirty="0"/>
              <a:t>R</a:t>
            </a:r>
            <a:r>
              <a:rPr lang="en-US" i="1" dirty="0"/>
              <a:t> </a:t>
            </a:r>
            <a:r>
              <a:rPr lang="en-US" dirty="0"/>
              <a:t>= {</a:t>
            </a:r>
            <a:r>
              <a:rPr lang="en-US" i="1" dirty="0"/>
              <a:t>R</a:t>
            </a:r>
            <a:r>
              <a:rPr lang="en-US" baseline="-25000" dirty="0"/>
              <a:t>1</a:t>
            </a:r>
            <a:r>
              <a:rPr lang="en-US" dirty="0"/>
              <a:t>,</a:t>
            </a:r>
            <a:r>
              <a:rPr lang="en-US" i="1" dirty="0"/>
              <a:t>R</a:t>
            </a:r>
            <a:r>
              <a:rPr lang="en-US" baseline="-25000" dirty="0"/>
              <a:t>2</a:t>
            </a:r>
            <a:r>
              <a:rPr lang="en-US" dirty="0"/>
              <a:t>,…,</a:t>
            </a:r>
            <a:r>
              <a:rPr lang="en-US" i="1" dirty="0" err="1"/>
              <a:t>R</a:t>
            </a:r>
            <a:r>
              <a:rPr lang="en-US" baseline="-25000" dirty="0" err="1"/>
              <a:t>r</a:t>
            </a:r>
            <a:r>
              <a:rPr lang="en-US" dirty="0"/>
              <a:t>}</a:t>
            </a:r>
          </a:p>
          <a:p>
            <a:pPr lvl="4">
              <a:lnSpc>
                <a:spcPct val="100000"/>
              </a:lnSpc>
              <a:spcBef>
                <a:spcPct val="60000"/>
              </a:spcBef>
              <a:buFontTx/>
              <a:buNone/>
            </a:pPr>
            <a:r>
              <a:rPr lang="en-US" sz="3200" i="1" dirty="0"/>
              <a:t>R</a:t>
            </a:r>
            <a:r>
              <a:rPr lang="en-US" sz="3200" dirty="0"/>
              <a:t>  =   </a:t>
            </a:r>
            <a:r>
              <a:rPr lang="en-US" sz="4400" dirty="0" smtClean="0">
                <a:latin typeface="Symbol" charset="0"/>
                <a:sym typeface="Symbol"/>
              </a:rPr>
              <a:t></a:t>
            </a:r>
            <a:r>
              <a:rPr lang="en-US" sz="3200" baseline="-25000" dirty="0" smtClean="0">
                <a:latin typeface="Symbol" charset="0"/>
                <a:sym typeface="Symbol"/>
              </a:rPr>
              <a:t></a:t>
            </a:r>
            <a:r>
              <a:rPr lang="en-US" sz="3200" i="1" baseline="-25000" dirty="0" err="1" smtClean="0"/>
              <a:t>R</a:t>
            </a:r>
            <a:r>
              <a:rPr lang="en-US" sz="3200" i="1" baseline="-50000" dirty="0" err="1" smtClean="0"/>
              <a:t>i</a:t>
            </a:r>
            <a:r>
              <a:rPr lang="en-US" sz="3200" i="1" baseline="-25000" dirty="0" smtClean="0"/>
              <a:t> </a:t>
            </a:r>
            <a:r>
              <a:rPr lang="en-US" sz="3200" baseline="-25000" dirty="0" smtClean="0">
                <a:latin typeface="Symbol" charset="0"/>
                <a:sym typeface="Symbol"/>
              </a:rPr>
              <a:t></a:t>
            </a:r>
            <a:r>
              <a:rPr lang="en-US" sz="3200" i="1" baseline="-25000" dirty="0" smtClean="0"/>
              <a:t>FR</a:t>
            </a:r>
            <a:r>
              <a:rPr lang="en-US" sz="3200" baseline="-25000" dirty="0" smtClean="0"/>
              <a:t> </a:t>
            </a:r>
            <a:r>
              <a:rPr lang="en-US" sz="3200" i="1" dirty="0" err="1"/>
              <a:t>R</a:t>
            </a:r>
            <a:r>
              <a:rPr lang="en-US" sz="3200" i="1" baseline="-25000" dirty="0" err="1"/>
              <a:t>i</a:t>
            </a:r>
            <a:r>
              <a:rPr lang="en-US" sz="3200" i="1" dirty="0"/>
              <a:t> </a:t>
            </a:r>
            <a:endParaRPr lang="en-US" dirty="0"/>
          </a:p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 err="1">
                <a:solidFill>
                  <a:schemeClr val="tx2"/>
                </a:solidFill>
              </a:rPr>
              <a:t>Disjointness</a:t>
            </a:r>
            <a:endParaRPr lang="en-US" dirty="0"/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 dirty="0" err="1"/>
              <a:t>Minterm</a:t>
            </a:r>
            <a:r>
              <a:rPr lang="en-US" dirty="0"/>
              <a:t> predicates that form the basis of fragmentation should be mutually exclusive. 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PHF – Correctness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Has been studied within the centralized context</a:t>
            </a:r>
          </a:p>
          <a:p>
            <a:pPr lvl="1"/>
            <a:r>
              <a:rPr lang="en-US" dirty="0"/>
              <a:t>design methodology</a:t>
            </a:r>
          </a:p>
          <a:p>
            <a:pPr lvl="1"/>
            <a:r>
              <a:rPr lang="en-US" dirty="0"/>
              <a:t>physical clustering</a:t>
            </a:r>
          </a:p>
          <a:p>
            <a:r>
              <a:rPr lang="en-US" dirty="0"/>
              <a:t>More difficult than horizontal, because more alternatives exist.</a:t>
            </a:r>
          </a:p>
          <a:p>
            <a:pPr>
              <a:buFont typeface="Monotype Sorts" charset="0"/>
              <a:buNone/>
            </a:pPr>
            <a:r>
              <a:rPr lang="en-US" dirty="0"/>
              <a:t>	Two approaches :</a:t>
            </a:r>
          </a:p>
          <a:p>
            <a:pPr lvl="1"/>
            <a:r>
              <a:rPr lang="en-US" dirty="0"/>
              <a:t>grouping</a:t>
            </a:r>
          </a:p>
          <a:p>
            <a:pPr lvl="2"/>
            <a:r>
              <a:rPr lang="en-US" dirty="0"/>
              <a:t>attributes to fragments</a:t>
            </a:r>
          </a:p>
          <a:p>
            <a:pPr lvl="1"/>
            <a:r>
              <a:rPr lang="en-US" dirty="0"/>
              <a:t>splitting</a:t>
            </a:r>
          </a:p>
          <a:p>
            <a:pPr lvl="2"/>
            <a:r>
              <a:rPr lang="en-US" dirty="0"/>
              <a:t>relation to fragments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Vertical Fragmentation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Hybrid Fragmentation</a:t>
            </a:r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6151793" y="2625796"/>
            <a:ext cx="638639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7649482" y="3495040"/>
            <a:ext cx="758354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HF</a:t>
            </a: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4669215" y="3467947"/>
            <a:ext cx="758354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HF</a:t>
            </a:r>
          </a:p>
        </p:txBody>
      </p:sp>
      <p:sp>
        <p:nvSpPr>
          <p:cNvPr id="96262" name="Rectangle 6"/>
          <p:cNvSpPr>
            <a:spLocks noChangeArrowheads="1"/>
          </p:cNvSpPr>
          <p:nvPr/>
        </p:nvSpPr>
        <p:spPr bwMode="auto">
          <a:xfrm>
            <a:off x="3834448" y="4684889"/>
            <a:ext cx="741327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1</a:t>
            </a: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auto">
          <a:xfrm>
            <a:off x="8735823" y="5590258"/>
            <a:ext cx="71890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VF</a:t>
            </a:r>
          </a:p>
        </p:txBody>
      </p:sp>
      <p:sp>
        <p:nvSpPr>
          <p:cNvPr id="96264" name="Rectangle 8"/>
          <p:cNvSpPr>
            <a:spLocks noChangeArrowheads="1"/>
          </p:cNvSpPr>
          <p:nvPr/>
        </p:nvSpPr>
        <p:spPr bwMode="auto">
          <a:xfrm>
            <a:off x="9789631" y="5590258"/>
            <a:ext cx="71890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VF</a:t>
            </a:r>
          </a:p>
        </p:txBody>
      </p:sp>
      <p:sp>
        <p:nvSpPr>
          <p:cNvPr id="96265" name="Rectangle 9"/>
          <p:cNvSpPr>
            <a:spLocks noChangeArrowheads="1"/>
          </p:cNvSpPr>
          <p:nvPr/>
        </p:nvSpPr>
        <p:spPr bwMode="auto">
          <a:xfrm>
            <a:off x="7032768" y="5590258"/>
            <a:ext cx="71890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VF</a:t>
            </a:r>
          </a:p>
        </p:txBody>
      </p:sp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4749071" y="5590258"/>
            <a:ext cx="71890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VF</a:t>
            </a:r>
          </a:p>
        </p:txBody>
      </p:sp>
      <p:sp>
        <p:nvSpPr>
          <p:cNvPr id="96267" name="Rectangle 11"/>
          <p:cNvSpPr>
            <a:spLocks noChangeArrowheads="1"/>
          </p:cNvSpPr>
          <p:nvPr/>
        </p:nvSpPr>
        <p:spPr bwMode="auto">
          <a:xfrm>
            <a:off x="2712288" y="5590258"/>
            <a:ext cx="71890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VF</a:t>
            </a:r>
          </a:p>
        </p:txBody>
      </p:sp>
      <p:sp>
        <p:nvSpPr>
          <p:cNvPr id="96268" name="Rectangle 12"/>
          <p:cNvSpPr>
            <a:spLocks noChangeArrowheads="1"/>
          </p:cNvSpPr>
          <p:nvPr/>
        </p:nvSpPr>
        <p:spPr bwMode="auto">
          <a:xfrm>
            <a:off x="2737181" y="6305560"/>
            <a:ext cx="856450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11</a:t>
            </a:r>
          </a:p>
        </p:txBody>
      </p:sp>
      <p:sp>
        <p:nvSpPr>
          <p:cNvPr id="96269" name="Rectangle 13"/>
          <p:cNvSpPr>
            <a:spLocks noChangeArrowheads="1"/>
          </p:cNvSpPr>
          <p:nvPr/>
        </p:nvSpPr>
        <p:spPr bwMode="auto">
          <a:xfrm>
            <a:off x="4800099" y="6305560"/>
            <a:ext cx="902988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12</a:t>
            </a:r>
          </a:p>
        </p:txBody>
      </p:sp>
      <p:sp>
        <p:nvSpPr>
          <p:cNvPr id="96270" name="Rectangle 14"/>
          <p:cNvSpPr>
            <a:spLocks noChangeArrowheads="1"/>
          </p:cNvSpPr>
          <p:nvPr/>
        </p:nvSpPr>
        <p:spPr bwMode="auto">
          <a:xfrm>
            <a:off x="4772942" y="7400996"/>
            <a:ext cx="544125" cy="433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71" name="Rectangle 15"/>
          <p:cNvSpPr>
            <a:spLocks noChangeArrowheads="1"/>
          </p:cNvSpPr>
          <p:nvPr/>
        </p:nvSpPr>
        <p:spPr bwMode="auto">
          <a:xfrm>
            <a:off x="6913379" y="6305560"/>
            <a:ext cx="902988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21</a:t>
            </a:r>
          </a:p>
        </p:txBody>
      </p:sp>
      <p:sp>
        <p:nvSpPr>
          <p:cNvPr id="96272" name="Rectangle 16"/>
          <p:cNvSpPr>
            <a:spLocks noChangeArrowheads="1"/>
          </p:cNvSpPr>
          <p:nvPr/>
        </p:nvSpPr>
        <p:spPr bwMode="auto">
          <a:xfrm>
            <a:off x="8322232" y="6305560"/>
            <a:ext cx="902988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22</a:t>
            </a:r>
          </a:p>
        </p:txBody>
      </p:sp>
      <p:sp>
        <p:nvSpPr>
          <p:cNvPr id="96273" name="Rectangle 17"/>
          <p:cNvSpPr>
            <a:spLocks noChangeArrowheads="1"/>
          </p:cNvSpPr>
          <p:nvPr/>
        </p:nvSpPr>
        <p:spPr bwMode="auto">
          <a:xfrm>
            <a:off x="10020081" y="6305560"/>
            <a:ext cx="902988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23</a:t>
            </a:r>
          </a:p>
        </p:txBody>
      </p:sp>
      <p:sp>
        <p:nvSpPr>
          <p:cNvPr id="96274" name="Line 18"/>
          <p:cNvSpPr>
            <a:spLocks noChangeShapeType="1"/>
          </p:cNvSpPr>
          <p:nvPr/>
        </p:nvSpPr>
        <p:spPr bwMode="auto">
          <a:xfrm flipH="1">
            <a:off x="4208739" y="3314418"/>
            <a:ext cx="2221653" cy="1417884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75" name="Line 19"/>
          <p:cNvSpPr>
            <a:spLocks noChangeShapeType="1"/>
          </p:cNvSpPr>
          <p:nvPr/>
        </p:nvSpPr>
        <p:spPr bwMode="auto">
          <a:xfrm>
            <a:off x="6430392" y="3314418"/>
            <a:ext cx="2203591" cy="1417884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76" name="Rectangle 20"/>
          <p:cNvSpPr>
            <a:spLocks noChangeArrowheads="1"/>
          </p:cNvSpPr>
          <p:nvPr/>
        </p:nvSpPr>
        <p:spPr bwMode="auto">
          <a:xfrm>
            <a:off x="8440315" y="4684889"/>
            <a:ext cx="741327" cy="650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3400" i="1" dirty="0">
                <a:solidFill>
                  <a:srgbClr val="000000"/>
                </a:solidFill>
                <a:latin typeface="Book Antiqua"/>
              </a:rPr>
              <a:t>R</a:t>
            </a:r>
            <a:r>
              <a:rPr lang="en-US" sz="3400" baseline="-25000" dirty="0">
                <a:solidFill>
                  <a:srgbClr val="000000"/>
                </a:solidFill>
                <a:latin typeface="Book Antiqua"/>
              </a:rPr>
              <a:t>2</a:t>
            </a:r>
          </a:p>
        </p:txBody>
      </p:sp>
      <p:sp>
        <p:nvSpPr>
          <p:cNvPr id="96277" name="Line 21"/>
          <p:cNvSpPr>
            <a:spLocks noChangeShapeType="1"/>
          </p:cNvSpPr>
          <p:nvPr/>
        </p:nvSpPr>
        <p:spPr bwMode="auto">
          <a:xfrm flipH="1">
            <a:off x="3150776" y="5373511"/>
            <a:ext cx="975360" cy="79473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78" name="Line 22"/>
          <p:cNvSpPr>
            <a:spLocks noChangeShapeType="1"/>
          </p:cNvSpPr>
          <p:nvPr/>
        </p:nvSpPr>
        <p:spPr bwMode="auto">
          <a:xfrm>
            <a:off x="4127218" y="5373511"/>
            <a:ext cx="957298" cy="79473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79" name="Line 23"/>
          <p:cNvSpPr>
            <a:spLocks noChangeShapeType="1"/>
          </p:cNvSpPr>
          <p:nvPr/>
        </p:nvSpPr>
        <p:spPr bwMode="auto">
          <a:xfrm flipH="1">
            <a:off x="7343616" y="5400605"/>
            <a:ext cx="1463040" cy="821831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80" name="Line 24"/>
          <p:cNvSpPr>
            <a:spLocks noChangeShapeType="1"/>
          </p:cNvSpPr>
          <p:nvPr/>
        </p:nvSpPr>
        <p:spPr bwMode="auto">
          <a:xfrm>
            <a:off x="8812671" y="5414998"/>
            <a:ext cx="1417884" cy="79473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  <p:sp>
        <p:nvSpPr>
          <p:cNvPr id="96281" name="Line 25"/>
          <p:cNvSpPr>
            <a:spLocks noChangeShapeType="1"/>
          </p:cNvSpPr>
          <p:nvPr/>
        </p:nvSpPr>
        <p:spPr bwMode="auto">
          <a:xfrm>
            <a:off x="8796061" y="5400605"/>
            <a:ext cx="0" cy="821831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30046" tIns="65023" rIns="130046" bIns="65023" anchor="ctr"/>
          <a:lstStyle/>
          <a:p>
            <a:endParaRPr lang="en-US" dirty="0">
              <a:latin typeface="Book Antiqu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mtClean="0">
                <a:latin typeface="Book Antiqua"/>
              </a:rPr>
              <a:t>Ch.x/</a:t>
            </a:r>
            <a:fld id="{D01B99BC-F82C-D046-99BD-FBA1D66F1CB4}" type="slidenum">
              <a:rPr lang="en-US" smtClean="0">
                <a:latin typeface="Book Antiqua"/>
              </a:rPr>
              <a:pPr/>
              <a:t>32</a:t>
            </a:fld>
            <a:endParaRPr lang="en-US" dirty="0">
              <a:latin typeface="Book Antiqu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16200" y="3810000"/>
            <a:ext cx="9056671" cy="310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with SQL server(1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5" name="Picture 9" descr="fig05_06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t="4154" r="-12195" b="66814"/>
          <a:stretch>
            <a:fillRect/>
          </a:stretch>
        </p:blipFill>
        <p:spPr bwMode="auto">
          <a:xfrm>
            <a:off x="254000" y="3728692"/>
            <a:ext cx="13385379" cy="5415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0" y="1600200"/>
            <a:ext cx="1381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/>
              <a:t>Create1HF for this table </a:t>
            </a:r>
            <a:r>
              <a:rPr lang="en-US" dirty="0" smtClean="0">
                <a:solidFill>
                  <a:srgbClr val="FF0000"/>
                </a:solidFill>
              </a:rPr>
              <a:t>=&gt;2 fragments (salary &lt;30000) and (salary&gt;=30000)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Create 1 VF for this table </a:t>
            </a:r>
            <a:r>
              <a:rPr lang="en-US" dirty="0" smtClean="0">
                <a:solidFill>
                  <a:srgbClr val="FF0000"/>
                </a:solidFill>
              </a:rPr>
              <a:t>=&gt;2 fragments (</a:t>
            </a:r>
            <a:r>
              <a:rPr lang="en-US" dirty="0" err="1" smtClean="0">
                <a:solidFill>
                  <a:srgbClr val="FF0000"/>
                </a:solidFill>
              </a:rPr>
              <a:t>Fname,minit,Lname,ssn,Bdate</a:t>
            </a:r>
            <a:r>
              <a:rPr lang="en-US" dirty="0" smtClean="0">
                <a:solidFill>
                  <a:srgbClr val="FF0000"/>
                </a:solidFill>
              </a:rPr>
              <a:t>) and (</a:t>
            </a:r>
            <a:r>
              <a:rPr lang="en-US" dirty="0" err="1" smtClean="0">
                <a:solidFill>
                  <a:srgbClr val="FF0000"/>
                </a:solidFill>
              </a:rPr>
              <a:t>ssn,Address,sex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salary,superssn,dno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Create 1 </a:t>
            </a:r>
            <a:r>
              <a:rPr lang="en-US" dirty="0" err="1" smtClean="0"/>
              <a:t>HybF</a:t>
            </a:r>
            <a:r>
              <a:rPr lang="en-US" dirty="0" smtClean="0"/>
              <a:t> for this table </a:t>
            </a:r>
            <a:r>
              <a:rPr lang="en-US" dirty="0" smtClean="0">
                <a:solidFill>
                  <a:srgbClr val="FF0000"/>
                </a:solidFill>
              </a:rPr>
              <a:t>=&gt;start with PF then VF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with SQL </a:t>
            </a:r>
            <a:r>
              <a:rPr lang="en-US" dirty="0" smtClean="0"/>
              <a:t>server(2)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Q1 List the name of employees working in </a:t>
            </a:r>
            <a:r>
              <a:rPr lang="en-US" dirty="0" err="1"/>
              <a:t>Dno</a:t>
            </a:r>
            <a:r>
              <a:rPr lang="en-US" dirty="0"/>
              <a:t> 4</a:t>
            </a:r>
          </a:p>
          <a:p>
            <a:r>
              <a:rPr lang="en-US" dirty="0" smtClean="0"/>
              <a:t>Q2 </a:t>
            </a:r>
            <a:r>
              <a:rPr lang="en-US" dirty="0"/>
              <a:t>List the </a:t>
            </a:r>
            <a:r>
              <a:rPr lang="en-US" dirty="0" err="1"/>
              <a:t>ssn</a:t>
            </a:r>
            <a:r>
              <a:rPr lang="en-US" dirty="0"/>
              <a:t> and name of employees with a salary more than 30000</a:t>
            </a:r>
          </a:p>
          <a:p>
            <a:r>
              <a:rPr lang="en-US" dirty="0" smtClean="0"/>
              <a:t>Q3 </a:t>
            </a:r>
            <a:r>
              <a:rPr lang="en-US" dirty="0"/>
              <a:t>List the </a:t>
            </a:r>
            <a:r>
              <a:rPr lang="en-US" dirty="0" err="1"/>
              <a:t>ssn</a:t>
            </a:r>
            <a:r>
              <a:rPr lang="en-US" dirty="0"/>
              <a:t> and name of female employees </a:t>
            </a:r>
            <a:r>
              <a:rPr lang="en-US" dirty="0" smtClean="0"/>
              <a:t>working </a:t>
            </a:r>
            <a:r>
              <a:rPr lang="en-US" dirty="0"/>
              <a:t>in Dno5</a:t>
            </a:r>
          </a:p>
          <a:p>
            <a:r>
              <a:rPr lang="en-US" dirty="0" smtClean="0"/>
              <a:t>Q4 </a:t>
            </a:r>
            <a:r>
              <a:rPr lang="en-US" dirty="0"/>
              <a:t>Find the average of salaries</a:t>
            </a:r>
          </a:p>
          <a:p>
            <a:r>
              <a:rPr lang="en-US" dirty="0" smtClean="0"/>
              <a:t>Q5 </a:t>
            </a:r>
            <a:r>
              <a:rPr lang="en-US" dirty="0"/>
              <a:t>Find the </a:t>
            </a:r>
            <a:r>
              <a:rPr lang="en-US" dirty="0" err="1"/>
              <a:t>ssn</a:t>
            </a:r>
            <a:r>
              <a:rPr lang="en-US" dirty="0"/>
              <a:t> of the employees working in </a:t>
            </a:r>
            <a:r>
              <a:rPr lang="en-US" dirty="0" err="1"/>
              <a:t>Dno</a:t>
            </a:r>
            <a:r>
              <a:rPr lang="en-US" dirty="0"/>
              <a:t> 4 or </a:t>
            </a:r>
            <a:r>
              <a:rPr lang="en-US" dirty="0" smtClean="0"/>
              <a:t>5</a:t>
            </a:r>
          </a:p>
          <a:p>
            <a:r>
              <a:rPr lang="en-US" dirty="0" smtClean="0"/>
              <a:t>Q6 Find the total number of employees</a:t>
            </a:r>
          </a:p>
          <a:p>
            <a:r>
              <a:rPr lang="en-US" dirty="0" smtClean="0"/>
              <a:t>Q7 Find the highest salary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18129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en-US"/>
              <a:t>Fragment Allocation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Problem Statement</a:t>
            </a:r>
          </a:p>
          <a:p>
            <a:pPr lvl="1">
              <a:lnSpc>
                <a:spcPct val="80000"/>
              </a:lnSpc>
              <a:buFont typeface="Monotype Sorts" charset="0"/>
              <a:buNone/>
            </a:pPr>
            <a:r>
              <a:rPr lang="en-US" dirty="0"/>
              <a:t>Given </a:t>
            </a:r>
          </a:p>
          <a:p>
            <a:pPr lvl="3">
              <a:lnSpc>
                <a:spcPct val="80000"/>
              </a:lnSpc>
              <a:buFont typeface="Monotype Sorts" charset="0"/>
              <a:buNone/>
            </a:pPr>
            <a:r>
              <a:rPr lang="en-US" sz="2300" i="1" dirty="0"/>
              <a:t>F</a:t>
            </a:r>
            <a:r>
              <a:rPr lang="en-US" sz="2300" dirty="0"/>
              <a:t> = {</a:t>
            </a:r>
            <a:r>
              <a:rPr lang="en-US" sz="2300" i="1" dirty="0"/>
              <a:t>F</a:t>
            </a:r>
            <a:r>
              <a:rPr lang="en-US" sz="2300" baseline="-25000" dirty="0"/>
              <a:t>1</a:t>
            </a:r>
            <a:r>
              <a:rPr lang="en-US" sz="2300" dirty="0"/>
              <a:t>, </a:t>
            </a:r>
            <a:r>
              <a:rPr lang="en-US" sz="2300" i="1" dirty="0"/>
              <a:t>F</a:t>
            </a:r>
            <a:r>
              <a:rPr lang="en-US" sz="2300" baseline="-25000" dirty="0"/>
              <a:t>2</a:t>
            </a:r>
            <a:r>
              <a:rPr lang="en-US" sz="2300" dirty="0"/>
              <a:t>, …, </a:t>
            </a:r>
            <a:r>
              <a:rPr lang="en-US" sz="2300" i="1" dirty="0" err="1"/>
              <a:t>F</a:t>
            </a:r>
            <a:r>
              <a:rPr lang="en-US" sz="2300" i="1" baseline="-25000" dirty="0" err="1"/>
              <a:t>n</a:t>
            </a:r>
            <a:r>
              <a:rPr lang="en-US" sz="2300" dirty="0"/>
              <a:t>} 	fragments</a:t>
            </a:r>
          </a:p>
          <a:p>
            <a:pPr lvl="3">
              <a:lnSpc>
                <a:spcPct val="80000"/>
              </a:lnSpc>
              <a:buFont typeface="Monotype Sorts" charset="0"/>
              <a:buNone/>
            </a:pPr>
            <a:r>
              <a:rPr lang="en-US" sz="2300" i="1" dirty="0"/>
              <a:t>S</a:t>
            </a:r>
            <a:r>
              <a:rPr lang="en-US" sz="2300" dirty="0"/>
              <a:t> ={</a:t>
            </a:r>
            <a:r>
              <a:rPr lang="en-US" sz="2300" i="1" dirty="0"/>
              <a:t>S</a:t>
            </a:r>
            <a:r>
              <a:rPr lang="en-US" sz="2300" baseline="-25000" dirty="0"/>
              <a:t>1</a:t>
            </a:r>
            <a:r>
              <a:rPr lang="en-US" sz="2300" dirty="0"/>
              <a:t>, </a:t>
            </a:r>
            <a:r>
              <a:rPr lang="en-US" sz="2300" i="1" dirty="0"/>
              <a:t>S</a:t>
            </a:r>
            <a:r>
              <a:rPr lang="en-US" sz="2300" baseline="-25000" dirty="0"/>
              <a:t>2</a:t>
            </a:r>
            <a:r>
              <a:rPr lang="en-US" sz="2300" dirty="0"/>
              <a:t>, …, </a:t>
            </a:r>
            <a:r>
              <a:rPr lang="en-US" sz="2300" i="1" dirty="0" err="1"/>
              <a:t>S</a:t>
            </a:r>
            <a:r>
              <a:rPr lang="en-US" sz="2300" i="1" baseline="-25000" dirty="0" err="1"/>
              <a:t>m</a:t>
            </a:r>
            <a:r>
              <a:rPr lang="en-US" sz="2300" dirty="0"/>
              <a:t>} 	network sites </a:t>
            </a:r>
          </a:p>
          <a:p>
            <a:pPr lvl="3">
              <a:lnSpc>
                <a:spcPct val="80000"/>
              </a:lnSpc>
              <a:buFont typeface="Monotype Sorts" charset="0"/>
              <a:buNone/>
            </a:pPr>
            <a:r>
              <a:rPr lang="en-US" sz="2300" i="1" dirty="0"/>
              <a:t>Q</a:t>
            </a:r>
            <a:r>
              <a:rPr lang="en-US" sz="2300" dirty="0"/>
              <a:t> = {</a:t>
            </a:r>
            <a:r>
              <a:rPr lang="en-US" sz="2300" i="1" dirty="0"/>
              <a:t>q</a:t>
            </a:r>
            <a:r>
              <a:rPr lang="en-US" sz="2300" baseline="-25000" dirty="0"/>
              <a:t>1</a:t>
            </a:r>
            <a:r>
              <a:rPr lang="en-US" sz="2300" dirty="0"/>
              <a:t>, </a:t>
            </a:r>
            <a:r>
              <a:rPr lang="en-US" sz="2300" i="1" dirty="0"/>
              <a:t>q</a:t>
            </a:r>
            <a:r>
              <a:rPr lang="en-US" sz="2300" baseline="-25000" dirty="0"/>
              <a:t>2</a:t>
            </a:r>
            <a:r>
              <a:rPr lang="en-US" sz="2300" dirty="0"/>
              <a:t>,…, </a:t>
            </a:r>
            <a:r>
              <a:rPr lang="en-US" sz="2300" i="1" dirty="0" err="1"/>
              <a:t>q</a:t>
            </a:r>
            <a:r>
              <a:rPr lang="en-US" sz="2300" i="1" baseline="-25000" dirty="0" err="1"/>
              <a:t>q</a:t>
            </a:r>
            <a:r>
              <a:rPr lang="en-US" sz="2300" dirty="0"/>
              <a:t>}	applications </a:t>
            </a:r>
          </a:p>
          <a:p>
            <a:pPr lvl="1">
              <a:lnSpc>
                <a:spcPct val="80000"/>
              </a:lnSpc>
              <a:buFont typeface="Monotype Sorts" charset="0"/>
              <a:buNone/>
            </a:pPr>
            <a:r>
              <a:rPr lang="en-US" dirty="0"/>
              <a:t>Find the "optimal" distribution of </a:t>
            </a:r>
            <a:r>
              <a:rPr lang="en-US" i="1" dirty="0"/>
              <a:t>F</a:t>
            </a:r>
            <a:r>
              <a:rPr lang="en-US" dirty="0"/>
              <a:t> to </a:t>
            </a:r>
            <a:r>
              <a:rPr lang="en-US" i="1" dirty="0"/>
              <a:t>S</a:t>
            </a:r>
            <a:r>
              <a:rPr lang="en-US" dirty="0"/>
              <a:t>.</a:t>
            </a:r>
          </a:p>
          <a:p>
            <a:pPr>
              <a:lnSpc>
                <a:spcPct val="80000"/>
              </a:lnSpc>
            </a:pPr>
            <a:r>
              <a:rPr lang="en-US" dirty="0"/>
              <a:t>Optimality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Minimal cost</a:t>
            </a:r>
          </a:p>
          <a:p>
            <a:pPr lvl="2">
              <a:lnSpc>
                <a:spcPct val="80000"/>
              </a:lnSpc>
            </a:pPr>
            <a:r>
              <a:rPr lang="en-US" sz="2300" dirty="0"/>
              <a:t>Communication + storage + processing (read &amp; update)</a:t>
            </a:r>
          </a:p>
          <a:p>
            <a:pPr lvl="2">
              <a:lnSpc>
                <a:spcPct val="80000"/>
              </a:lnSpc>
            </a:pPr>
            <a:r>
              <a:rPr lang="en-US" sz="2300" dirty="0"/>
              <a:t>Cost in terms of time (usually)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Performance</a:t>
            </a:r>
          </a:p>
          <a:p>
            <a:pPr lvl="2">
              <a:lnSpc>
                <a:spcPct val="80000"/>
              </a:lnSpc>
              <a:buFont typeface="Monotype Sorts" charset="0"/>
              <a:buNone/>
            </a:pPr>
            <a:r>
              <a:rPr lang="en-US" sz="2300" dirty="0"/>
              <a:t>Response time and/or throughput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Constraints</a:t>
            </a:r>
          </a:p>
          <a:p>
            <a:pPr lvl="2">
              <a:lnSpc>
                <a:spcPct val="80000"/>
              </a:lnSpc>
            </a:pPr>
            <a:r>
              <a:rPr lang="en-US" sz="2300" dirty="0"/>
              <a:t>Per site constraints (storage &amp; processing)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Information Requirements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dirty="0"/>
              <a:t>Database information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selectivity of fragments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size of a fragment </a:t>
            </a:r>
          </a:p>
          <a:p>
            <a:pPr>
              <a:lnSpc>
                <a:spcPct val="80000"/>
              </a:lnSpc>
            </a:pPr>
            <a:r>
              <a:rPr lang="en-US" dirty="0"/>
              <a:t>Application information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access types and numbers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access localities </a:t>
            </a:r>
          </a:p>
          <a:p>
            <a:pPr>
              <a:lnSpc>
                <a:spcPct val="80000"/>
              </a:lnSpc>
            </a:pPr>
            <a:r>
              <a:rPr lang="en-US" dirty="0"/>
              <a:t>Communication network information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unit cost of storing data at a site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unit cost of processing at a site </a:t>
            </a:r>
          </a:p>
          <a:p>
            <a:pPr>
              <a:lnSpc>
                <a:spcPct val="80000"/>
              </a:lnSpc>
            </a:pPr>
            <a:r>
              <a:rPr lang="en-US" dirty="0"/>
              <a:t>Computer system information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bandwidth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latency 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communication overhead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</a:t>
            </a:r>
          </a:p>
        </p:txBody>
      </p:sp>
      <p:sp>
        <p:nvSpPr>
          <p:cNvPr id="102402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r>
              <a:rPr lang="en-US"/>
              <a:t>File Allocation (FAP) vs Database Allocation (DAP):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/>
              <a:t>Fragments are not individual files</a:t>
            </a:r>
          </a:p>
          <a:p>
            <a:pPr lvl="2">
              <a:lnSpc>
                <a:spcPct val="100000"/>
              </a:lnSpc>
              <a:spcBef>
                <a:spcPct val="60000"/>
              </a:spcBef>
            </a:pPr>
            <a:r>
              <a:rPr lang="en-US"/>
              <a:t>relationships have to be maintained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/>
              <a:t>Access to databases is more complicated</a:t>
            </a:r>
          </a:p>
          <a:p>
            <a:pPr lvl="2">
              <a:lnSpc>
                <a:spcPct val="100000"/>
              </a:lnSpc>
              <a:spcBef>
                <a:spcPct val="60000"/>
              </a:spcBef>
            </a:pPr>
            <a:r>
              <a:rPr lang="en-US"/>
              <a:t>remote file access model not applicable</a:t>
            </a:r>
          </a:p>
          <a:p>
            <a:pPr lvl="2">
              <a:lnSpc>
                <a:spcPct val="100000"/>
              </a:lnSpc>
              <a:spcBef>
                <a:spcPct val="60000"/>
              </a:spcBef>
            </a:pPr>
            <a:r>
              <a:rPr lang="en-US"/>
              <a:t>relationship between allocation and query processing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/>
              <a:t>Cost of integrity enforcement should be considered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</a:pPr>
            <a:r>
              <a:rPr lang="en-US"/>
              <a:t>Cost of concurrency control should be considered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– Information Requirements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/>
              <a:t>Database Information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selectivity of fragments 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size of a fragment 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/>
              <a:t>Application Information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number of read accesses of a query to a fragment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number of update accesses of query to a fragment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A  matrix indicating which queries updates which fragments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A similar matrix for retrievals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originating site of each query 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/>
              <a:t>Site Information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unit cost of storing data at a site 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unit cost of processing at a site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/>
              <a:t>Network Information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communication cost/frame between two sites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/>
              <a:t>frame size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 typeface="Monotype Sorts" charset="0"/>
              <a:buNone/>
            </a:pPr>
            <a:r>
              <a:rPr lang="en-US" b="1" dirty="0">
                <a:solidFill>
                  <a:schemeClr val="hlink"/>
                </a:solidFill>
              </a:rPr>
              <a:t>General Form</a:t>
            </a:r>
            <a:r>
              <a:rPr lang="en-US" dirty="0"/>
              <a:t>		</a:t>
            </a:r>
          </a:p>
          <a:p>
            <a:pPr>
              <a:buFont typeface="Monotype Sorts" charset="0"/>
              <a:buNone/>
            </a:pPr>
            <a:r>
              <a:rPr lang="en-US" dirty="0"/>
              <a:t>			</a:t>
            </a:r>
            <a:r>
              <a:rPr lang="en-US" dirty="0" smtClean="0"/>
              <a:t>minimize (Total </a:t>
            </a:r>
            <a:r>
              <a:rPr lang="en-US" dirty="0"/>
              <a:t>Cost</a:t>
            </a:r>
            <a:r>
              <a:rPr lang="en-US" dirty="0" smtClean="0"/>
              <a:t>)  </a:t>
            </a:r>
            <a:r>
              <a:rPr lang="en-US" dirty="0"/>
              <a:t>	</a:t>
            </a:r>
            <a:endParaRPr lang="en-US" dirty="0" smtClean="0"/>
          </a:p>
          <a:p>
            <a:pPr>
              <a:buFont typeface="Monotype Sorts" charset="0"/>
              <a:buNone/>
            </a:pPr>
            <a:r>
              <a:rPr lang="en-US" dirty="0" smtClean="0"/>
              <a:t>subject to:</a:t>
            </a:r>
            <a:endParaRPr lang="en-US" dirty="0"/>
          </a:p>
          <a:p>
            <a:pPr>
              <a:buFont typeface="Monotype Sorts" charset="0"/>
              <a:buNone/>
            </a:pPr>
            <a:r>
              <a:rPr lang="en-US" dirty="0"/>
              <a:t>			response time constraint</a:t>
            </a:r>
          </a:p>
          <a:p>
            <a:pPr>
              <a:buFont typeface="Monotype Sorts" charset="0"/>
              <a:buNone/>
            </a:pPr>
            <a:r>
              <a:rPr lang="en-US" dirty="0"/>
              <a:t>			storage constraint</a:t>
            </a:r>
          </a:p>
          <a:p>
            <a:pPr>
              <a:buFont typeface="Monotype Sorts" charset="0"/>
              <a:buNone/>
            </a:pPr>
            <a:r>
              <a:rPr lang="en-US" dirty="0"/>
              <a:t>			processing constraint</a:t>
            </a:r>
          </a:p>
          <a:p>
            <a:pPr>
              <a:buFont typeface="Monotype Sorts" charset="0"/>
              <a:buNone/>
            </a:pPr>
            <a:endParaRPr lang="en-US" dirty="0"/>
          </a:p>
          <a:p>
            <a:pPr>
              <a:buFont typeface="Monotype Sorts" charset="0"/>
              <a:buNone/>
            </a:pPr>
            <a:r>
              <a:rPr lang="en-US" dirty="0">
                <a:solidFill>
                  <a:schemeClr val="hlink"/>
                </a:solidFill>
              </a:rPr>
              <a:t>Decision Variable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Model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2694976" y="8036651"/>
            <a:ext cx="855096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i="1" dirty="0" err="1">
                <a:solidFill>
                  <a:srgbClr val="000000"/>
                </a:solidFill>
                <a:latin typeface="Book Antiqua"/>
              </a:rPr>
              <a:t>x</a:t>
            </a:r>
            <a:r>
              <a:rPr lang="en-US" sz="2800" i="1" baseline="-25000" dirty="0" err="1">
                <a:solidFill>
                  <a:srgbClr val="000000"/>
                </a:solidFill>
                <a:latin typeface="Book Antiqua"/>
              </a:rPr>
              <a:t>ij</a:t>
            </a:r>
            <a:r>
              <a:rPr lang="en-US" sz="2800" i="1" baseline="-25000" dirty="0">
                <a:solidFill>
                  <a:srgbClr val="000000"/>
                </a:solidFill>
                <a:latin typeface="Book Antiqua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Symbol" charset="0"/>
                <a:sym typeface="Symbol"/>
              </a:rPr>
              <a:t></a:t>
            </a:r>
            <a:endParaRPr lang="en-US" sz="2800" dirty="0">
              <a:solidFill>
                <a:srgbClr val="000000"/>
              </a:solidFill>
              <a:latin typeface="Symbol" charset="0"/>
            </a:endParaRP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3883206" y="7796107"/>
            <a:ext cx="546095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1 if fragment </a:t>
            </a:r>
            <a:r>
              <a:rPr lang="en-US" sz="2800" i="1" dirty="0">
                <a:solidFill>
                  <a:srgbClr val="000000"/>
                </a:solidFill>
                <a:latin typeface="Book Antiqua"/>
              </a:rPr>
              <a:t>F</a:t>
            </a:r>
            <a:r>
              <a:rPr lang="en-US" sz="2800" i="1" baseline="-25000" dirty="0">
                <a:solidFill>
                  <a:srgbClr val="000000"/>
                </a:solidFill>
                <a:latin typeface="Book Antiqua"/>
              </a:rPr>
              <a:t>i</a:t>
            </a:r>
            <a:r>
              <a:rPr lang="en-US" sz="2800" i="1" dirty="0">
                <a:solidFill>
                  <a:srgbClr val="000000"/>
                </a:solidFill>
                <a:latin typeface="Book Antiqua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Book Antiqua"/>
              </a:rPr>
              <a:t>is stored at site </a:t>
            </a:r>
            <a:r>
              <a:rPr lang="en-US" sz="2800" i="1" dirty="0" err="1">
                <a:solidFill>
                  <a:srgbClr val="000000"/>
                </a:solidFill>
                <a:latin typeface="Book Antiqua"/>
              </a:rPr>
              <a:t>S</a:t>
            </a:r>
            <a:r>
              <a:rPr lang="en-US" sz="2800" i="1" baseline="-25000" dirty="0" err="1">
                <a:solidFill>
                  <a:srgbClr val="000000"/>
                </a:solidFill>
                <a:latin typeface="Book Antiqua"/>
              </a:rPr>
              <a:t>j</a:t>
            </a:r>
            <a:r>
              <a:rPr lang="en-US" sz="2800" dirty="0">
                <a:solidFill>
                  <a:srgbClr val="000000"/>
                </a:solidFill>
                <a:latin typeface="Book Antiqua"/>
              </a:rPr>
              <a:t> </a:t>
            </a: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auto">
          <a:xfrm>
            <a:off x="3883206" y="8344747"/>
            <a:ext cx="2093305" cy="55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Book Antiqua"/>
              </a:rPr>
              <a:t>0 otherwise</a:t>
            </a:r>
          </a:p>
        </p:txBody>
      </p:sp>
      <p:sp>
        <p:nvSpPr>
          <p:cNvPr id="2" name="Left Brace 1"/>
          <p:cNvSpPr/>
          <p:nvPr/>
        </p:nvSpPr>
        <p:spPr bwMode="auto">
          <a:xfrm>
            <a:off x="3550072" y="7829128"/>
            <a:ext cx="504056" cy="1080120"/>
          </a:xfrm>
          <a:prstGeom prst="leftBrace">
            <a:avLst/>
          </a:prstGeom>
          <a:noFill/>
          <a:ln>
            <a:solidFill>
              <a:schemeClr val="tx2"/>
            </a:solidFill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normalizeH="0" baseline="0" dirty="0">
              <a:ln>
                <a:noFill/>
              </a:ln>
              <a:solidFill>
                <a:srgbClr val="263750"/>
              </a:solidFill>
              <a:effectLst/>
              <a:latin typeface="Book Antiqua"/>
              <a:ea typeface="ヒラギノ明朝 ProN W3" charset="0"/>
              <a:cs typeface="ヒラギノ明朝 ProN W3" charset="0"/>
              <a:sym typeface="Palatino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>
                <a:solidFill>
                  <a:schemeClr val="tx2"/>
                </a:solidFill>
              </a:rPr>
              <a:t>Total Cost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endParaRPr lang="en-US" dirty="0"/>
          </a:p>
          <a:p>
            <a:pPr lvl="1"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endParaRPr lang="en-US" dirty="0"/>
          </a:p>
          <a:p>
            <a:pPr lvl="1"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endParaRPr lang="en-US" dirty="0"/>
          </a:p>
          <a:p>
            <a:pPr lvl="1"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endParaRPr lang="en-US" dirty="0"/>
          </a:p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/>
              <a:t>Storage Cost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(of fragment </a:t>
            </a:r>
            <a:r>
              <a:rPr lang="en-US" i="1" dirty="0" err="1"/>
              <a:t>F</a:t>
            </a:r>
            <a:r>
              <a:rPr lang="en-US" i="1" baseline="-25000" dirty="0" err="1"/>
              <a:t>j</a:t>
            </a:r>
            <a:r>
              <a:rPr lang="en-US" i="1" dirty="0"/>
              <a:t> </a:t>
            </a:r>
            <a:r>
              <a:rPr lang="en-US" dirty="0"/>
              <a:t>at </a:t>
            </a:r>
            <a:r>
              <a:rPr lang="en-US" i="1" dirty="0" err="1"/>
              <a:t>S</a:t>
            </a:r>
            <a:r>
              <a:rPr lang="en-US" i="1" baseline="-25000" dirty="0" err="1"/>
              <a:t>k</a:t>
            </a:r>
            <a:r>
              <a:rPr lang="en-US" dirty="0"/>
              <a:t>)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r>
              <a:rPr lang="en-US" dirty="0"/>
              <a:t>	</a:t>
            </a:r>
          </a:p>
          <a:p>
            <a:pPr>
              <a:lnSpc>
                <a:spcPct val="100000"/>
              </a:lnSpc>
              <a:spcBef>
                <a:spcPct val="60000"/>
              </a:spcBef>
            </a:pPr>
            <a:r>
              <a:rPr lang="en-US" dirty="0"/>
              <a:t>Query Processing Cost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/>
              <a:t>(for one query)</a:t>
            </a:r>
          </a:p>
          <a:p>
            <a:pPr lvl="1">
              <a:lnSpc>
                <a:spcPct val="100000"/>
              </a:lnSpc>
              <a:spcBef>
                <a:spcPct val="60000"/>
              </a:spcBef>
              <a:buFont typeface="Monotype Sorts" charset="0"/>
              <a:buNone/>
            </a:pPr>
            <a:r>
              <a:rPr lang="en-US" dirty="0"/>
              <a:t>	processing component + transmission component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Model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2461983" y="6985564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 </a:t>
            </a:r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2461983" y="6985564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i="1" dirty="0">
                <a:solidFill>
                  <a:srgbClr val="000000"/>
                </a:solidFill>
                <a:latin typeface="Book Antiqua"/>
              </a:rPr>
              <a:t>  </a:t>
            </a:r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2370755" y="6285653"/>
            <a:ext cx="6283223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(unit storage cost at </a:t>
            </a:r>
            <a:r>
              <a:rPr lang="en-US" sz="2600" i="1" dirty="0" err="1">
                <a:solidFill>
                  <a:srgbClr val="000000"/>
                </a:solidFill>
                <a:latin typeface="Book Antiqua"/>
              </a:rPr>
              <a:t>S</a:t>
            </a:r>
            <a:r>
              <a:rPr lang="en-US" sz="2600" i="1" baseline="-25000" dirty="0" err="1">
                <a:solidFill>
                  <a:srgbClr val="000000"/>
                </a:solidFill>
                <a:latin typeface="Book Antiqua"/>
              </a:rPr>
              <a:t>k</a:t>
            </a:r>
            <a:r>
              <a:rPr lang="en-US" sz="2600" dirty="0">
                <a:solidFill>
                  <a:srgbClr val="000000"/>
                </a:solidFill>
                <a:latin typeface="Book Antiqua"/>
              </a:rPr>
              <a:t>) </a:t>
            </a:r>
            <a:r>
              <a:rPr lang="en-US" sz="2600" dirty="0" smtClean="0">
                <a:solidFill>
                  <a:srgbClr val="000000"/>
                </a:solidFill>
                <a:latin typeface="Book Antiqua"/>
                <a:sym typeface="Symbol"/>
              </a:rPr>
              <a:t></a:t>
            </a:r>
            <a:r>
              <a:rPr lang="en-US" sz="2600" dirty="0" smtClean="0">
                <a:solidFill>
                  <a:srgbClr val="000000"/>
                </a:solidFill>
                <a:latin typeface="Book Antiqua"/>
              </a:rPr>
              <a:t> </a:t>
            </a:r>
            <a:r>
              <a:rPr lang="en-US" sz="2600" dirty="0">
                <a:solidFill>
                  <a:srgbClr val="000000"/>
                </a:solidFill>
                <a:latin typeface="Book Antiqua"/>
              </a:rPr>
              <a:t>(size of </a:t>
            </a:r>
            <a:r>
              <a:rPr lang="en-US" sz="2600" i="1" dirty="0" err="1">
                <a:solidFill>
                  <a:srgbClr val="000000"/>
                </a:solidFill>
                <a:latin typeface="Book Antiqua"/>
              </a:rPr>
              <a:t>F</a:t>
            </a:r>
            <a:r>
              <a:rPr lang="en-US" sz="2600" i="1" baseline="-25000" dirty="0" err="1">
                <a:solidFill>
                  <a:srgbClr val="000000"/>
                </a:solidFill>
                <a:latin typeface="Book Antiqua"/>
              </a:rPr>
              <a:t>j</a:t>
            </a:r>
            <a:r>
              <a:rPr lang="en-US" sz="2600" dirty="0">
                <a:solidFill>
                  <a:srgbClr val="000000"/>
                </a:solidFill>
                <a:latin typeface="Book Antiqua"/>
              </a:rPr>
              <a:t>) </a:t>
            </a:r>
            <a:r>
              <a:rPr lang="en-US" sz="2600" dirty="0" smtClean="0">
                <a:solidFill>
                  <a:srgbClr val="000000"/>
                </a:solidFill>
                <a:latin typeface="Book Antiqua"/>
                <a:sym typeface="Symbol"/>
              </a:rPr>
              <a:t></a:t>
            </a:r>
            <a:r>
              <a:rPr lang="en-US" sz="2600" dirty="0" smtClean="0">
                <a:solidFill>
                  <a:srgbClr val="000000"/>
                </a:solidFill>
                <a:latin typeface="Book Antiqua"/>
              </a:rPr>
              <a:t> </a:t>
            </a:r>
            <a:r>
              <a:rPr lang="en-US" sz="2600" i="1" dirty="0" err="1" smtClean="0">
                <a:solidFill>
                  <a:srgbClr val="000000"/>
                </a:solidFill>
                <a:latin typeface="Book Antiqua"/>
              </a:rPr>
              <a:t>x</a:t>
            </a:r>
            <a:r>
              <a:rPr lang="en-US" sz="2600" i="1" baseline="-25000" dirty="0" err="1" smtClean="0">
                <a:solidFill>
                  <a:srgbClr val="000000"/>
                </a:solidFill>
                <a:latin typeface="Book Antiqua"/>
              </a:rPr>
              <a:t>jk</a:t>
            </a:r>
            <a:endParaRPr lang="en-US" sz="2600" i="1" baseline="-25000" dirty="0">
              <a:solidFill>
                <a:srgbClr val="000000"/>
              </a:solidFill>
              <a:latin typeface="Book Antiqua"/>
            </a:endParaRPr>
          </a:p>
        </p:txBody>
      </p:sp>
      <p:sp>
        <p:nvSpPr>
          <p:cNvPr id="106503" name="Rectangle 7"/>
          <p:cNvSpPr>
            <a:spLocks noChangeArrowheads="1"/>
          </p:cNvSpPr>
          <p:nvPr/>
        </p:nvSpPr>
        <p:spPr bwMode="auto">
          <a:xfrm>
            <a:off x="8395422" y="6823004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66438" y="3220616"/>
            <a:ext cx="9985893" cy="2304256"/>
            <a:chOff x="1866438" y="3220616"/>
            <a:chExt cx="9985893" cy="2304256"/>
          </a:xfrm>
        </p:grpSpPr>
        <p:sp>
          <p:nvSpPr>
            <p:cNvPr id="106504" name="Rectangle 8"/>
            <p:cNvSpPr>
              <a:spLocks noChangeArrowheads="1"/>
            </p:cNvSpPr>
            <p:nvPr/>
          </p:nvSpPr>
          <p:spPr bwMode="auto">
            <a:xfrm>
              <a:off x="2308454" y="4809067"/>
              <a:ext cx="259895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  </a:t>
              </a:r>
            </a:p>
          </p:txBody>
        </p:sp>
        <p:sp>
          <p:nvSpPr>
            <p:cNvPr id="106505" name="Rectangle 9"/>
            <p:cNvSpPr>
              <a:spLocks noChangeArrowheads="1"/>
            </p:cNvSpPr>
            <p:nvPr/>
          </p:nvSpPr>
          <p:spPr bwMode="auto">
            <a:xfrm>
              <a:off x="3262040" y="3412527"/>
              <a:ext cx="3741408" cy="4898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query processing cost </a:t>
              </a:r>
              <a:r>
                <a:rPr lang="en-US" sz="26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</a:t>
              </a:r>
              <a:endParaRPr lang="en-US" sz="26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6506" name="Rectangle 10"/>
            <p:cNvSpPr>
              <a:spLocks noChangeArrowheads="1"/>
            </p:cNvSpPr>
            <p:nvPr/>
          </p:nvSpPr>
          <p:spPr bwMode="auto">
            <a:xfrm>
              <a:off x="1866438" y="3940696"/>
              <a:ext cx="1587122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queries</a:t>
              </a:r>
            </a:p>
          </p:txBody>
        </p:sp>
        <p:sp>
          <p:nvSpPr>
            <p:cNvPr id="106507" name="Rectangle 11"/>
            <p:cNvSpPr>
              <a:spLocks noChangeArrowheads="1"/>
            </p:cNvSpPr>
            <p:nvPr/>
          </p:nvSpPr>
          <p:spPr bwMode="auto">
            <a:xfrm>
              <a:off x="2131343" y="3220616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6509" name="Rectangle 13"/>
            <p:cNvSpPr>
              <a:spLocks noChangeArrowheads="1"/>
            </p:cNvSpPr>
            <p:nvPr/>
          </p:nvSpPr>
          <p:spPr bwMode="auto">
            <a:xfrm>
              <a:off x="2615511" y="4483947"/>
              <a:ext cx="259895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        </a:t>
              </a:r>
            </a:p>
          </p:txBody>
        </p:sp>
        <p:sp>
          <p:nvSpPr>
            <p:cNvPr id="106510" name="Rectangle 14"/>
            <p:cNvSpPr>
              <a:spLocks noChangeArrowheads="1"/>
            </p:cNvSpPr>
            <p:nvPr/>
          </p:nvSpPr>
          <p:spPr bwMode="auto">
            <a:xfrm>
              <a:off x="5433211" y="4508782"/>
              <a:ext cx="5147154" cy="4898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cost of storing a fragment at a site</a:t>
              </a:r>
            </a:p>
          </p:txBody>
        </p:sp>
        <p:sp>
          <p:nvSpPr>
            <p:cNvPr id="106511" name="Rectangle 15"/>
            <p:cNvSpPr>
              <a:spLocks noChangeArrowheads="1"/>
            </p:cNvSpPr>
            <p:nvPr/>
          </p:nvSpPr>
          <p:spPr bwMode="auto">
            <a:xfrm>
              <a:off x="4027197" y="5065772"/>
              <a:ext cx="1970941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fragments</a:t>
              </a:r>
            </a:p>
          </p:txBody>
        </p:sp>
        <p:sp>
          <p:nvSpPr>
            <p:cNvPr id="106512" name="Rectangle 16"/>
            <p:cNvSpPr>
              <a:spLocks noChangeArrowheads="1"/>
            </p:cNvSpPr>
            <p:nvPr/>
          </p:nvSpPr>
          <p:spPr bwMode="auto">
            <a:xfrm>
              <a:off x="4280747" y="4316871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6513" name="Rectangle 17"/>
            <p:cNvSpPr>
              <a:spLocks noChangeArrowheads="1"/>
            </p:cNvSpPr>
            <p:nvPr/>
          </p:nvSpPr>
          <p:spPr bwMode="auto">
            <a:xfrm>
              <a:off x="2662884" y="5065772"/>
              <a:ext cx="1190980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sites</a:t>
              </a:r>
            </a:p>
          </p:txBody>
        </p:sp>
        <p:sp>
          <p:nvSpPr>
            <p:cNvPr id="106514" name="Rectangle 18"/>
            <p:cNvSpPr>
              <a:spLocks noChangeArrowheads="1"/>
            </p:cNvSpPr>
            <p:nvPr/>
          </p:nvSpPr>
          <p:spPr bwMode="auto">
            <a:xfrm>
              <a:off x="2871894" y="4316871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6516" name="Rectangle 20"/>
            <p:cNvSpPr>
              <a:spLocks noChangeArrowheads="1"/>
            </p:cNvSpPr>
            <p:nvPr/>
          </p:nvSpPr>
          <p:spPr bwMode="auto">
            <a:xfrm>
              <a:off x="11592436" y="4483947"/>
              <a:ext cx="259895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  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Model</a:t>
            </a:r>
          </a:p>
        </p:txBody>
      </p:sp>
      <p:sp>
        <p:nvSpPr>
          <p:cNvPr id="107522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Query Processing Cost</a:t>
            </a:r>
          </a:p>
          <a:p>
            <a:pPr lvl="1">
              <a:buFont typeface="Monotype Sorts" charset="0"/>
              <a:buNone/>
            </a:pPr>
            <a:r>
              <a:rPr lang="en-US" dirty="0">
                <a:solidFill>
                  <a:schemeClr val="hlink"/>
                </a:solidFill>
              </a:rPr>
              <a:t>Processing component</a:t>
            </a:r>
            <a:endParaRPr lang="en-US" dirty="0"/>
          </a:p>
          <a:p>
            <a:pPr lvl="2">
              <a:buFont typeface="Monotype Sorts" charset="0"/>
              <a:buNone/>
            </a:pPr>
            <a:r>
              <a:rPr lang="en-US" dirty="0"/>
              <a:t>access cost + integrity enforcement cost + concurrency control cost</a:t>
            </a:r>
          </a:p>
          <a:p>
            <a:pPr lvl="1"/>
            <a:r>
              <a:rPr lang="en-US" dirty="0"/>
              <a:t>Access cost</a:t>
            </a:r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/>
            <a:r>
              <a:rPr lang="en-US" dirty="0"/>
              <a:t>Integrity enforcement and concurrency control costs</a:t>
            </a:r>
          </a:p>
          <a:p>
            <a:pPr lvl="2"/>
            <a:r>
              <a:rPr lang="en-US" dirty="0"/>
              <a:t>Can be similarly calculated</a:t>
            </a:r>
          </a:p>
        </p:txBody>
      </p:sp>
      <p:sp>
        <p:nvSpPr>
          <p:cNvPr id="107524" name="Rectangle 4"/>
          <p:cNvSpPr>
            <a:spLocks noChangeArrowheads="1"/>
          </p:cNvSpPr>
          <p:nvPr/>
        </p:nvSpPr>
        <p:spPr bwMode="auto">
          <a:xfrm>
            <a:off x="2191049" y="5667022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 </a:t>
            </a:r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2191049" y="5667022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i="1" dirty="0">
                <a:solidFill>
                  <a:srgbClr val="000000"/>
                </a:solidFill>
                <a:latin typeface="Book Antiqua"/>
              </a:rPr>
              <a:t>  </a:t>
            </a:r>
          </a:p>
        </p:txBody>
      </p:sp>
      <p:sp>
        <p:nvSpPr>
          <p:cNvPr id="107533" name="Rectangle 13"/>
          <p:cNvSpPr>
            <a:spLocks noChangeArrowheads="1"/>
          </p:cNvSpPr>
          <p:nvPr/>
        </p:nvSpPr>
        <p:spPr bwMode="auto">
          <a:xfrm>
            <a:off x="12694231" y="4619413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</a:t>
            </a:r>
          </a:p>
        </p:txBody>
      </p:sp>
      <p:sp>
        <p:nvSpPr>
          <p:cNvPr id="107534" name="Rectangle 14"/>
          <p:cNvSpPr>
            <a:spLocks noChangeArrowheads="1"/>
          </p:cNvSpPr>
          <p:nvPr/>
        </p:nvSpPr>
        <p:spPr bwMode="auto">
          <a:xfrm>
            <a:off x="3988240" y="5486400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                                       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726780" y="4452337"/>
            <a:ext cx="9814495" cy="1561841"/>
            <a:chOff x="1726780" y="4452337"/>
            <a:chExt cx="9814495" cy="1561841"/>
          </a:xfrm>
        </p:grpSpPr>
        <p:grpSp>
          <p:nvGrpSpPr>
            <p:cNvPr id="4" name="Group 3"/>
            <p:cNvGrpSpPr/>
            <p:nvPr/>
          </p:nvGrpSpPr>
          <p:grpSpPr>
            <a:xfrm>
              <a:off x="1726780" y="4452337"/>
              <a:ext cx="9814495" cy="1216551"/>
              <a:chOff x="1726780" y="4452337"/>
              <a:chExt cx="9814495" cy="1216551"/>
            </a:xfrm>
          </p:grpSpPr>
          <p:sp>
            <p:nvSpPr>
              <p:cNvPr id="107527" name="Rectangle 7"/>
              <p:cNvSpPr>
                <a:spLocks noChangeArrowheads="1"/>
              </p:cNvSpPr>
              <p:nvPr/>
            </p:nvSpPr>
            <p:spPr bwMode="auto">
              <a:xfrm>
                <a:off x="4523329" y="4732784"/>
                <a:ext cx="7017946" cy="48987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7" tIns="44450" rIns="90487" bIns="44450">
                <a:spAutoFit/>
              </a:bodyPr>
              <a:lstStyle/>
              <a:p>
                <a:r>
                  <a:rPr lang="en-US" sz="2600" dirty="0" smtClean="0">
                    <a:solidFill>
                      <a:srgbClr val="000000"/>
                    </a:solidFill>
                    <a:latin typeface="Book Antiqua"/>
                  </a:rPr>
                  <a:t>(no</a:t>
                </a:r>
                <a:r>
                  <a:rPr lang="en-US" sz="2600" dirty="0">
                    <a:solidFill>
                      <a:srgbClr val="000000"/>
                    </a:solidFill>
                    <a:latin typeface="Book Antiqua"/>
                  </a:rPr>
                  <a:t>. of update accesses+ no. of read accesses) </a:t>
                </a:r>
                <a:r>
                  <a:rPr lang="en-US" sz="2600" dirty="0" smtClean="0">
                    <a:solidFill>
                      <a:srgbClr val="000000"/>
                    </a:solidFill>
                    <a:latin typeface="Book Antiqua"/>
                    <a:sym typeface="Symbol"/>
                  </a:rPr>
                  <a:t></a:t>
                </a:r>
                <a:endParaRPr lang="en-US" sz="2600" dirty="0">
                  <a:solidFill>
                    <a:srgbClr val="000000"/>
                  </a:solidFill>
                  <a:latin typeface="Book Antiqua"/>
                </a:endParaRPr>
              </a:p>
            </p:txBody>
          </p:sp>
          <p:sp>
            <p:nvSpPr>
              <p:cNvPr id="107528" name="Rectangle 8"/>
              <p:cNvSpPr>
                <a:spLocks noChangeArrowheads="1"/>
              </p:cNvSpPr>
              <p:nvPr/>
            </p:nvSpPr>
            <p:spPr bwMode="auto">
              <a:xfrm>
                <a:off x="3109155" y="5209788"/>
                <a:ext cx="1970941" cy="4591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7" tIns="44450" rIns="90487" bIns="44450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Book Antiqua"/>
                  </a:rPr>
                  <a:t>all fragments</a:t>
                </a:r>
              </a:p>
            </p:txBody>
          </p:sp>
          <p:sp>
            <p:nvSpPr>
              <p:cNvPr id="107529" name="Rectangle 9"/>
              <p:cNvSpPr>
                <a:spLocks noChangeArrowheads="1"/>
              </p:cNvSpPr>
              <p:nvPr/>
            </p:nvSpPr>
            <p:spPr bwMode="auto">
              <a:xfrm>
                <a:off x="3458917" y="4452337"/>
                <a:ext cx="673260" cy="874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7" tIns="44450" rIns="90487" bIns="44450">
                <a:spAutoFit/>
              </a:bodyPr>
              <a:lstStyle/>
              <a:p>
                <a:r>
                  <a:rPr lang="en-US" sz="5100" dirty="0" smtClean="0">
                    <a:solidFill>
                      <a:srgbClr val="000000"/>
                    </a:solidFill>
                    <a:latin typeface="Symbol" charset="0"/>
                    <a:sym typeface="Symbol"/>
                  </a:rPr>
                  <a:t></a:t>
                </a:r>
                <a:endParaRPr lang="en-US" sz="5100" dirty="0">
                  <a:solidFill>
                    <a:srgbClr val="000000"/>
                  </a:solidFill>
                  <a:latin typeface="Symbol" charset="0"/>
                </a:endParaRPr>
              </a:p>
            </p:txBody>
          </p:sp>
          <p:sp>
            <p:nvSpPr>
              <p:cNvPr id="107530" name="Rectangle 10"/>
              <p:cNvSpPr>
                <a:spLocks noChangeArrowheads="1"/>
              </p:cNvSpPr>
              <p:nvPr/>
            </p:nvSpPr>
            <p:spPr bwMode="auto">
              <a:xfrm>
                <a:off x="1726780" y="5209788"/>
                <a:ext cx="1190980" cy="4591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7" tIns="44450" rIns="90487" bIns="44450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  <a:latin typeface="Book Antiqua"/>
                  </a:rPr>
                  <a:t>all sites</a:t>
                </a:r>
              </a:p>
            </p:txBody>
          </p:sp>
          <p:sp>
            <p:nvSpPr>
              <p:cNvPr id="107531" name="Rectangle 11"/>
              <p:cNvSpPr>
                <a:spLocks noChangeArrowheads="1"/>
              </p:cNvSpPr>
              <p:nvPr/>
            </p:nvSpPr>
            <p:spPr bwMode="auto">
              <a:xfrm>
                <a:off x="2013939" y="4452337"/>
                <a:ext cx="673260" cy="8745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lIns="90487" tIns="44450" rIns="90487" bIns="44450">
                <a:spAutoFit/>
              </a:bodyPr>
              <a:lstStyle/>
              <a:p>
                <a:r>
                  <a:rPr lang="en-US" sz="5100" dirty="0" smtClean="0">
                    <a:solidFill>
                      <a:srgbClr val="000000"/>
                    </a:solidFill>
                    <a:latin typeface="Symbol" charset="0"/>
                    <a:sym typeface="Symbol"/>
                  </a:rPr>
                  <a:t></a:t>
                </a:r>
                <a:endParaRPr lang="en-US" sz="5100" dirty="0">
                  <a:solidFill>
                    <a:srgbClr val="000000"/>
                  </a:solidFill>
                  <a:latin typeface="Symbol" charset="0"/>
                </a:endParaRPr>
              </a:p>
            </p:txBody>
          </p:sp>
        </p:grpSp>
        <p:sp>
          <p:nvSpPr>
            <p:cNvPr id="107535" name="Rectangle 15"/>
            <p:cNvSpPr>
              <a:spLocks noChangeArrowheads="1"/>
            </p:cNvSpPr>
            <p:nvPr/>
          </p:nvSpPr>
          <p:spPr bwMode="auto">
            <a:xfrm>
              <a:off x="5932014" y="5486400"/>
              <a:ext cx="5082854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i="1" dirty="0" err="1" smtClean="0">
                  <a:solidFill>
                    <a:srgbClr val="000000"/>
                  </a:solidFill>
                  <a:latin typeface="Book Antiqua"/>
                </a:rPr>
                <a:t>x</a:t>
              </a:r>
              <a:r>
                <a:rPr lang="en-US" sz="2600" i="1" baseline="-25000" dirty="0" err="1" smtClean="0">
                  <a:solidFill>
                    <a:srgbClr val="000000"/>
                  </a:solidFill>
                  <a:latin typeface="Book Antiqua"/>
                </a:rPr>
                <a:t>ij</a:t>
              </a:r>
              <a:r>
                <a:rPr lang="en-US" sz="2600" i="1" dirty="0" smtClean="0">
                  <a:solidFill>
                    <a:srgbClr val="000000"/>
                  </a:solidFill>
                  <a:latin typeface="Symbol" charset="0"/>
                </a:rPr>
                <a:t> </a:t>
              </a:r>
              <a:r>
                <a:rPr lang="en-US" sz="2600" dirty="0" smtClean="0">
                  <a:solidFill>
                    <a:srgbClr val="000000"/>
                  </a:solidFill>
                  <a:latin typeface="Book Antiqua"/>
                  <a:sym typeface="Symbol"/>
                </a:rPr>
                <a:t></a:t>
              </a:r>
              <a:r>
                <a:rPr lang="en-US" sz="2600" dirty="0" smtClean="0">
                  <a:solidFill>
                    <a:srgbClr val="000000"/>
                  </a:solidFill>
                  <a:latin typeface="Book Antiqua"/>
                </a:rPr>
                <a:t> local </a:t>
              </a:r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processing cost at a site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Query Processing Cost</a:t>
            </a:r>
          </a:p>
          <a:p>
            <a:pPr lvl="1">
              <a:buFont typeface="Monotype Sorts" charset="0"/>
              <a:buNone/>
            </a:pPr>
            <a:r>
              <a:rPr lang="en-US" dirty="0">
                <a:solidFill>
                  <a:schemeClr val="hlink"/>
                </a:solidFill>
              </a:rPr>
              <a:t>Transmission component</a:t>
            </a:r>
            <a:endParaRPr lang="en-US" dirty="0"/>
          </a:p>
          <a:p>
            <a:pPr lvl="2">
              <a:buFont typeface="Monotype Sorts" charset="0"/>
              <a:buNone/>
            </a:pPr>
            <a:r>
              <a:rPr lang="en-US" dirty="0"/>
              <a:t>cost of processing updates + cost of processing retrievals</a:t>
            </a:r>
          </a:p>
          <a:p>
            <a:pPr lvl="1"/>
            <a:r>
              <a:rPr lang="en-US" dirty="0"/>
              <a:t>Cost of updates</a:t>
            </a:r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>
              <a:buFont typeface="Monotype Sorts" charset="0"/>
              <a:buNone/>
            </a:pPr>
            <a:endParaRPr lang="en-US" dirty="0"/>
          </a:p>
          <a:p>
            <a:pPr lvl="1"/>
            <a:r>
              <a:rPr lang="en-US" dirty="0"/>
              <a:t>Retrieval Cost</a:t>
            </a:r>
          </a:p>
          <a:p>
            <a:endParaRPr lang="en-US" dirty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Model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230836" y="4551680"/>
            <a:ext cx="7303731" cy="2098170"/>
            <a:chOff x="2230836" y="4551680"/>
            <a:chExt cx="7303731" cy="2098170"/>
          </a:xfrm>
        </p:grpSpPr>
        <p:sp>
          <p:nvSpPr>
            <p:cNvPr id="108548" name="Rectangle 4"/>
            <p:cNvSpPr>
              <a:spLocks noChangeArrowheads="1"/>
            </p:cNvSpPr>
            <p:nvPr/>
          </p:nvSpPr>
          <p:spPr bwMode="auto">
            <a:xfrm>
              <a:off x="2696792" y="5946987"/>
              <a:ext cx="259895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  </a:t>
              </a:r>
            </a:p>
          </p:txBody>
        </p:sp>
        <p:sp>
          <p:nvSpPr>
            <p:cNvPr id="108549" name="Rectangle 5"/>
            <p:cNvSpPr>
              <a:spLocks noChangeArrowheads="1"/>
            </p:cNvSpPr>
            <p:nvPr/>
          </p:nvSpPr>
          <p:spPr bwMode="auto">
            <a:xfrm>
              <a:off x="4486176" y="4718756"/>
              <a:ext cx="3706142" cy="4898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update message cost  </a:t>
              </a:r>
              <a:r>
                <a:rPr lang="en-US" sz="26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</a:t>
              </a:r>
              <a:endParaRPr lang="en-US" sz="26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8550" name="Rectangle 6"/>
            <p:cNvSpPr>
              <a:spLocks noChangeArrowheads="1"/>
            </p:cNvSpPr>
            <p:nvPr/>
          </p:nvSpPr>
          <p:spPr bwMode="auto">
            <a:xfrm>
              <a:off x="3595149" y="5287639"/>
              <a:ext cx="1970941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fragments</a:t>
              </a:r>
            </a:p>
          </p:txBody>
        </p:sp>
        <p:sp>
          <p:nvSpPr>
            <p:cNvPr id="108551" name="Rectangle 7"/>
            <p:cNvSpPr>
              <a:spLocks noChangeArrowheads="1"/>
            </p:cNvSpPr>
            <p:nvPr/>
          </p:nvSpPr>
          <p:spPr bwMode="auto">
            <a:xfrm>
              <a:off x="3946598" y="4551680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8552" name="Rectangle 8"/>
            <p:cNvSpPr>
              <a:spLocks noChangeArrowheads="1"/>
            </p:cNvSpPr>
            <p:nvPr/>
          </p:nvSpPr>
          <p:spPr bwMode="auto">
            <a:xfrm>
              <a:off x="2230836" y="5287639"/>
              <a:ext cx="1190980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sites</a:t>
              </a:r>
            </a:p>
          </p:txBody>
        </p:sp>
        <p:sp>
          <p:nvSpPr>
            <p:cNvPr id="108553" name="Rectangle 9"/>
            <p:cNvSpPr>
              <a:spLocks noChangeArrowheads="1"/>
            </p:cNvSpPr>
            <p:nvPr/>
          </p:nvSpPr>
          <p:spPr bwMode="auto">
            <a:xfrm>
              <a:off x="2519682" y="4551680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8555" name="Rectangle 11"/>
            <p:cNvSpPr>
              <a:spLocks noChangeArrowheads="1"/>
            </p:cNvSpPr>
            <p:nvPr/>
          </p:nvSpPr>
          <p:spPr bwMode="auto">
            <a:xfrm>
              <a:off x="3365093" y="5621867"/>
              <a:ext cx="259895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                </a:t>
              </a:r>
            </a:p>
          </p:txBody>
        </p:sp>
        <p:sp>
          <p:nvSpPr>
            <p:cNvPr id="108556" name="Rectangle 12"/>
            <p:cNvSpPr>
              <a:spLocks noChangeArrowheads="1"/>
            </p:cNvSpPr>
            <p:nvPr/>
          </p:nvSpPr>
          <p:spPr bwMode="auto">
            <a:xfrm>
              <a:off x="6059847" y="5621867"/>
              <a:ext cx="3474720" cy="4899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acknowledgment cost   </a:t>
              </a:r>
            </a:p>
          </p:txBody>
        </p:sp>
        <p:sp>
          <p:nvSpPr>
            <p:cNvPr id="108557" name="Rectangle 13"/>
            <p:cNvSpPr>
              <a:spLocks noChangeArrowheads="1"/>
            </p:cNvSpPr>
            <p:nvPr/>
          </p:nvSpPr>
          <p:spPr bwMode="auto">
            <a:xfrm>
              <a:off x="4931753" y="6190750"/>
              <a:ext cx="1970941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fragments</a:t>
              </a:r>
            </a:p>
          </p:txBody>
        </p:sp>
        <p:sp>
          <p:nvSpPr>
            <p:cNvPr id="108558" name="Rectangle 14"/>
            <p:cNvSpPr>
              <a:spLocks noChangeArrowheads="1"/>
            </p:cNvSpPr>
            <p:nvPr/>
          </p:nvSpPr>
          <p:spPr bwMode="auto">
            <a:xfrm>
              <a:off x="5301264" y="5454791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8559" name="Rectangle 15"/>
            <p:cNvSpPr>
              <a:spLocks noChangeArrowheads="1"/>
            </p:cNvSpPr>
            <p:nvPr/>
          </p:nvSpPr>
          <p:spPr bwMode="auto">
            <a:xfrm>
              <a:off x="3567440" y="6190750"/>
              <a:ext cx="1190980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sites</a:t>
              </a:r>
            </a:p>
          </p:txBody>
        </p:sp>
        <p:sp>
          <p:nvSpPr>
            <p:cNvPr id="108560" name="Rectangle 16"/>
            <p:cNvSpPr>
              <a:spLocks noChangeArrowheads="1"/>
            </p:cNvSpPr>
            <p:nvPr/>
          </p:nvSpPr>
          <p:spPr bwMode="auto">
            <a:xfrm>
              <a:off x="3856286" y="5454791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097336" y="7270046"/>
            <a:ext cx="8972782" cy="1634087"/>
            <a:chOff x="2097336" y="7270046"/>
            <a:chExt cx="8972782" cy="1634087"/>
          </a:xfrm>
        </p:grpSpPr>
        <p:sp>
          <p:nvSpPr>
            <p:cNvPr id="108562" name="Rectangle 18"/>
            <p:cNvSpPr>
              <a:spLocks noChangeArrowheads="1"/>
            </p:cNvSpPr>
            <p:nvPr/>
          </p:nvSpPr>
          <p:spPr bwMode="auto">
            <a:xfrm>
              <a:off x="2805165" y="8376355"/>
              <a:ext cx="259895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  </a:t>
              </a:r>
            </a:p>
          </p:txBody>
        </p:sp>
        <p:sp>
          <p:nvSpPr>
            <p:cNvPr id="108564" name="Rectangle 20"/>
            <p:cNvSpPr>
              <a:spLocks noChangeArrowheads="1"/>
            </p:cNvSpPr>
            <p:nvPr/>
          </p:nvSpPr>
          <p:spPr bwMode="auto">
            <a:xfrm>
              <a:off x="3484294" y="7469088"/>
              <a:ext cx="787964" cy="4899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min</a:t>
              </a:r>
            </a:p>
          </p:txBody>
        </p:sp>
        <p:sp>
          <p:nvSpPr>
            <p:cNvPr id="108565" name="Rectangle 21"/>
            <p:cNvSpPr>
              <a:spLocks noChangeArrowheads="1"/>
            </p:cNvSpPr>
            <p:nvPr/>
          </p:nvSpPr>
          <p:spPr bwMode="auto">
            <a:xfrm>
              <a:off x="4102841" y="7679573"/>
              <a:ext cx="1022940" cy="3975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000" dirty="0">
                  <a:solidFill>
                    <a:srgbClr val="000000"/>
                  </a:solidFill>
                  <a:latin typeface="Book Antiqua"/>
                </a:rPr>
                <a:t>all sites</a:t>
              </a:r>
            </a:p>
          </p:txBody>
        </p:sp>
        <p:sp>
          <p:nvSpPr>
            <p:cNvPr id="108566" name="Rectangle 22"/>
            <p:cNvSpPr>
              <a:spLocks noChangeArrowheads="1"/>
            </p:cNvSpPr>
            <p:nvPr/>
          </p:nvSpPr>
          <p:spPr bwMode="auto">
            <a:xfrm>
              <a:off x="2097336" y="8045152"/>
              <a:ext cx="1970941" cy="459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fragments</a:t>
              </a:r>
            </a:p>
          </p:txBody>
        </p:sp>
        <p:sp>
          <p:nvSpPr>
            <p:cNvPr id="108567" name="Rectangle 23"/>
            <p:cNvSpPr>
              <a:spLocks noChangeArrowheads="1"/>
            </p:cNvSpPr>
            <p:nvPr/>
          </p:nvSpPr>
          <p:spPr bwMode="auto">
            <a:xfrm>
              <a:off x="2628055" y="7270046"/>
              <a:ext cx="673260" cy="874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8568" name="Rectangle 24"/>
            <p:cNvSpPr>
              <a:spLocks noChangeArrowheads="1"/>
            </p:cNvSpPr>
            <p:nvPr/>
          </p:nvSpPr>
          <p:spPr bwMode="auto">
            <a:xfrm>
              <a:off x="5037467" y="7469088"/>
              <a:ext cx="4610386" cy="4898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7" tIns="44450" rIns="90487" bIns="44450">
              <a:spAutoFit/>
            </a:bodyPr>
            <a:lstStyle/>
            <a:p>
              <a:r>
                <a:rPr lang="en-US" sz="2600" dirty="0" smtClean="0">
                  <a:solidFill>
                    <a:srgbClr val="000000"/>
                  </a:solidFill>
                  <a:latin typeface="Book Antiqua"/>
                </a:rPr>
                <a:t>(cost </a:t>
              </a:r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of retrieval command  </a:t>
              </a:r>
              <a:r>
                <a:rPr lang="en-US" sz="26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</a:t>
              </a:r>
              <a:r>
                <a:rPr lang="en-US" sz="2600" dirty="0" smtClean="0">
                  <a:solidFill>
                    <a:srgbClr val="000000"/>
                  </a:solidFill>
                  <a:latin typeface="Book Antiqua"/>
                </a:rPr>
                <a:t> </a:t>
              </a:r>
              <a:endParaRPr lang="en-US" sz="2600" dirty="0">
                <a:solidFill>
                  <a:srgbClr val="000000"/>
                </a:solidFill>
                <a:latin typeface="Book Antiqua"/>
              </a:endParaRPr>
            </a:p>
          </p:txBody>
        </p:sp>
        <p:sp>
          <p:nvSpPr>
            <p:cNvPr id="108570" name="Rectangle 26"/>
            <p:cNvSpPr>
              <a:spLocks noChangeArrowheads="1"/>
            </p:cNvSpPr>
            <p:nvPr/>
          </p:nvSpPr>
          <p:spPr bwMode="auto">
            <a:xfrm>
              <a:off x="6253311" y="8117160"/>
              <a:ext cx="4816807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cost of sending back the result)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Model</a:t>
            </a:r>
          </a:p>
        </p:txBody>
      </p:sp>
      <p:sp>
        <p:nvSpPr>
          <p:cNvPr id="109570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40000"/>
              </a:spcBef>
            </a:pPr>
            <a:r>
              <a:rPr lang="en-US" dirty="0">
                <a:solidFill>
                  <a:schemeClr val="tx2"/>
                </a:solidFill>
              </a:rPr>
              <a:t>Constraints</a:t>
            </a:r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en-US" dirty="0"/>
              <a:t>Response Time</a:t>
            </a:r>
          </a:p>
          <a:p>
            <a:pPr lvl="2">
              <a:lnSpc>
                <a:spcPct val="100000"/>
              </a:lnSpc>
              <a:spcBef>
                <a:spcPct val="40000"/>
              </a:spcBef>
              <a:buFont typeface="Monotype Sorts" charset="0"/>
              <a:buNone/>
            </a:pPr>
            <a:r>
              <a:rPr lang="en-US" dirty="0"/>
              <a:t>execution time of query  ≤ max. allowable response time for that query		    </a:t>
            </a:r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en-US" dirty="0"/>
              <a:t>Storage Constraint (for a site)</a:t>
            </a:r>
          </a:p>
          <a:p>
            <a:pPr lvl="1">
              <a:lnSpc>
                <a:spcPct val="100000"/>
              </a:lnSpc>
              <a:spcBef>
                <a:spcPct val="40000"/>
              </a:spcBef>
              <a:buFont typeface="Monotype Sorts" charset="0"/>
              <a:buNone/>
            </a:pPr>
            <a:endParaRPr lang="en-US" dirty="0"/>
          </a:p>
          <a:p>
            <a:pPr lvl="1">
              <a:lnSpc>
                <a:spcPct val="100000"/>
              </a:lnSpc>
              <a:spcBef>
                <a:spcPct val="40000"/>
              </a:spcBef>
              <a:buFont typeface="Monotype Sorts" charset="0"/>
              <a:buNone/>
            </a:pPr>
            <a:endParaRPr lang="en-US" dirty="0"/>
          </a:p>
          <a:p>
            <a:pPr lvl="1">
              <a:lnSpc>
                <a:spcPct val="100000"/>
              </a:lnSpc>
              <a:spcBef>
                <a:spcPct val="40000"/>
              </a:spcBef>
              <a:buFont typeface="Monotype Sorts" charset="0"/>
              <a:buNone/>
            </a:pPr>
            <a:endParaRPr lang="en-US" dirty="0"/>
          </a:p>
          <a:p>
            <a:pPr lvl="1">
              <a:lnSpc>
                <a:spcPct val="100000"/>
              </a:lnSpc>
              <a:spcBef>
                <a:spcPct val="40000"/>
              </a:spcBef>
            </a:pPr>
            <a:r>
              <a:rPr lang="en-US" dirty="0"/>
              <a:t>Processing constraint (for a site)</a:t>
            </a:r>
          </a:p>
          <a:p>
            <a:endParaRPr lang="en-US" dirty="0"/>
          </a:p>
        </p:txBody>
      </p:sp>
      <p:sp>
        <p:nvSpPr>
          <p:cNvPr id="109572" name="Rectangle 4"/>
          <p:cNvSpPr>
            <a:spLocks noChangeArrowheads="1"/>
          </p:cNvSpPr>
          <p:nvPr/>
        </p:nvSpPr>
        <p:spPr bwMode="auto">
          <a:xfrm>
            <a:off x="2868383" y="6371449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167770" y="4732784"/>
            <a:ext cx="9130995" cy="1267846"/>
            <a:chOff x="2167770" y="4732784"/>
            <a:chExt cx="9130995" cy="1267846"/>
          </a:xfrm>
        </p:grpSpPr>
        <p:sp>
          <p:nvSpPr>
            <p:cNvPr id="109573" name="Rectangle 5"/>
            <p:cNvSpPr>
              <a:spLocks noChangeArrowheads="1"/>
            </p:cNvSpPr>
            <p:nvPr/>
          </p:nvSpPr>
          <p:spPr bwMode="auto">
            <a:xfrm>
              <a:off x="3550072" y="4899859"/>
              <a:ext cx="7748693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storage requirement of a fragment at that site  </a:t>
              </a:r>
              <a:r>
                <a:rPr lang="en-US" sz="26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</a:t>
              </a:r>
              <a:r>
                <a:rPr lang="en-US" sz="2600" dirty="0" smtClean="0">
                  <a:solidFill>
                    <a:srgbClr val="000000"/>
                  </a:solidFill>
                  <a:latin typeface="Book Antiqua"/>
                </a:rPr>
                <a:t>     </a:t>
              </a:r>
              <a:endParaRPr lang="en-US" sz="2600" dirty="0">
                <a:solidFill>
                  <a:srgbClr val="000000"/>
                </a:solidFill>
                <a:latin typeface="Book Antiqua"/>
              </a:endParaRPr>
            </a:p>
          </p:txBody>
        </p:sp>
        <p:sp>
          <p:nvSpPr>
            <p:cNvPr id="109574" name="Rectangle 6"/>
            <p:cNvSpPr>
              <a:spLocks noChangeArrowheads="1"/>
            </p:cNvSpPr>
            <p:nvPr/>
          </p:nvSpPr>
          <p:spPr bwMode="auto">
            <a:xfrm>
              <a:off x="2167770" y="5503629"/>
              <a:ext cx="2048095" cy="4970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fragments</a:t>
              </a:r>
            </a:p>
          </p:txBody>
        </p:sp>
        <p:sp>
          <p:nvSpPr>
            <p:cNvPr id="109575" name="Rectangle 7"/>
            <p:cNvSpPr>
              <a:spLocks noChangeArrowheads="1"/>
            </p:cNvSpPr>
            <p:nvPr/>
          </p:nvSpPr>
          <p:spPr bwMode="auto">
            <a:xfrm>
              <a:off x="2652321" y="4732784"/>
              <a:ext cx="750414" cy="912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9576" name="Rectangle 8"/>
            <p:cNvSpPr>
              <a:spLocks noChangeArrowheads="1"/>
            </p:cNvSpPr>
            <p:nvPr/>
          </p:nvSpPr>
          <p:spPr bwMode="auto">
            <a:xfrm>
              <a:off x="5125326" y="5308848"/>
              <a:ext cx="4250571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storage capacity at that site</a:t>
              </a:r>
            </a:p>
          </p:txBody>
        </p:sp>
      </p:grpSp>
      <p:sp>
        <p:nvSpPr>
          <p:cNvPr id="109577" name="Rectangle 9"/>
          <p:cNvSpPr>
            <a:spLocks noChangeArrowheads="1"/>
          </p:cNvSpPr>
          <p:nvPr/>
        </p:nvSpPr>
        <p:spPr bwMode="auto">
          <a:xfrm>
            <a:off x="2886445" y="8701475"/>
            <a:ext cx="259895" cy="527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691" tIns="63217" rIns="128691" bIns="63217">
            <a:sp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Book Antiqua"/>
              </a:rPr>
              <a:t> 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370494" y="7595165"/>
            <a:ext cx="7759021" cy="1235020"/>
            <a:chOff x="2370494" y="7595165"/>
            <a:chExt cx="7759021" cy="1235020"/>
          </a:xfrm>
        </p:grpSpPr>
        <p:sp>
          <p:nvSpPr>
            <p:cNvPr id="109578" name="Rectangle 10"/>
            <p:cNvSpPr>
              <a:spLocks noChangeArrowheads="1"/>
            </p:cNvSpPr>
            <p:nvPr/>
          </p:nvSpPr>
          <p:spPr bwMode="auto">
            <a:xfrm>
              <a:off x="3564515" y="7829128"/>
              <a:ext cx="6102478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processing load of a query at that site  </a:t>
              </a:r>
              <a:r>
                <a:rPr lang="en-US" sz="26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</a:t>
              </a:r>
              <a:r>
                <a:rPr lang="en-US" sz="2600" dirty="0" smtClean="0">
                  <a:solidFill>
                    <a:srgbClr val="000000"/>
                  </a:solidFill>
                  <a:latin typeface="Book Antiqua"/>
                </a:rPr>
                <a:t>    </a:t>
              </a:r>
              <a:endParaRPr lang="en-US" sz="2600" dirty="0">
                <a:solidFill>
                  <a:srgbClr val="000000"/>
                </a:solidFill>
                <a:latin typeface="Book Antiqua"/>
              </a:endParaRPr>
            </a:p>
          </p:txBody>
        </p:sp>
        <p:sp>
          <p:nvSpPr>
            <p:cNvPr id="109579" name="Rectangle 11"/>
            <p:cNvSpPr>
              <a:spLocks noChangeArrowheads="1"/>
            </p:cNvSpPr>
            <p:nvPr/>
          </p:nvSpPr>
          <p:spPr bwMode="auto">
            <a:xfrm>
              <a:off x="2370494" y="8333184"/>
              <a:ext cx="1664276" cy="4970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latin typeface="Book Antiqua"/>
                </a:rPr>
                <a:t>all queries</a:t>
              </a:r>
            </a:p>
          </p:txBody>
        </p:sp>
        <p:sp>
          <p:nvSpPr>
            <p:cNvPr id="109580" name="Rectangle 12"/>
            <p:cNvSpPr>
              <a:spLocks noChangeArrowheads="1"/>
            </p:cNvSpPr>
            <p:nvPr/>
          </p:nvSpPr>
          <p:spPr bwMode="auto">
            <a:xfrm>
              <a:off x="2670383" y="7595165"/>
              <a:ext cx="750414" cy="912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5100" dirty="0" smtClean="0">
                  <a:solidFill>
                    <a:srgbClr val="000000"/>
                  </a:solidFill>
                  <a:latin typeface="Symbol" charset="0"/>
                  <a:sym typeface="Symbol"/>
                </a:rPr>
                <a:t></a:t>
              </a:r>
              <a:endParaRPr lang="en-US" sz="5100" dirty="0">
                <a:solidFill>
                  <a:srgbClr val="000000"/>
                </a:solidFill>
                <a:latin typeface="Symbol" charset="0"/>
              </a:endParaRPr>
            </a:p>
          </p:txBody>
        </p:sp>
        <p:sp>
          <p:nvSpPr>
            <p:cNvPr id="109581" name="Rectangle 13"/>
            <p:cNvSpPr>
              <a:spLocks noChangeArrowheads="1"/>
            </p:cNvSpPr>
            <p:nvPr/>
          </p:nvSpPr>
          <p:spPr bwMode="auto">
            <a:xfrm>
              <a:off x="5362038" y="8261176"/>
              <a:ext cx="4767477" cy="5277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128691" tIns="63217" rIns="128691" bIns="63217">
              <a:spAutoFit/>
            </a:bodyPr>
            <a:lstStyle/>
            <a:p>
              <a:r>
                <a:rPr lang="en-US" sz="2600" dirty="0">
                  <a:solidFill>
                    <a:srgbClr val="000000"/>
                  </a:solidFill>
                  <a:latin typeface="Book Antiqua"/>
                </a:rPr>
                <a:t>processing capacity of that site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/>
              <a:t>Allocation Model</a:t>
            </a:r>
          </a:p>
        </p:txBody>
      </p:sp>
      <p:sp>
        <p:nvSpPr>
          <p:cNvPr id="1116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10000"/>
              </a:lnSpc>
              <a:spcBef>
                <a:spcPct val="80000"/>
              </a:spcBef>
            </a:pPr>
            <a:r>
              <a:rPr lang="en-US"/>
              <a:t>Attempts to reduce the solution space</a:t>
            </a:r>
          </a:p>
          <a:p>
            <a:pPr lvl="1">
              <a:lnSpc>
                <a:spcPct val="110000"/>
              </a:lnSpc>
              <a:spcBef>
                <a:spcPct val="80000"/>
              </a:spcBef>
            </a:pPr>
            <a:r>
              <a:rPr lang="en-US"/>
              <a:t>assume all candidate partitionings known; select the “best” partitioning</a:t>
            </a:r>
          </a:p>
          <a:p>
            <a:pPr lvl="1">
              <a:lnSpc>
                <a:spcPct val="110000"/>
              </a:lnSpc>
              <a:spcBef>
                <a:spcPct val="80000"/>
              </a:spcBef>
            </a:pPr>
            <a:r>
              <a:rPr lang="en-US"/>
              <a:t>ignore replication at first</a:t>
            </a:r>
          </a:p>
          <a:p>
            <a:pPr lvl="1">
              <a:lnSpc>
                <a:spcPct val="110000"/>
              </a:lnSpc>
              <a:spcBef>
                <a:spcPct val="80000"/>
              </a:spcBef>
            </a:pPr>
            <a:r>
              <a:rPr lang="en-US"/>
              <a:t>sliding window on fragments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ok">
  <a:themeElements>
    <a:clrScheme name="">
      <a:dk1>
        <a:srgbClr val="263750"/>
      </a:dk1>
      <a:lt1>
        <a:srgbClr val="D9C8AF"/>
      </a:lt1>
      <a:dk2>
        <a:srgbClr val="000000"/>
      </a:dk2>
      <a:lt2>
        <a:srgbClr val="808080"/>
      </a:lt2>
      <a:accent1>
        <a:srgbClr val="6682AA"/>
      </a:accent1>
      <a:accent2>
        <a:srgbClr val="333399"/>
      </a:accent2>
      <a:accent3>
        <a:srgbClr val="E9E0D4"/>
      </a:accent3>
      <a:accent4>
        <a:srgbClr val="1F2D43"/>
      </a:accent4>
      <a:accent5>
        <a:srgbClr val="B8C1D2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Didot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82AA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>
            <a:ln>
              <a:noFill/>
            </a:ln>
            <a:solidFill>
              <a:srgbClr val="263750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82AA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>
            <a:ln>
              <a:noFill/>
            </a:ln>
            <a:solidFill>
              <a:srgbClr val="263750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Book.potx</Template>
  <TotalTime>967</TotalTime>
  <Pages>0</Pages>
  <Words>2264</Words>
  <Characters>0</Characters>
  <Application>Microsoft Office PowerPoint</Application>
  <PresentationFormat>Custom</PresentationFormat>
  <Lines>0</Lines>
  <Paragraphs>673</Paragraphs>
  <Slides>44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5" baseType="lpstr">
      <vt:lpstr>Book</vt:lpstr>
      <vt:lpstr>Distribution Design Issues</vt:lpstr>
      <vt:lpstr>Fragmentation</vt:lpstr>
      <vt:lpstr>Example: how to fragment PROJ</vt:lpstr>
      <vt:lpstr>Fragmentation Alternatives – Horizontal</vt:lpstr>
      <vt:lpstr>Fragmentation Alternatives – Vertical</vt:lpstr>
      <vt:lpstr>Degree of Fragmentation</vt:lpstr>
      <vt:lpstr>Correctness of Fragmentation</vt:lpstr>
      <vt:lpstr>Allocation Alternatives</vt:lpstr>
      <vt:lpstr>Comparison of Replication Alternatives</vt:lpstr>
      <vt:lpstr>Fragmentation</vt:lpstr>
      <vt:lpstr>PHF – Information Requirements</vt:lpstr>
      <vt:lpstr>PHF - Information Requirements</vt:lpstr>
      <vt:lpstr>PHF – Information Requirements</vt:lpstr>
      <vt:lpstr>PHF – Information Requirements</vt:lpstr>
      <vt:lpstr>PHF – Information Requirements</vt:lpstr>
      <vt:lpstr>Primary Horizontal Fragmentation</vt:lpstr>
      <vt:lpstr>Example 3.7 :</vt:lpstr>
      <vt:lpstr>Example 3.8.</vt:lpstr>
      <vt:lpstr>PHF – Algorithm</vt:lpstr>
      <vt:lpstr>Completeness of Simple Predicates</vt:lpstr>
      <vt:lpstr>Example (Completeness of Simple Predicates)</vt:lpstr>
      <vt:lpstr>Minimality of Simple Predicates</vt:lpstr>
      <vt:lpstr>Example (Minimality of Simple Predicates)</vt:lpstr>
      <vt:lpstr>PHF – Example1</vt:lpstr>
      <vt:lpstr>PHF – Example1</vt:lpstr>
      <vt:lpstr>PHF – Example2</vt:lpstr>
      <vt:lpstr>PHF – Example2</vt:lpstr>
      <vt:lpstr>PHF – Example</vt:lpstr>
      <vt:lpstr>PHF – Correctness</vt:lpstr>
      <vt:lpstr>Vertical Fragmentation</vt:lpstr>
      <vt:lpstr>Hybrid Fragmentation</vt:lpstr>
      <vt:lpstr>PowerPoint Presentation</vt:lpstr>
      <vt:lpstr>Homework with SQL server(1)</vt:lpstr>
      <vt:lpstr>Homework with SQL server(2)</vt:lpstr>
      <vt:lpstr>Fragment Allocation</vt:lpstr>
      <vt:lpstr>Information Requirements</vt:lpstr>
      <vt:lpstr>Allocation</vt:lpstr>
      <vt:lpstr>Allocation – Information Requirements</vt:lpstr>
      <vt:lpstr>Allocation Model</vt:lpstr>
      <vt:lpstr>Allocation Model</vt:lpstr>
      <vt:lpstr>Allocation Model</vt:lpstr>
      <vt:lpstr>Allocation Model</vt:lpstr>
      <vt:lpstr>Allocation Model</vt:lpstr>
      <vt:lpstr>Allocation Model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Samira Klaylat</dc:creator>
  <cp:lastModifiedBy>Samira Klaylat</cp:lastModifiedBy>
  <cp:revision>77</cp:revision>
  <dcterms:modified xsi:type="dcterms:W3CDTF">2023-11-14T13:20:08Z</dcterms:modified>
</cp:coreProperties>
</file>