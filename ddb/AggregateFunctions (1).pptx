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264" r:id="rId4"/>
    <p:sldId id="258" r:id="rId5"/>
    <p:sldId id="259" r:id="rId6"/>
    <p:sldId id="265" r:id="rId7"/>
    <p:sldId id="266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307" r:id="rId19"/>
    <p:sldId id="274" r:id="rId20"/>
    <p:sldId id="276" r:id="rId21"/>
    <p:sldId id="275" r:id="rId22"/>
    <p:sldId id="303" r:id="rId23"/>
    <p:sldId id="297" r:id="rId24"/>
    <p:sldId id="304" r:id="rId25"/>
    <p:sldId id="301" r:id="rId26"/>
    <p:sldId id="282" r:id="rId27"/>
    <p:sldId id="308" r:id="rId28"/>
    <p:sldId id="309" r:id="rId29"/>
    <p:sldId id="310" r:id="rId30"/>
    <p:sldId id="284" r:id="rId31"/>
    <p:sldId id="285" r:id="rId32"/>
    <p:sldId id="286" r:id="rId33"/>
    <p:sldId id="287" r:id="rId34"/>
    <p:sldId id="288" r:id="rId35"/>
    <p:sldId id="306" r:id="rId36"/>
    <p:sldId id="296" r:id="rId37"/>
    <p:sldId id="283" r:id="rId38"/>
    <p:sldId id="311" r:id="rId39"/>
    <p:sldId id="312" r:id="rId40"/>
    <p:sldId id="313" r:id="rId41"/>
    <p:sldId id="314" r:id="rId42"/>
    <p:sldId id="315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2323E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94061" autoAdjust="0"/>
  </p:normalViewPr>
  <p:slideViewPr>
    <p:cSldViewPr>
      <p:cViewPr varScale="1">
        <p:scale>
          <a:sx n="65" d="100"/>
          <a:sy n="65" d="100"/>
        </p:scale>
        <p:origin x="14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6CA7D4A3-E324-EAC3-551C-15927E0587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D6EC8FB-3F0E-9142-2033-0EF186A690C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AD03C89D-455C-FDBF-A39A-7B213F32388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94AE935B-B05E-2483-EE57-4A351280B01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5976D6-0758-4991-8FAB-07DA7A385CB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F68893-2955-41C4-856F-D1AF9551D3E9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1B5C4F-3A11-460D-88CE-03BE75DE4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2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744AE99D-7599-408B-95F3-62C60BFD23D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825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A3AC8-B421-44BA-99C1-EFA25515C37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521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E62E596-259B-46A4-A122-586583D7063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516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CA941D5-61C9-4A5A-B9EF-A5217FFAF04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244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7AEF1D6F-8C6B-4F6B-AE8A-4C71185A095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45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8F87-8143-45D6-B5AE-FB50FC5B4ED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114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904BC-37C8-4BD5-9570-BA35ADA5EA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625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E15EA-3966-4BD3-B342-88F4BD899C2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04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D095299-F665-4C83-B536-73239377AC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345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9225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1860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8799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4948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442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6E1A2A-9493-4EFD-A7E9-9E47937C867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0678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832F8-3D50-40F4-BC37-258BA2A7C72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63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Bordoloi and Bock</a:t>
            </a:r>
            <a:endParaRPr lang="en-US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92F56E6-E1AF-4670-AAE4-CCD53560ED3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14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4DF2172-970A-32B6-E14B-6DBE4C1E67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2362200"/>
            <a:ext cx="7772400" cy="1143000"/>
          </a:xfrm>
        </p:spPr>
        <p:txBody>
          <a:bodyPr anchor="ctr"/>
          <a:lstStyle/>
          <a:p>
            <a:r>
              <a:rPr lang="en-US" altLang="en-US" sz="3600" dirty="0"/>
              <a:t>Aggregate Row Functions.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5ED6F089-72B2-5490-1541-07C2526475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38200" y="228600"/>
            <a:ext cx="7772400" cy="1143000"/>
          </a:xfrm>
        </p:spPr>
        <p:txBody>
          <a:bodyPr anchor="ctr"/>
          <a:lstStyle/>
          <a:p>
            <a:r>
              <a:rPr lang="en-US" altLang="en-US" sz="3200" b="1" u="sng">
                <a:cs typeface="Arial" panose="020B0604020202020204" pitchFamily="34" charset="0"/>
              </a:rPr>
              <a:t>AGGREGATE ROW FUCTIONS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51A41188-7013-C2AC-4D2F-94FC4FACFC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23900" y="1219200"/>
            <a:ext cx="8191500" cy="5638800"/>
          </a:xfrm>
        </p:spPr>
        <p:txBody>
          <a:bodyPr>
            <a:normAutofit fontScale="77500" lnSpcReduction="20000"/>
          </a:bodyPr>
          <a:lstStyle/>
          <a:p>
            <a:pPr marL="566738" indent="-395288">
              <a:lnSpc>
                <a:spcPct val="120000"/>
              </a:lnSpc>
              <a:buFontTx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Aggregate functions perform a </a:t>
            </a:r>
            <a:r>
              <a:rPr lang="en-US" sz="2800" b="1" dirty="0">
                <a:solidFill>
                  <a:schemeClr val="tx1"/>
                </a:solidFill>
              </a:rPr>
              <a:t>calculation on a set of values</a:t>
            </a:r>
            <a:r>
              <a:rPr lang="en-US" sz="2800" dirty="0">
                <a:solidFill>
                  <a:schemeClr val="tx1"/>
                </a:solidFill>
              </a:rPr>
              <a:t> and return a </a:t>
            </a:r>
            <a:r>
              <a:rPr lang="en-US" sz="2800" b="1" dirty="0">
                <a:solidFill>
                  <a:schemeClr val="tx1"/>
                </a:solidFill>
              </a:rPr>
              <a:t>single summarized value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</a:p>
          <a:p>
            <a:pPr marL="566738" indent="-395288">
              <a:lnSpc>
                <a:spcPct val="120000"/>
              </a:lnSpc>
              <a:buFontTx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They are used primarily in conjunction with </a:t>
            </a:r>
            <a:r>
              <a:rPr lang="en-US" sz="2300" b="1" dirty="0">
                <a:solidFill>
                  <a:schemeClr val="tx1"/>
                </a:solidFill>
              </a:rPr>
              <a:t>GROUP BY</a:t>
            </a:r>
            <a:r>
              <a:rPr lang="en-US" sz="4100" b="1" dirty="0">
                <a:solidFill>
                  <a:schemeClr val="tx1"/>
                </a:solidFill>
              </a:rPr>
              <a:t> </a:t>
            </a:r>
            <a:r>
              <a:rPr lang="en-US" sz="2800" dirty="0">
                <a:solidFill>
                  <a:schemeClr val="tx1"/>
                </a:solidFill>
              </a:rPr>
              <a:t>to summarize data across rows that share a common value in one or more columns.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marL="566738" indent="-395288" algn="l">
              <a:lnSpc>
                <a:spcPct val="120000"/>
              </a:lnSpc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</a:rPr>
              <a:t>Aggregate Row functions give the user the ability to answer business questions such as: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1146175" lvl="1" indent="-465138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</a:rPr>
              <a:t>What is the average salary of employees in the company?</a:t>
            </a:r>
          </a:p>
          <a:p>
            <a:pPr marL="1146175" lvl="1" indent="-465138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</a:rPr>
              <a:t>What were the total salaries for a particular year?</a:t>
            </a:r>
          </a:p>
          <a:p>
            <a:pPr marL="1146175" lvl="1" indent="-465138" algn="l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/>
                </a:solidFill>
              </a:rPr>
              <a:t>What are the maximum and minimum salaries in the Computer’s Department? </a:t>
            </a:r>
            <a:r>
              <a:rPr lang="en-US" altLang="en-US" sz="2400" dirty="0">
                <a:solidFill>
                  <a:schemeClr val="tx1"/>
                </a:solidFill>
              </a:rPr>
              <a:t>  </a:t>
            </a:r>
            <a:endParaRPr lang="en-US" altLang="en-US" sz="2400" b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>
            <a:extLst>
              <a:ext uri="{FF2B5EF4-FFF2-40B4-BE49-F238E27FC236}">
                <a16:creationId xmlns:a16="http://schemas.microsoft.com/office/drawing/2014/main" id="{315FF8EB-A330-F0EE-3E86-F9F6AA73351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304800"/>
            <a:ext cx="7772400" cy="1143000"/>
          </a:xfrm>
        </p:spPr>
        <p:txBody>
          <a:bodyPr anchor="ctr"/>
          <a:lstStyle/>
          <a:p>
            <a:r>
              <a:rPr lang="en-US" altLang="en-US" sz="3200" b="1" u="sng">
                <a:cs typeface="Arial" panose="020B0604020202020204" pitchFamily="34" charset="0"/>
              </a:rPr>
              <a:t>AGGREGATE ROW FUCTIONS</a:t>
            </a:r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E77DAD31-237B-9421-ABE1-2C68DB786C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066800" y="1524000"/>
            <a:ext cx="7543800" cy="4114800"/>
          </a:xfrm>
        </p:spPr>
        <p:txBody>
          <a:bodyPr>
            <a:normAutofit fontScale="92500" lnSpcReduction="10000"/>
          </a:bodyPr>
          <a:lstStyle/>
          <a:p>
            <a:pPr marL="504825" indent="-504825" algn="l">
              <a:tabLst>
                <a:tab pos="407988" algn="l"/>
              </a:tabLst>
            </a:pPr>
            <a:endParaRPr lang="en-US" alt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04825" indent="-504825" algn="l">
              <a:buFontTx/>
              <a:buChar char="•"/>
              <a:tabLst>
                <a:tab pos="407988" algn="l"/>
              </a:tabLst>
            </a:pPr>
            <a:r>
              <a:rPr lang="en-US" altLang="en-US" sz="3200" dirty="0">
                <a:solidFill>
                  <a:schemeClr val="tx1"/>
                </a:solidFill>
                <a:cs typeface="Times New Roman" panose="02020603050405020304" pitchFamily="18" charset="0"/>
              </a:rPr>
              <a:t>Aggregate functions perform a variety of actions such as counting all the rows in a table, averaging a column's data, and summing numeric data.</a:t>
            </a:r>
          </a:p>
          <a:p>
            <a:pPr marL="504825" indent="-504825" algn="l">
              <a:buFontTx/>
              <a:buChar char="•"/>
              <a:tabLst>
                <a:tab pos="407988" algn="l"/>
              </a:tabLst>
            </a:pPr>
            <a:r>
              <a:rPr lang="en-US" altLang="en-US" sz="3200" dirty="0">
                <a:solidFill>
                  <a:schemeClr val="tx1"/>
                </a:solidFill>
                <a:cs typeface="Times New Roman" panose="02020603050405020304" pitchFamily="18" charset="0"/>
              </a:rPr>
              <a:t>Aggregates can also search a table to find the highest "MAX" or lowest "MIN" values in a column.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>
            <a:extLst>
              <a:ext uri="{FF2B5EF4-FFF2-40B4-BE49-F238E27FC236}">
                <a16:creationId xmlns:a16="http://schemas.microsoft.com/office/drawing/2014/main" id="{B9A29744-726E-98DB-B11B-6E9EF39CE0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0"/>
            <a:ext cx="7772400" cy="1143000"/>
          </a:xfrm>
        </p:spPr>
        <p:txBody>
          <a:bodyPr anchor="ctr"/>
          <a:lstStyle/>
          <a:p>
            <a:r>
              <a:rPr lang="en-US" altLang="en-US" sz="3200" b="1" u="sng">
                <a:cs typeface="Arial" panose="020B0604020202020204" pitchFamily="34" charset="0"/>
              </a:rPr>
              <a:t>AGGREGATE ROW FUCTIONS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A308081E-FF8F-B527-A251-48F174DA14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039" y="914400"/>
            <a:ext cx="8610600" cy="5029200"/>
          </a:xfrm>
        </p:spPr>
        <p:txBody>
          <a:bodyPr/>
          <a:lstStyle/>
          <a:p>
            <a:pPr marL="1204913" indent="-466725" algn="just">
              <a:buFontTx/>
              <a:buChar char="•"/>
              <a:tabLst>
                <a:tab pos="681038" algn="l"/>
              </a:tabLst>
            </a:pPr>
            <a:r>
              <a:rPr lang="en-US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List of aggregate functions including their syntax and use.</a:t>
            </a:r>
          </a:p>
        </p:txBody>
      </p:sp>
      <p:grpSp>
        <p:nvGrpSpPr>
          <p:cNvPr id="238640" name="Group 48">
            <a:extLst>
              <a:ext uri="{FF2B5EF4-FFF2-40B4-BE49-F238E27FC236}">
                <a16:creationId xmlns:a16="http://schemas.microsoft.com/office/drawing/2014/main" id="{8C0F855D-9FC8-FF62-B2BF-677BE054841A}"/>
              </a:ext>
            </a:extLst>
          </p:cNvPr>
          <p:cNvGrpSpPr>
            <a:grpSpLocks/>
          </p:cNvGrpSpPr>
          <p:nvPr/>
        </p:nvGrpSpPr>
        <p:grpSpPr bwMode="auto">
          <a:xfrm>
            <a:off x="1163765" y="2209800"/>
            <a:ext cx="7315200" cy="4200525"/>
            <a:chOff x="-3" y="-3"/>
            <a:chExt cx="3922" cy="2886"/>
          </a:xfrm>
        </p:grpSpPr>
        <p:grpSp>
          <p:nvGrpSpPr>
            <p:cNvPr id="238638" name="Group 46">
              <a:extLst>
                <a:ext uri="{FF2B5EF4-FFF2-40B4-BE49-F238E27FC236}">
                  <a16:creationId xmlns:a16="http://schemas.microsoft.com/office/drawing/2014/main" id="{1832CA6D-7B54-05F6-B842-843D90CAFF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916" cy="2880"/>
              <a:chOff x="0" y="0"/>
              <a:chExt cx="3916" cy="2880"/>
            </a:xfrm>
          </p:grpSpPr>
          <p:grpSp>
            <p:nvGrpSpPr>
              <p:cNvPr id="238611" name="Group 19">
                <a:extLst>
                  <a:ext uri="{FF2B5EF4-FFF2-40B4-BE49-F238E27FC236}">
                    <a16:creationId xmlns:a16="http://schemas.microsoft.com/office/drawing/2014/main" id="{64D9D5EE-3883-1625-6640-73911E1597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1598" cy="384"/>
                <a:chOff x="0" y="0"/>
                <a:chExt cx="1598" cy="384"/>
              </a:xfrm>
            </p:grpSpPr>
            <p:sp>
              <p:nvSpPr>
                <p:cNvPr id="238596" name="Rectangle 4">
                  <a:extLst>
                    <a:ext uri="{FF2B5EF4-FFF2-40B4-BE49-F238E27FC236}">
                      <a16:creationId xmlns:a16="http://schemas.microsoft.com/office/drawing/2014/main" id="{F90AEE4D-C2F0-3AA0-B5CB-B00A875BBD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151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en-US" b="1" dirty="0">
                      <a:cs typeface="Times New Roman" panose="02020603050405020304" pitchFamily="18" charset="0"/>
                    </a:rPr>
                    <a:t>Function Syntax</a:t>
                  </a:r>
                  <a:endParaRPr lang="en-US" altLang="en-US" sz="4800" dirty="0"/>
                </a:p>
              </p:txBody>
            </p:sp>
            <p:sp>
              <p:nvSpPr>
                <p:cNvPr id="238610" name="Rectangle 18">
                  <a:extLst>
                    <a:ext uri="{FF2B5EF4-FFF2-40B4-BE49-F238E27FC236}">
                      <a16:creationId xmlns:a16="http://schemas.microsoft.com/office/drawing/2014/main" id="{2AE22555-5E58-78A2-F030-EE7452D723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9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13" name="Group 21">
                <a:extLst>
                  <a:ext uri="{FF2B5EF4-FFF2-40B4-BE49-F238E27FC236}">
                    <a16:creationId xmlns:a16="http://schemas.microsoft.com/office/drawing/2014/main" id="{1A007BC7-A5FD-AD5D-0170-78D5812BCE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0"/>
                <a:ext cx="2318" cy="384"/>
                <a:chOff x="1598" y="0"/>
                <a:chExt cx="2318" cy="384"/>
              </a:xfrm>
            </p:grpSpPr>
            <p:sp>
              <p:nvSpPr>
                <p:cNvPr id="238597" name="Rectangle 5">
                  <a:extLst>
                    <a:ext uri="{FF2B5EF4-FFF2-40B4-BE49-F238E27FC236}">
                      <a16:creationId xmlns:a16="http://schemas.microsoft.com/office/drawing/2014/main" id="{16692C86-FAF8-022A-0FA0-428BEE6936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0"/>
                  <a:ext cx="223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/>
                  <a:r>
                    <a:rPr lang="en-US" altLang="en-US" b="1">
                      <a:cs typeface="Times New Roman" panose="02020603050405020304" pitchFamily="18" charset="0"/>
                    </a:rPr>
                    <a:t>Function Use</a:t>
                  </a:r>
                  <a:endParaRPr lang="en-US" altLang="en-US" sz="2800">
                    <a:cs typeface="Times New Roman" panose="02020603050405020304" pitchFamily="18" charset="0"/>
                  </a:endParaRPr>
                </a:p>
                <a:p>
                  <a:pPr algn="ctr" eaLnBrk="0" hangingPunct="0"/>
                  <a:endParaRPr lang="en-US" altLang="en-US" sz="4800"/>
                </a:p>
              </p:txBody>
            </p:sp>
            <p:sp>
              <p:nvSpPr>
                <p:cNvPr id="238612" name="Rectangle 20">
                  <a:extLst>
                    <a:ext uri="{FF2B5EF4-FFF2-40B4-BE49-F238E27FC236}">
                      <a16:creationId xmlns:a16="http://schemas.microsoft.com/office/drawing/2014/main" id="{5AAA6E72-DD6D-C77D-648C-F95A8384DC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0"/>
                  <a:ext cx="23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15" name="Group 23">
                <a:extLst>
                  <a:ext uri="{FF2B5EF4-FFF2-40B4-BE49-F238E27FC236}">
                    <a16:creationId xmlns:a16="http://schemas.microsoft.com/office/drawing/2014/main" id="{7B6BA6BD-713E-FDF4-EE4B-EAF20F7254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84"/>
                <a:ext cx="1598" cy="384"/>
                <a:chOff x="0" y="384"/>
                <a:chExt cx="1598" cy="384"/>
              </a:xfrm>
            </p:grpSpPr>
            <p:sp>
              <p:nvSpPr>
                <p:cNvPr id="238598" name="Rectangle 6">
                  <a:extLst>
                    <a:ext uri="{FF2B5EF4-FFF2-40B4-BE49-F238E27FC236}">
                      <a16:creationId xmlns:a16="http://schemas.microsoft.com/office/drawing/2014/main" id="{079D128A-63ED-19E8-A6AB-FBD6D59626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84"/>
                  <a:ext cx="151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SUM( [ALL | DISTINCT] expression )</a:t>
                  </a:r>
                  <a:endParaRPr lang="en-US" altLang="en-US" sz="4000"/>
                </a:p>
              </p:txBody>
            </p:sp>
            <p:sp>
              <p:nvSpPr>
                <p:cNvPr id="238614" name="Rectangle 22">
                  <a:extLst>
                    <a:ext uri="{FF2B5EF4-FFF2-40B4-BE49-F238E27FC236}">
                      <a16:creationId xmlns:a16="http://schemas.microsoft.com/office/drawing/2014/main" id="{D745A58B-93B8-D760-5C25-8EA7C122D3B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84"/>
                  <a:ext cx="159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17" name="Group 25">
                <a:extLst>
                  <a:ext uri="{FF2B5EF4-FFF2-40B4-BE49-F238E27FC236}">
                    <a16:creationId xmlns:a16="http://schemas.microsoft.com/office/drawing/2014/main" id="{119FE24C-3FFC-7991-3A4F-B3A0B11582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384"/>
                <a:ext cx="2318" cy="384"/>
                <a:chOff x="1598" y="384"/>
                <a:chExt cx="2318" cy="384"/>
              </a:xfrm>
            </p:grpSpPr>
            <p:sp>
              <p:nvSpPr>
                <p:cNvPr id="238599" name="Rectangle 7">
                  <a:extLst>
                    <a:ext uri="{FF2B5EF4-FFF2-40B4-BE49-F238E27FC236}">
                      <a16:creationId xmlns:a16="http://schemas.microsoft.com/office/drawing/2014/main" id="{4D4F4DF0-E3BE-6B6D-7C45-F87DB8797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384"/>
                  <a:ext cx="223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The total of the (distinct) values in a numeric column/expression.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4000"/>
                </a:p>
              </p:txBody>
            </p:sp>
            <p:sp>
              <p:nvSpPr>
                <p:cNvPr id="238616" name="Rectangle 24">
                  <a:extLst>
                    <a:ext uri="{FF2B5EF4-FFF2-40B4-BE49-F238E27FC236}">
                      <a16:creationId xmlns:a16="http://schemas.microsoft.com/office/drawing/2014/main" id="{2155E316-6B5F-4686-B8CF-B248302EB9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384"/>
                  <a:ext cx="23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19" name="Group 27">
                <a:extLst>
                  <a:ext uri="{FF2B5EF4-FFF2-40B4-BE49-F238E27FC236}">
                    <a16:creationId xmlns:a16="http://schemas.microsoft.com/office/drawing/2014/main" id="{87BBEFBB-D639-63AC-BD36-4F866FB109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768"/>
                <a:ext cx="1598" cy="480"/>
                <a:chOff x="0" y="768"/>
                <a:chExt cx="1598" cy="480"/>
              </a:xfrm>
            </p:grpSpPr>
            <p:sp>
              <p:nvSpPr>
                <p:cNvPr id="238600" name="Rectangle 8">
                  <a:extLst>
                    <a:ext uri="{FF2B5EF4-FFF2-40B4-BE49-F238E27FC236}">
                      <a16:creationId xmlns:a16="http://schemas.microsoft.com/office/drawing/2014/main" id="{245760A5-834B-A4F6-7F7C-38766A0844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768"/>
                  <a:ext cx="1512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AVG( [ALL | DISTINCT] expression )</a:t>
                  </a:r>
                  <a:endParaRPr lang="en-US" altLang="en-US" sz="4000"/>
                </a:p>
              </p:txBody>
            </p:sp>
            <p:sp>
              <p:nvSpPr>
                <p:cNvPr id="238618" name="Rectangle 26">
                  <a:extLst>
                    <a:ext uri="{FF2B5EF4-FFF2-40B4-BE49-F238E27FC236}">
                      <a16:creationId xmlns:a16="http://schemas.microsoft.com/office/drawing/2014/main" id="{928A5540-03F9-214C-EE18-E5AAD1189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768"/>
                  <a:ext cx="159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21" name="Group 29">
                <a:extLst>
                  <a:ext uri="{FF2B5EF4-FFF2-40B4-BE49-F238E27FC236}">
                    <a16:creationId xmlns:a16="http://schemas.microsoft.com/office/drawing/2014/main" id="{B9289747-B6CD-B709-33B4-B52513CDE1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768"/>
                <a:ext cx="2318" cy="480"/>
                <a:chOff x="1598" y="768"/>
                <a:chExt cx="2318" cy="480"/>
              </a:xfrm>
            </p:grpSpPr>
            <p:sp>
              <p:nvSpPr>
                <p:cNvPr id="238601" name="Rectangle 9">
                  <a:extLst>
                    <a:ext uri="{FF2B5EF4-FFF2-40B4-BE49-F238E27FC236}">
                      <a16:creationId xmlns:a16="http://schemas.microsoft.com/office/drawing/2014/main" id="{75D8AE78-027C-17FC-7E9F-8477AEC0C4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768"/>
                  <a:ext cx="2232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The average of the (distinct) values in a numeric column/expression.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4000"/>
                </a:p>
              </p:txBody>
            </p:sp>
            <p:sp>
              <p:nvSpPr>
                <p:cNvPr id="238620" name="Rectangle 28">
                  <a:extLst>
                    <a:ext uri="{FF2B5EF4-FFF2-40B4-BE49-F238E27FC236}">
                      <a16:creationId xmlns:a16="http://schemas.microsoft.com/office/drawing/2014/main" id="{86229610-3330-D760-9D70-1D68DD60F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768"/>
                  <a:ext cx="231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23" name="Group 31">
                <a:extLst>
                  <a:ext uri="{FF2B5EF4-FFF2-40B4-BE49-F238E27FC236}">
                    <a16:creationId xmlns:a16="http://schemas.microsoft.com/office/drawing/2014/main" id="{6F9EFA1B-7503-1722-2E4E-6C579F2456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248"/>
                <a:ext cx="1598" cy="480"/>
                <a:chOff x="0" y="1248"/>
                <a:chExt cx="1598" cy="480"/>
              </a:xfrm>
            </p:grpSpPr>
            <p:sp>
              <p:nvSpPr>
                <p:cNvPr id="238602" name="Rectangle 10">
                  <a:extLst>
                    <a:ext uri="{FF2B5EF4-FFF2-40B4-BE49-F238E27FC236}">
                      <a16:creationId xmlns:a16="http://schemas.microsoft.com/office/drawing/2014/main" id="{352582D8-71C9-EFB9-BC96-B26C209C5A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1512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COUNT( [ALL | DISTINCT] expression )</a:t>
                  </a:r>
                  <a:endParaRPr lang="en-US" altLang="en-US" sz="4000"/>
                </a:p>
              </p:txBody>
            </p:sp>
            <p:sp>
              <p:nvSpPr>
                <p:cNvPr id="238622" name="Rectangle 30">
                  <a:extLst>
                    <a:ext uri="{FF2B5EF4-FFF2-40B4-BE49-F238E27FC236}">
                      <a16:creationId xmlns:a16="http://schemas.microsoft.com/office/drawing/2014/main" id="{5D9B30A8-45DE-C4BB-8DF2-6562F10DB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159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25" name="Group 33">
                <a:extLst>
                  <a:ext uri="{FF2B5EF4-FFF2-40B4-BE49-F238E27FC236}">
                    <a16:creationId xmlns:a16="http://schemas.microsoft.com/office/drawing/2014/main" id="{2A73591B-3FD4-F81A-8979-39B48E202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1248"/>
                <a:ext cx="2318" cy="480"/>
                <a:chOff x="1598" y="1248"/>
                <a:chExt cx="2318" cy="480"/>
              </a:xfrm>
            </p:grpSpPr>
            <p:sp>
              <p:nvSpPr>
                <p:cNvPr id="238603" name="Rectangle 11">
                  <a:extLst>
                    <a:ext uri="{FF2B5EF4-FFF2-40B4-BE49-F238E27FC236}">
                      <a16:creationId xmlns:a16="http://schemas.microsoft.com/office/drawing/2014/main" id="{E95F2DCD-3AD1-3580-0518-8418F95AF7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1248"/>
                  <a:ext cx="2232" cy="4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The number of (distinct) non-NULL values in a column/expression.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4000"/>
                </a:p>
              </p:txBody>
            </p:sp>
            <p:sp>
              <p:nvSpPr>
                <p:cNvPr id="238624" name="Rectangle 32">
                  <a:extLst>
                    <a:ext uri="{FF2B5EF4-FFF2-40B4-BE49-F238E27FC236}">
                      <a16:creationId xmlns:a16="http://schemas.microsoft.com/office/drawing/2014/main" id="{DC54A251-3492-7B17-B5A2-5D81A63EC4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1248"/>
                  <a:ext cx="2318" cy="480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27" name="Group 35">
                <a:extLst>
                  <a:ext uri="{FF2B5EF4-FFF2-40B4-BE49-F238E27FC236}">
                    <a16:creationId xmlns:a16="http://schemas.microsoft.com/office/drawing/2014/main" id="{07C1D6E9-391D-D832-3310-74C27BCF38A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728"/>
                <a:ext cx="1598" cy="384"/>
                <a:chOff x="0" y="1728"/>
                <a:chExt cx="1598" cy="384"/>
              </a:xfrm>
            </p:grpSpPr>
            <p:sp>
              <p:nvSpPr>
                <p:cNvPr id="238604" name="Rectangle 12">
                  <a:extLst>
                    <a:ext uri="{FF2B5EF4-FFF2-40B4-BE49-F238E27FC236}">
                      <a16:creationId xmlns:a16="http://schemas.microsoft.com/office/drawing/2014/main" id="{4F09FB65-D983-97BE-79B7-56A2B0A440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728"/>
                  <a:ext cx="151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COUNT(*)</a:t>
                  </a:r>
                  <a:endParaRPr lang="en-US" altLang="en-US" sz="4000"/>
                </a:p>
              </p:txBody>
            </p:sp>
            <p:sp>
              <p:nvSpPr>
                <p:cNvPr id="238626" name="Rectangle 34">
                  <a:extLst>
                    <a:ext uri="{FF2B5EF4-FFF2-40B4-BE49-F238E27FC236}">
                      <a16:creationId xmlns:a16="http://schemas.microsoft.com/office/drawing/2014/main" id="{3E208E04-4645-FFA7-8968-D53AD8FD4E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728"/>
                  <a:ext cx="159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29" name="Group 37">
                <a:extLst>
                  <a:ext uri="{FF2B5EF4-FFF2-40B4-BE49-F238E27FC236}">
                    <a16:creationId xmlns:a16="http://schemas.microsoft.com/office/drawing/2014/main" id="{E754CBC3-CBAB-CE89-41CA-0C7606ED41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1728"/>
                <a:ext cx="2318" cy="384"/>
                <a:chOff x="1598" y="1728"/>
                <a:chExt cx="2318" cy="384"/>
              </a:xfrm>
            </p:grpSpPr>
            <p:sp>
              <p:nvSpPr>
                <p:cNvPr id="238605" name="Rectangle 13">
                  <a:extLst>
                    <a:ext uri="{FF2B5EF4-FFF2-40B4-BE49-F238E27FC236}">
                      <a16:creationId xmlns:a16="http://schemas.microsoft.com/office/drawing/2014/main" id="{46951B1C-4C35-F26F-79DD-0E37FC4A2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1728"/>
                  <a:ext cx="223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600">
                      <a:cs typeface="Times New Roman" panose="02020603050405020304" pitchFamily="18" charset="0"/>
                    </a:rPr>
                    <a:t>The number of selected rows.</a:t>
                  </a:r>
                  <a:endParaRPr lang="en-US" altLang="en-US" sz="18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3600"/>
                </a:p>
              </p:txBody>
            </p:sp>
            <p:sp>
              <p:nvSpPr>
                <p:cNvPr id="238628" name="Rectangle 36">
                  <a:extLst>
                    <a:ext uri="{FF2B5EF4-FFF2-40B4-BE49-F238E27FC236}">
                      <a16:creationId xmlns:a16="http://schemas.microsoft.com/office/drawing/2014/main" id="{69E8C1F1-CAF5-0A3F-86EA-24717996DD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1728"/>
                  <a:ext cx="23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31" name="Group 39">
                <a:extLst>
                  <a:ext uri="{FF2B5EF4-FFF2-40B4-BE49-F238E27FC236}">
                    <a16:creationId xmlns:a16="http://schemas.microsoft.com/office/drawing/2014/main" id="{8121504A-FFE1-1FDE-F709-04384734BB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112"/>
                <a:ext cx="1598" cy="384"/>
                <a:chOff x="0" y="2112"/>
                <a:chExt cx="1598" cy="384"/>
              </a:xfrm>
            </p:grpSpPr>
            <p:sp>
              <p:nvSpPr>
                <p:cNvPr id="238606" name="Rectangle 14">
                  <a:extLst>
                    <a:ext uri="{FF2B5EF4-FFF2-40B4-BE49-F238E27FC236}">
                      <a16:creationId xmlns:a16="http://schemas.microsoft.com/office/drawing/2014/main" id="{AC44FDE9-A3BA-27B2-A714-055933E18E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112"/>
                  <a:ext cx="151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2000">
                      <a:cs typeface="Times New Roman" panose="02020603050405020304" pitchFamily="18" charset="0"/>
                    </a:rPr>
                    <a:t>MAX(expression)</a:t>
                  </a:r>
                  <a:endParaRPr lang="en-US" altLang="en-US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/>
                </a:p>
              </p:txBody>
            </p:sp>
            <p:sp>
              <p:nvSpPr>
                <p:cNvPr id="238630" name="Rectangle 38">
                  <a:extLst>
                    <a:ext uri="{FF2B5EF4-FFF2-40B4-BE49-F238E27FC236}">
                      <a16:creationId xmlns:a16="http://schemas.microsoft.com/office/drawing/2014/main" id="{C8606E10-95BD-745C-346A-DC2C0BB60F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112"/>
                  <a:ext cx="159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33" name="Group 41">
                <a:extLst>
                  <a:ext uri="{FF2B5EF4-FFF2-40B4-BE49-F238E27FC236}">
                    <a16:creationId xmlns:a16="http://schemas.microsoft.com/office/drawing/2014/main" id="{FD9A9FEF-D637-873C-A25F-B4154988C6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2112"/>
                <a:ext cx="2318" cy="384"/>
                <a:chOff x="1598" y="2112"/>
                <a:chExt cx="2318" cy="384"/>
              </a:xfrm>
            </p:grpSpPr>
            <p:sp>
              <p:nvSpPr>
                <p:cNvPr id="238607" name="Rectangle 15">
                  <a:extLst>
                    <a:ext uri="{FF2B5EF4-FFF2-40B4-BE49-F238E27FC236}">
                      <a16:creationId xmlns:a16="http://schemas.microsoft.com/office/drawing/2014/main" id="{06390A76-7F84-A6BE-20A8-9FCE3BBF63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2112"/>
                  <a:ext cx="223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The highest value in a column/expression.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4000"/>
                </a:p>
              </p:txBody>
            </p:sp>
            <p:sp>
              <p:nvSpPr>
                <p:cNvPr id="238632" name="Rectangle 40">
                  <a:extLst>
                    <a:ext uri="{FF2B5EF4-FFF2-40B4-BE49-F238E27FC236}">
                      <a16:creationId xmlns:a16="http://schemas.microsoft.com/office/drawing/2014/main" id="{55DD876F-0796-CCBE-4976-0C0EB4E2A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2112"/>
                  <a:ext cx="23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35" name="Group 43">
                <a:extLst>
                  <a:ext uri="{FF2B5EF4-FFF2-40B4-BE49-F238E27FC236}">
                    <a16:creationId xmlns:a16="http://schemas.microsoft.com/office/drawing/2014/main" id="{B672C9DE-5510-47D0-06B6-B3FDCC0D2C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96"/>
                <a:ext cx="1598" cy="384"/>
                <a:chOff x="0" y="2496"/>
                <a:chExt cx="1598" cy="384"/>
              </a:xfrm>
            </p:grpSpPr>
            <p:sp>
              <p:nvSpPr>
                <p:cNvPr id="238608" name="Rectangle 16">
                  <a:extLst>
                    <a:ext uri="{FF2B5EF4-FFF2-40B4-BE49-F238E27FC236}">
                      <a16:creationId xmlns:a16="http://schemas.microsoft.com/office/drawing/2014/main" id="{17788712-F03C-86B5-DEAC-0E5A3375A8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496"/>
                  <a:ext cx="151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>
                      <a:cs typeface="Times New Roman" panose="02020603050405020304" pitchFamily="18" charset="0"/>
                    </a:rPr>
                    <a:t>MIN(expression)</a:t>
                  </a:r>
                  <a:endParaRPr lang="en-US" altLang="en-US" sz="200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3600"/>
                </a:p>
              </p:txBody>
            </p:sp>
            <p:sp>
              <p:nvSpPr>
                <p:cNvPr id="238634" name="Rectangle 42">
                  <a:extLst>
                    <a:ext uri="{FF2B5EF4-FFF2-40B4-BE49-F238E27FC236}">
                      <a16:creationId xmlns:a16="http://schemas.microsoft.com/office/drawing/2014/main" id="{255D43DE-D9EB-C4CD-65A6-2C7433FA74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496"/>
                  <a:ext cx="159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238637" name="Group 45">
                <a:extLst>
                  <a:ext uri="{FF2B5EF4-FFF2-40B4-BE49-F238E27FC236}">
                    <a16:creationId xmlns:a16="http://schemas.microsoft.com/office/drawing/2014/main" id="{06B58469-4081-1670-C8B1-F34BB18FE0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98" y="2496"/>
                <a:ext cx="2318" cy="384"/>
                <a:chOff x="1598" y="2496"/>
                <a:chExt cx="2318" cy="384"/>
              </a:xfrm>
            </p:grpSpPr>
            <p:sp>
              <p:nvSpPr>
                <p:cNvPr id="238609" name="Rectangle 17">
                  <a:extLst>
                    <a:ext uri="{FF2B5EF4-FFF2-40B4-BE49-F238E27FC236}">
                      <a16:creationId xmlns:a16="http://schemas.microsoft.com/office/drawing/2014/main" id="{2DD1B8A9-F5B7-8AAC-6ED8-2E8E9A250B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41" y="2496"/>
                  <a:ext cx="2232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lvl1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fontAlgn="base">
                    <a:spcBef>
                      <a:spcPct val="0"/>
                    </a:spcBef>
                    <a:spcAft>
                      <a:spcPct val="0"/>
                    </a:spcAft>
                    <a:tabLst>
                      <a:tab pos="3200400" algn="l"/>
                    </a:tabLs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r>
                    <a:rPr lang="en-US" altLang="en-US" sz="1800" dirty="0">
                      <a:cs typeface="Times New Roman" panose="02020603050405020304" pitchFamily="18" charset="0"/>
                    </a:rPr>
                    <a:t>The lowest value in a column/expression.</a:t>
                  </a:r>
                  <a:endParaRPr lang="en-US" altLang="en-US" sz="2000" dirty="0"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en-US" sz="4000" dirty="0"/>
                </a:p>
              </p:txBody>
            </p:sp>
            <p:sp>
              <p:nvSpPr>
                <p:cNvPr id="238636" name="Rectangle 44">
                  <a:extLst>
                    <a:ext uri="{FF2B5EF4-FFF2-40B4-BE49-F238E27FC236}">
                      <a16:creationId xmlns:a16="http://schemas.microsoft.com/office/drawing/2014/main" id="{77227366-B591-8D17-9980-C9A47FEAAD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8" y="2496"/>
                  <a:ext cx="2318" cy="384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38639" name="Rectangle 47">
              <a:extLst>
                <a:ext uri="{FF2B5EF4-FFF2-40B4-BE49-F238E27FC236}">
                  <a16:creationId xmlns:a16="http://schemas.microsoft.com/office/drawing/2014/main" id="{8986DAC6-507F-EA53-A956-83A68CE21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922" cy="2886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>
            <a:extLst>
              <a:ext uri="{FF2B5EF4-FFF2-40B4-BE49-F238E27FC236}">
                <a16:creationId xmlns:a16="http://schemas.microsoft.com/office/drawing/2014/main" id="{03E3913C-9FA2-F96E-4231-22CF20CFF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228600"/>
            <a:ext cx="6553200" cy="990600"/>
          </a:xfrm>
        </p:spPr>
        <p:txBody>
          <a:bodyPr/>
          <a:lstStyle/>
          <a:p>
            <a:r>
              <a:rPr lang="en-US" altLang="en-US" sz="3600" b="1" u="sng" dirty="0"/>
              <a:t>COUNT( )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2785D4E1-4B15-09C3-C916-6FF72D7E5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4876800"/>
          </a:xfrm>
        </p:spPr>
        <p:txBody>
          <a:bodyPr>
            <a:normAutofit fontScale="85000" lnSpcReduction="10000"/>
          </a:bodyPr>
          <a:lstStyle/>
          <a:p>
            <a:pPr marL="1030288" indent="-855663"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If a manager needs know how many employees work in the organization, COUNT(*) can be used to produce this information. </a:t>
            </a:r>
          </a:p>
          <a:p>
            <a:pPr marL="1030288" indent="-855663"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The COUNT(*) function counts all rows in a table. </a:t>
            </a:r>
          </a:p>
          <a:p>
            <a:pPr marL="1030288" indent="-855663"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The wild card asterisk (*) would be used as the parameter in the function. </a:t>
            </a:r>
          </a:p>
          <a:p>
            <a:pPr marL="1030288" indent="-855663">
              <a:lnSpc>
                <a:spcPct val="90000"/>
              </a:lnSpc>
              <a:buFontTx/>
              <a:buNone/>
            </a:pPr>
            <a:endParaRPr lang="en-US" altLang="en-US" sz="1600" dirty="0">
              <a:cs typeface="Times New Roman" panose="02020603050405020304" pitchFamily="18" charset="0"/>
            </a:endParaRP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COUNT(*)</a:t>
            </a: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FROM employee;</a:t>
            </a:r>
          </a:p>
          <a:p>
            <a:pPr marL="2179638" lvl="1" indent="-4763">
              <a:lnSpc>
                <a:spcPct val="90000"/>
              </a:lnSpc>
              <a:buFontTx/>
              <a:buNone/>
            </a:pPr>
            <a:endParaRPr lang="en-US" altLang="en-US" sz="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COUNT(*)</a:t>
            </a: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--------</a:t>
            </a: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	8</a:t>
            </a:r>
          </a:p>
          <a:p>
            <a:pPr marL="2179638" lvl="1" indent="-4763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>
            <a:extLst>
              <a:ext uri="{FF2B5EF4-FFF2-40B4-BE49-F238E27FC236}">
                <a16:creationId xmlns:a16="http://schemas.microsoft.com/office/drawing/2014/main" id="{DB456FD8-DCDC-C9C0-6157-52AF60C41C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0" y="0"/>
            <a:ext cx="7772400" cy="1143000"/>
          </a:xfrm>
        </p:spPr>
        <p:txBody>
          <a:bodyPr anchor="ctr"/>
          <a:lstStyle/>
          <a:p>
            <a:r>
              <a:rPr lang="en-US" altLang="en-US" sz="3200" b="1" u="sng">
                <a:cs typeface="Arial" panose="020B0604020202020204" pitchFamily="34" charset="0"/>
              </a:rPr>
              <a:t>AGGREGATE ROW FUCTIONS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8A3FD16C-09AF-293E-562D-814BFB37F1F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16690" y="1198011"/>
            <a:ext cx="6438900" cy="5029200"/>
          </a:xfrm>
        </p:spPr>
        <p:txBody>
          <a:bodyPr/>
          <a:lstStyle/>
          <a:p>
            <a:pPr marL="563563" indent="-504825" algn="just">
              <a:buFontTx/>
              <a:buChar char="•"/>
              <a:tabLst>
                <a:tab pos="0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 There are two rules that you must understand and follow when using aggregates:  </a:t>
            </a:r>
          </a:p>
          <a:p>
            <a:pPr marL="563563" indent="-504825" algn="just">
              <a:buFontTx/>
              <a:buChar char="•"/>
              <a:tabLst>
                <a:tab pos="0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 Aggregate functions can be used in both the SELECT and HAVING clauses</a:t>
            </a:r>
          </a:p>
          <a:p>
            <a:pPr marL="563563" indent="-504825" algn="just">
              <a:buFontTx/>
              <a:buChar char="•"/>
              <a:tabLst>
                <a:tab pos="0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Aggregate functions cannot</a:t>
            </a:r>
            <a:r>
              <a:rPr lang="en-US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Times New Roman" panose="02020603050405020304" pitchFamily="18" charset="0"/>
              </a:rPr>
              <a:t>be used in a WHERE clause.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4DAD83E0-D897-9109-8409-E0AACA922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altLang="en-US" sz="3200" b="1" u="sng"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EAAE259F-4059-DA31-8F39-9ECA37C411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3204" y="1334489"/>
            <a:ext cx="7772400" cy="4800600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cs typeface="Courier New" panose="02070309020205020404" pitchFamily="49" charset="0"/>
              </a:rPr>
              <a:t>The following query </a:t>
            </a:r>
            <a:r>
              <a:rPr lang="en-US" altLang="en-US" sz="2800" dirty="0">
                <a:cs typeface="Times New Roman" panose="02020603050405020304" pitchFamily="18" charset="0"/>
              </a:rPr>
              <a:t>is wrong and will produce an error that the </a:t>
            </a:r>
            <a:r>
              <a:rPr lang="en-US" altLang="en-US" sz="2800" i="1" dirty="0">
                <a:cs typeface="Times New Roman" panose="02020603050405020304" pitchFamily="18" charset="0"/>
              </a:rPr>
              <a:t>function is not allowed here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None/>
            </a:pPr>
            <a:endParaRPr lang="en-US" altLang="en-US" sz="2800" dirty="0">
              <a:cs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400" dirty="0">
                <a:cs typeface="Courier New" panose="02070309020205020404" pitchFamily="49" charset="0"/>
              </a:rPr>
              <a:t>SELECT *	</a:t>
            </a:r>
          </a:p>
          <a:p>
            <a:pPr lvl="1">
              <a:buFontTx/>
              <a:buNone/>
            </a:pPr>
            <a:r>
              <a:rPr lang="en-US" altLang="en-US" sz="2400" dirty="0">
                <a:cs typeface="Courier New" panose="02070309020205020404" pitchFamily="49" charset="0"/>
              </a:rPr>
              <a:t>FROM employee</a:t>
            </a:r>
          </a:p>
          <a:p>
            <a:pPr lvl="1">
              <a:buFontTx/>
              <a:buNone/>
            </a:pPr>
            <a:r>
              <a:rPr lang="en-US" altLang="en-US" sz="2400" dirty="0">
                <a:cs typeface="Courier New" panose="02070309020205020404" pitchFamily="49" charset="0"/>
              </a:rPr>
              <a:t>WHERE </a:t>
            </a:r>
            <a:r>
              <a:rPr lang="en-US" altLang="en-US" sz="2400" dirty="0" err="1">
                <a:cs typeface="Courier New" panose="02070309020205020404" pitchFamily="49" charset="0"/>
              </a:rPr>
              <a:t>emp_salary</a:t>
            </a:r>
            <a:r>
              <a:rPr lang="en-US" altLang="en-US" sz="2400" dirty="0">
                <a:cs typeface="Courier New" panose="02070309020205020404" pitchFamily="49" charset="0"/>
              </a:rPr>
              <a:t> &gt; AVG(</a:t>
            </a:r>
            <a:r>
              <a:rPr lang="en-US" altLang="en-US" sz="2400" dirty="0" err="1">
                <a:cs typeface="Courier New" panose="02070309020205020404" pitchFamily="49" charset="0"/>
              </a:rPr>
              <a:t>emp_salary</a:t>
            </a:r>
            <a:r>
              <a:rPr lang="en-US" altLang="en-US" sz="2400" dirty="0">
                <a:cs typeface="Courier New" panose="02070309020205020404" pitchFamily="49" charset="0"/>
              </a:rPr>
              <a:t>);</a:t>
            </a:r>
          </a:p>
          <a:p>
            <a:pPr lvl="1">
              <a:buFontTx/>
              <a:buNone/>
            </a:pPr>
            <a:r>
              <a:rPr lang="en-US" altLang="en-US" sz="2400" dirty="0">
                <a:cs typeface="Courier New" panose="02070309020205020404" pitchFamily="49" charset="0"/>
              </a:rPr>
              <a:t> </a:t>
            </a:r>
          </a:p>
          <a:p>
            <a:pPr lvl="1">
              <a:buFontTx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ERROR at line 3: group function is not allowed here.</a:t>
            </a:r>
            <a:r>
              <a:rPr lang="en-US" altLang="en-US" sz="2400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5A8626F0-6118-9154-301C-0FFDB1769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COUNT( )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A599DB74-4109-09F0-B596-FBCED36973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4876800"/>
          </a:xfrm>
        </p:spPr>
        <p:txBody>
          <a:bodyPr/>
          <a:lstStyle/>
          <a:p>
            <a:pPr marL="1030288" indent="-855663"/>
            <a:r>
              <a:rPr lang="en-US" altLang="en-US">
                <a:cs typeface="Times New Roman" panose="02020603050405020304" pitchFamily="18" charset="0"/>
              </a:rPr>
              <a:t>The result table for the COUNT(*) function is a single </a:t>
            </a:r>
            <a:r>
              <a:rPr lang="en-US" altLang="en-US" i="1">
                <a:cs typeface="Times New Roman" panose="02020603050405020304" pitchFamily="18" charset="0"/>
              </a:rPr>
              <a:t>scalar</a:t>
            </a:r>
            <a:r>
              <a:rPr lang="en-US" altLang="en-US">
                <a:cs typeface="Times New Roman" panose="02020603050405020304" pitchFamily="18" charset="0"/>
              </a:rPr>
              <a:t> value.  </a:t>
            </a:r>
          </a:p>
          <a:p>
            <a:pPr marL="1030288" indent="-855663"/>
            <a:r>
              <a:rPr lang="en-US" altLang="en-US">
                <a:cs typeface="Times New Roman" panose="02020603050405020304" pitchFamily="18" charset="0"/>
              </a:rPr>
              <a:t>Notice that the result table has a column heading that corresponds to the name of the aggregate function specified in the SELECT clause.  </a:t>
            </a:r>
          </a:p>
          <a:p>
            <a:pPr marL="1030288" indent="-855663"/>
            <a:r>
              <a:rPr lang="en-US" altLang="en-US">
                <a:cs typeface="Times New Roman" panose="02020603050405020304" pitchFamily="18" charset="0"/>
              </a:rPr>
              <a:t>The output column can be assigned a more meaningful column name as is shown in the revised query .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>
            <a:extLst>
              <a:ext uri="{FF2B5EF4-FFF2-40B4-BE49-F238E27FC236}">
                <a16:creationId xmlns:a16="http://schemas.microsoft.com/office/drawing/2014/main" id="{86ADA1F3-3A42-D819-AE51-C7319B7AA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COUNT( )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52E16BDD-8D83-2BAA-7D93-91E794572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4876800"/>
          </a:xfrm>
        </p:spPr>
        <p:txBody>
          <a:bodyPr>
            <a:normAutofit lnSpcReduction="10000"/>
          </a:bodyPr>
          <a:lstStyle/>
          <a:p>
            <a:pPr marL="855663" indent="-855663">
              <a:tabLst>
                <a:tab pos="91440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This is accomplished by simply listing the desired column name inside double-quotes after the aggregate function specification.</a:t>
            </a:r>
            <a:r>
              <a:rPr lang="en-US" altLang="en-US" sz="2800">
                <a:cs typeface="Courier New" panose="02070309020205020404" pitchFamily="49" charset="0"/>
              </a:rPr>
              <a:t> </a:t>
            </a:r>
          </a:p>
          <a:p>
            <a:pPr marL="855663" indent="-855663">
              <a:buFontTx/>
              <a:buNone/>
              <a:tabLst>
                <a:tab pos="914400" algn="l"/>
                <a:tab pos="1827213" algn="l"/>
              </a:tabLst>
            </a:pPr>
            <a:endParaRPr lang="en-US" altLang="en-US" sz="2000">
              <a:cs typeface="Courier New" panose="02070309020205020404" pitchFamily="49" charset="0"/>
            </a:endParaRP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	SELECT COUNT(*) "Number of Employees"</a:t>
            </a: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	FROM employee;</a:t>
            </a: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endParaRPr lang="en-US" altLang="en-US" sz="2400">
              <a:cs typeface="Courier New" panose="02070309020205020404" pitchFamily="49" charset="0"/>
            </a:endParaRP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	Number of Employees</a:t>
            </a: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	---------------------------</a:t>
            </a:r>
          </a:p>
          <a:p>
            <a:pPr marL="2979738" lvl="4">
              <a:buFontTx/>
              <a:buNone/>
              <a:tabLst>
                <a:tab pos="91440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			          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>
            <a:extLst>
              <a:ext uri="{FF2B5EF4-FFF2-40B4-BE49-F238E27FC236}">
                <a16:creationId xmlns:a16="http://schemas.microsoft.com/office/drawing/2014/main" id="{05E99120-5EA7-A9BC-C496-F75A21C95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COUNT( )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CB465141-FEF0-5F5C-C6DD-80157A655C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4876800"/>
          </a:xfrm>
        </p:spPr>
        <p:txBody>
          <a:bodyPr>
            <a:normAutofit lnSpcReduction="10000"/>
          </a:bodyPr>
          <a:lstStyle/>
          <a:p>
            <a:pPr marL="855663" indent="-855663">
              <a:tabLst>
                <a:tab pos="914400" algn="l"/>
                <a:tab pos="1827213" algn="l"/>
              </a:tabLst>
            </a:pPr>
            <a:r>
              <a:rPr lang="en-US" altLang="en-US" sz="2800">
                <a:cs typeface="Courier New" panose="02070309020205020404" pitchFamily="49" charset="0"/>
              </a:rPr>
              <a:t>COUNT(*) is used to count all the rows in a table.</a:t>
            </a:r>
          </a:p>
          <a:p>
            <a:pPr marL="855663" indent="-855663">
              <a:tabLst>
                <a:tab pos="914400" algn="l"/>
                <a:tab pos="1827213" algn="l"/>
              </a:tabLst>
            </a:pPr>
            <a:r>
              <a:rPr lang="en-US" altLang="en-US" sz="2800">
                <a:cs typeface="Courier New" panose="02070309020205020404" pitchFamily="49" charset="0"/>
              </a:rPr>
              <a:t>COUNT(column name) does almost the same thing. The difference is that you may define a specific column to be counted.</a:t>
            </a:r>
          </a:p>
          <a:p>
            <a:pPr marL="855663" indent="-855663">
              <a:tabLst>
                <a:tab pos="914400" algn="l"/>
                <a:tab pos="1827213" algn="l"/>
              </a:tabLst>
            </a:pPr>
            <a:r>
              <a:rPr lang="en-US" altLang="en-US" sz="2800">
                <a:cs typeface="Courier New" panose="02070309020205020404" pitchFamily="49" charset="0"/>
              </a:rPr>
              <a:t>When column name is specified in the COUNT function, rows containing a NULL value in the specified column are omitted. </a:t>
            </a:r>
          </a:p>
          <a:p>
            <a:pPr marL="855663" indent="-855663">
              <a:tabLst>
                <a:tab pos="914400" algn="l"/>
                <a:tab pos="1827213" algn="l"/>
              </a:tabLst>
            </a:pPr>
            <a:r>
              <a:rPr lang="en-US" altLang="en-US" sz="2800">
                <a:cs typeface="Courier New" panose="02070309020205020404" pitchFamily="49" charset="0"/>
              </a:rPr>
              <a:t>A NULL value stands for “unknown” or “unknowable” and must not be confused with a blank or zero.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>
            <a:extLst>
              <a:ext uri="{FF2B5EF4-FFF2-40B4-BE49-F238E27FC236}">
                <a16:creationId xmlns:a16="http://schemas.microsoft.com/office/drawing/2014/main" id="{7D99A7C4-CB9F-66F9-AE64-50246C025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COUNT ( )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8D36AAD8-B0B2-7F55-3EB9-3ECAC3893C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257800"/>
          </a:xfrm>
        </p:spPr>
        <p:txBody>
          <a:bodyPr/>
          <a:lstStyle/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SELECT COUNT(emp_superssn) "Number Supervised Employees"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FROM employee;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endParaRPr lang="en-US" alt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Number Supervised Employees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---------------------------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	                   7</a:t>
            </a:r>
          </a:p>
          <a:p>
            <a:pPr marL="855663" lvl="3" indent="-396875" defTabSz="114300">
              <a:lnSpc>
                <a:spcPct val="90000"/>
              </a:lnSpc>
              <a:buFontTx/>
              <a:buChar char="•"/>
              <a:tabLst>
                <a:tab pos="1827213" algn="l"/>
              </a:tabLst>
            </a:pPr>
            <a:r>
              <a:rPr lang="en-US" altLang="en-US" sz="2800">
                <a:cs typeface="Courier New" panose="02070309020205020404" pitchFamily="49" charset="0"/>
              </a:rPr>
              <a:t>In contrast the count(*) will count each row regardless of NULL values.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endParaRPr lang="en-US" altLang="en-US" sz="2800">
              <a:cs typeface="Courier New" panose="02070309020205020404" pitchFamily="49" charset="0"/>
            </a:endParaRP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SELECT COUNT(*) "Number of Employees</a:t>
            </a:r>
            <a:r>
              <a:rPr lang="en-US" altLang="en-US">
                <a:cs typeface="Courier New" panose="02070309020205020404" pitchFamily="49" charset="0"/>
              </a:rPr>
              <a:t>“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FROM employee;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Number of Employees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-------------------</a:t>
            </a:r>
          </a:p>
          <a:p>
            <a:pPr marL="855663" lvl="3" indent="-396875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	           8</a:t>
            </a:r>
          </a:p>
          <a:p>
            <a:pPr marL="2979738" lvl="4" defTabSz="114300">
              <a:lnSpc>
                <a:spcPct val="90000"/>
              </a:lnSpc>
              <a:buFontTx/>
              <a:buNone/>
              <a:tabLst>
                <a:tab pos="1827213" algn="l"/>
              </a:tabLst>
            </a:pPr>
            <a:endParaRPr lang="en-US" altLang="en-US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EF818506-7158-44DE-E6B4-3CF30F2D7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990600"/>
          </a:xfrm>
        </p:spPr>
        <p:txBody>
          <a:bodyPr/>
          <a:lstStyle/>
          <a:p>
            <a:r>
              <a:rPr lang="en-US" altLang="en-US" sz="3600" b="1" u="sng" dirty="0">
                <a:cs typeface="Times New Roman" panose="02020603050405020304" pitchFamily="18" charset="0"/>
              </a:rPr>
              <a:t>AVG Function</a:t>
            </a:r>
            <a:r>
              <a:rPr lang="en-US" altLang="en-US" sz="3600" b="1" u="sng" dirty="0"/>
              <a:t> 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C8A2B095-E3C7-F614-D366-DAA280D194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257800"/>
          </a:xfrm>
        </p:spPr>
        <p:txBody>
          <a:bodyPr>
            <a:normAutofit lnSpcReduction="10000"/>
          </a:bodyPr>
          <a:lstStyle/>
          <a:p>
            <a:pPr marL="969963" lvl="4" indent="-396875" algn="just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AVG function is used to compute the average value for the </a:t>
            </a:r>
            <a:r>
              <a:rPr lang="en-US" altLang="en-US" sz="2800" i="1">
                <a:cs typeface="Times New Roman" panose="02020603050405020304" pitchFamily="18" charset="0"/>
              </a:rPr>
              <a:t>emp_salary</a:t>
            </a:r>
            <a:r>
              <a:rPr lang="en-US" altLang="en-US" sz="2800">
                <a:cs typeface="Times New Roman" panose="02020603050405020304" pitchFamily="18" charset="0"/>
              </a:rPr>
              <a:t> column in the </a:t>
            </a:r>
            <a:r>
              <a:rPr lang="en-US" altLang="en-US" sz="2800" i="1">
                <a:cs typeface="Times New Roman" panose="02020603050405020304" pitchFamily="18" charset="0"/>
              </a:rPr>
              <a:t>employee</a:t>
            </a:r>
            <a:r>
              <a:rPr lang="en-US" altLang="en-US" sz="2800">
                <a:cs typeface="Times New Roman" panose="02020603050405020304" pitchFamily="18" charset="0"/>
              </a:rPr>
              <a:t> table.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For example, the following query returns the average of the employee salaries. 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>
              <a:cs typeface="Times New Roman" panose="02020603050405020304" pitchFamily="18" charset="0"/>
            </a:endParaRP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SELECT AVG(emp_salary) "Average Employee Salary"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FROM employee;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cs typeface="Courier New" panose="02070309020205020404" pitchFamily="49" charset="0"/>
              </a:rPr>
              <a:t> 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Average Employee Salary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               																		 $35,500</a:t>
            </a:r>
            <a:r>
              <a:rPr lang="en-US" altLang="en-US" sz="2400"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C0D7EF74-9309-07A5-743F-A34B1A4D1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More Examples</a:t>
            </a: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9649ECA1-DD45-6A33-C681-3C44886DB2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257800"/>
          </a:xfrm>
        </p:spPr>
        <p:txBody>
          <a:bodyPr/>
          <a:lstStyle/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What is the average salary </a:t>
            </a:r>
            <a:r>
              <a:rPr lang="en-US" altLang="en-US" sz="2400" u="sng">
                <a:cs typeface="Times New Roman" panose="02020603050405020304" pitchFamily="18" charset="0"/>
              </a:rPr>
              <a:t>offered</a:t>
            </a:r>
            <a:r>
              <a:rPr lang="en-US" altLang="en-US" sz="2400">
                <a:cs typeface="Times New Roman" panose="02020603050405020304" pitchFamily="18" charset="0"/>
              </a:rPr>
              <a:t> to employees?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This question asks you to incorporate the concept of computing the average of the distinct salaries paid by the organization.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The same query with the DISTINCT keyword in the aggregate function returns a different average.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1200"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Times New Roman" panose="02020603050405020304" pitchFamily="18" charset="0"/>
              </a:rPr>
              <a:t>SELECT AVG(DISTINCT emp_salary) "Average Employee Salary"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Times New Roman" panose="02020603050405020304" pitchFamily="18" charset="0"/>
              </a:rPr>
              <a:t>FROM employee;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cs typeface="Times New Roman" panose="02020603050405020304" pitchFamily="18" charset="0"/>
              </a:rPr>
              <a:t> </a:t>
            </a:r>
            <a:endParaRPr lang="en-US" altLang="en-US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Times New Roman" panose="02020603050405020304" pitchFamily="18" charset="0"/>
              </a:rPr>
              <a:t>Average Employee Salary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Times New Roman" panose="02020603050405020304" pitchFamily="18" charset="0"/>
              </a:rPr>
              <a:t>-----------------------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Times New Roman" panose="02020603050405020304" pitchFamily="18" charset="0"/>
              </a:rPr>
              <a:t>                $38,200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AC598465-43ED-F244-5EC0-605B53359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990600"/>
          </a:xfrm>
        </p:spPr>
        <p:txBody>
          <a:bodyPr/>
          <a:lstStyle/>
          <a:p>
            <a:r>
              <a:rPr lang="en-US" altLang="en-US" sz="3600" b="1" u="sng" dirty="0"/>
              <a:t>SUM Function</a:t>
            </a:r>
          </a:p>
        </p:txBody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00A358CB-9E06-6D8C-5B2A-595F204543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257800"/>
          </a:xfrm>
        </p:spPr>
        <p:txBody>
          <a:bodyPr/>
          <a:lstStyle/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The SUM function can compute the total of a specified table column.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The SELECT statement shown here will return the total of the </a:t>
            </a:r>
            <a:r>
              <a:rPr lang="en-US" altLang="en-US" sz="2800" i="1">
                <a:cs typeface="Times New Roman" panose="02020603050405020304" pitchFamily="18" charset="0"/>
              </a:rPr>
              <a:t>emp_salary</a:t>
            </a:r>
            <a:r>
              <a:rPr lang="en-US" altLang="en-US" sz="2800">
                <a:cs typeface="Times New Roman" panose="02020603050405020304" pitchFamily="18" charset="0"/>
              </a:rPr>
              <a:t> column from the </a:t>
            </a:r>
            <a:r>
              <a:rPr lang="en-US" altLang="en-US" sz="2800" i="1">
                <a:cs typeface="Times New Roman" panose="02020603050405020304" pitchFamily="18" charset="0"/>
              </a:rPr>
              <a:t>employee</a:t>
            </a:r>
            <a:r>
              <a:rPr lang="en-US" altLang="en-US" sz="2800">
                <a:cs typeface="Times New Roman" panose="02020603050405020304" pitchFamily="18" charset="0"/>
              </a:rPr>
              <a:t> table.  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SELECT SUM(emp_salary) "Total Salary"			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FROM employee;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cs typeface="Courier New" panose="02070309020205020404" pitchFamily="49" charset="0"/>
              </a:rPr>
              <a:t> </a:t>
            </a: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Total Salary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------------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   $284,000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>
            <a:extLst>
              <a:ext uri="{FF2B5EF4-FFF2-40B4-BE49-F238E27FC236}">
                <a16:creationId xmlns:a16="http://schemas.microsoft.com/office/drawing/2014/main" id="{F4CF1593-4062-81E0-621B-4AE383386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990600"/>
          </a:xfrm>
        </p:spPr>
        <p:txBody>
          <a:bodyPr/>
          <a:lstStyle/>
          <a:p>
            <a:r>
              <a:rPr lang="en-US" altLang="en-US" sz="3600" b="1" u="sng"/>
              <a:t>More Examples</a:t>
            </a: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2F648F84-8AF7-E6FB-4E68-8FA189BCF9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86800" cy="5257800"/>
          </a:xfrm>
        </p:spPr>
        <p:txBody>
          <a:bodyPr/>
          <a:lstStyle/>
          <a:p>
            <a:pPr marL="969963" lvl="4" indent="-396875" algn="just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If management is preparing a budget for various departments, you may be asked to write a query to compute the total salary for different departments.  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query shown here will compute the total </a:t>
            </a:r>
            <a:r>
              <a:rPr lang="en-US" altLang="en-US" sz="2800" dirty="0" err="1">
                <a:cs typeface="Times New Roman" panose="02020603050405020304" pitchFamily="18" charset="0"/>
              </a:rPr>
              <a:t>emp_salary</a:t>
            </a:r>
            <a:r>
              <a:rPr lang="en-US" altLang="en-US" sz="2800" dirty="0">
                <a:cs typeface="Times New Roman" panose="02020603050405020304" pitchFamily="18" charset="0"/>
              </a:rPr>
              <a:t> for employees assigned to department #7.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SELECT SUM(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"Total Salary Dept 7"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FROM employee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WHERE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7;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cs typeface="Courier New" panose="02070309020205020404" pitchFamily="49" charset="0"/>
              </a:rPr>
              <a:t> 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Total Salary Dept 7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-------------------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	     $136,000</a:t>
            </a:r>
          </a:p>
          <a:p>
            <a:pPr marL="969963" lvl="4" indent="-3968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dirty="0"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D159AFDA-7525-F18F-74CF-5798B0D721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 MIN and MAX Functions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ACA41DC9-6F2A-C2E5-01DE-6F03C4B47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86800" cy="5029200"/>
          </a:xfrm>
        </p:spPr>
        <p:txBody>
          <a:bodyPr/>
          <a:lstStyle/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The MIN function returns the lowest value stored in a data column.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The MAX function returns the largest value stored in a data column. 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>
                <a:cs typeface="Times New Roman" panose="02020603050405020304" pitchFamily="18" charset="0"/>
              </a:rPr>
              <a:t>Unlike SUM and AVG, the MIN and MAX functions work with both numeric and character data columns.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>
            <a:extLst>
              <a:ext uri="{FF2B5EF4-FFF2-40B4-BE49-F238E27FC236}">
                <a16:creationId xmlns:a16="http://schemas.microsoft.com/office/drawing/2014/main" id="{9DC28EF9-24EF-6EFC-1CDE-9566FD2DB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Example</a:t>
            </a:r>
          </a:p>
        </p:txBody>
      </p:sp>
      <p:sp>
        <p:nvSpPr>
          <p:cNvPr id="252931" name="Rectangle 3">
            <a:extLst>
              <a:ext uri="{FF2B5EF4-FFF2-40B4-BE49-F238E27FC236}">
                <a16:creationId xmlns:a16="http://schemas.microsoft.com/office/drawing/2014/main" id="{7E827594-4E4B-DC71-0FE4-D48506A656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>
            <a:normAutofit lnSpcReduction="10000"/>
          </a:bodyPr>
          <a:lstStyle/>
          <a:p>
            <a:pPr marL="969963" lvl="4" indent="-396875" algn="just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A query that uses the MIN function to find the lowest value stored in the </a:t>
            </a:r>
            <a:r>
              <a:rPr lang="en-US" altLang="en-US" sz="2400" i="1">
                <a:cs typeface="Times New Roman" panose="02020603050405020304" pitchFamily="18" charset="0"/>
              </a:rPr>
              <a:t>emp_last_name</a:t>
            </a:r>
            <a:r>
              <a:rPr lang="en-US" altLang="en-US" sz="2400">
                <a:cs typeface="Times New Roman" panose="02020603050405020304" pitchFamily="18" charset="0"/>
              </a:rPr>
              <a:t> column of the </a:t>
            </a:r>
            <a:r>
              <a:rPr lang="en-US" altLang="en-US" sz="2400" i="1">
                <a:cs typeface="Times New Roman" panose="02020603050405020304" pitchFamily="18" charset="0"/>
              </a:rPr>
              <a:t>employee</a:t>
            </a:r>
            <a:r>
              <a:rPr lang="en-US" altLang="en-US" sz="2400">
                <a:cs typeface="Times New Roman" panose="02020603050405020304" pitchFamily="18" charset="0"/>
              </a:rPr>
              <a:t> table.</a:t>
            </a:r>
          </a:p>
          <a:p>
            <a:pPr marL="969963" lvl="4" indent="-396875" algn="just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This is analogous to determine which employee's last name comes first in the alphabet.  </a:t>
            </a:r>
          </a:p>
          <a:p>
            <a:pPr marL="969963" lvl="4" indent="-396875" algn="just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400">
                <a:cs typeface="Times New Roman" panose="02020603050405020304" pitchFamily="18" charset="0"/>
              </a:rPr>
              <a:t>Conversely, MAX() will return the employee row where last name comes last (highest) in the alphabet.  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SELECT MIN(emp_last_name), MAX(emp_last_name)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FROM employee;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MIN(EMP_LAST_NAME)        MAX(EMP_LAST_NAME)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------------------------- -----------------------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	Amin                      Zhu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DCD4-C17E-8A7C-FA5A-24EE1AF87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2675FA28-027F-D9DC-C38C-BDF106BDF0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304800"/>
            <a:ext cx="6858000" cy="762000"/>
          </a:xfrm>
        </p:spPr>
        <p:txBody>
          <a:bodyPr/>
          <a:lstStyle/>
          <a:p>
            <a:r>
              <a:rPr lang="en-US" altLang="en-US" sz="3200" b="1" u="sng" dirty="0">
                <a:cs typeface="Arial" panose="020B0604020202020204" pitchFamily="34" charset="0"/>
              </a:rPr>
              <a:t>EXAMPLE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13A9464D-030E-5FE1-4987-06A136408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1" y="1219200"/>
            <a:ext cx="7543799" cy="498568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SELECT </a:t>
            </a:r>
          </a:p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 COUNT(</a:t>
            </a:r>
            <a:r>
              <a:rPr lang="en-US" altLang="en-US" sz="2800" dirty="0" err="1">
                <a:cs typeface="Courier New" panose="02070309020205020404" pitchFamily="49" charset="0"/>
              </a:rPr>
              <a:t>employee_id</a:t>
            </a:r>
            <a:r>
              <a:rPr lang="en-US" altLang="en-US" sz="2800" dirty="0">
                <a:cs typeface="Courier New" panose="02070309020205020404" pitchFamily="49" charset="0"/>
              </a:rPr>
              <a:t>) AS </a:t>
            </a:r>
            <a:r>
              <a:rPr lang="en-US" altLang="en-US" sz="2800" dirty="0" err="1">
                <a:cs typeface="Courier New" panose="02070309020205020404" pitchFamily="49" charset="0"/>
              </a:rPr>
              <a:t>total_employees</a:t>
            </a:r>
            <a:r>
              <a:rPr lang="en-US" altLang="en-US" sz="2800" dirty="0"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 AVG(salary) AS </a:t>
            </a:r>
            <a:r>
              <a:rPr lang="en-US" altLang="en-US" sz="2800" dirty="0" err="1">
                <a:cs typeface="Courier New" panose="02070309020205020404" pitchFamily="49" charset="0"/>
              </a:rPr>
              <a:t>average_salary</a:t>
            </a:r>
            <a:r>
              <a:rPr lang="en-US" altLang="en-US" sz="2800" dirty="0"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 MAX(salary) AS </a:t>
            </a:r>
            <a:r>
              <a:rPr lang="en-US" altLang="en-US" sz="2800" dirty="0" err="1">
                <a:cs typeface="Courier New" panose="02070309020205020404" pitchFamily="49" charset="0"/>
              </a:rPr>
              <a:t>highest_salary</a:t>
            </a:r>
            <a:r>
              <a:rPr lang="en-US" altLang="en-US" sz="2800" dirty="0"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    MIN(salary) AS </a:t>
            </a:r>
            <a:r>
              <a:rPr lang="en-US" altLang="en-US" sz="2800" dirty="0" err="1">
                <a:cs typeface="Courier New" panose="02070309020205020404" pitchFamily="49" charset="0"/>
              </a:rPr>
              <a:t>lowest_salary</a:t>
            </a:r>
            <a:endParaRPr lang="en-US" altLang="en-US" sz="2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800" dirty="0">
                <a:cs typeface="Courier New" panose="02070309020205020404" pitchFamily="49" charset="0"/>
              </a:rPr>
              <a:t>FROM employees;</a:t>
            </a:r>
          </a:p>
          <a:p>
            <a:r>
              <a:rPr lang="en-US" altLang="en-US" sz="2800" dirty="0">
                <a:cs typeface="Courier New" panose="02070309020205020404" pitchFamily="49" charset="0"/>
              </a:rPr>
              <a:t>This query summarizes the entire employees table.</a:t>
            </a:r>
          </a:p>
          <a:p>
            <a:r>
              <a:rPr lang="en-US" altLang="en-US" sz="2800" dirty="0">
                <a:cs typeface="Courier New" panose="02070309020205020404" pitchFamily="49" charset="0"/>
              </a:rPr>
              <a:t>The result contains one row with general statistics about employees’ salaries</a:t>
            </a:r>
          </a:p>
        </p:txBody>
      </p:sp>
    </p:spTree>
    <p:extLst>
      <p:ext uri="{BB962C8B-B14F-4D97-AF65-F5344CB8AC3E}">
        <p14:creationId xmlns:p14="http://schemas.microsoft.com/office/powerpoint/2010/main" val="1728532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>
            <a:extLst>
              <a:ext uri="{FF2B5EF4-FFF2-40B4-BE49-F238E27FC236}">
                <a16:creationId xmlns:a16="http://schemas.microsoft.com/office/drawing/2014/main" id="{A2F5AFA3-9444-A9BB-E6DB-515AD99D4E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6600" y="196928"/>
            <a:ext cx="3505200" cy="990600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b="1" u="sng" dirty="0">
                <a:ea typeface="PMingLiU" panose="02020500000000000000" pitchFamily="18" charset="-120"/>
              </a:rPr>
              <a:t>GROUP BY</a:t>
            </a:r>
          </a:p>
        </p:txBody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2BC55E11-9AB1-EDDA-30F9-2E736311B9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371600"/>
            <a:ext cx="8077200" cy="4953000"/>
          </a:xfrm>
        </p:spPr>
        <p:txBody>
          <a:bodyPr>
            <a:normAutofit/>
          </a:bodyPr>
          <a:lstStyle/>
          <a:p>
            <a:r>
              <a:rPr lang="en-US" sz="2800" dirty="0"/>
              <a:t>GROUP BY groups rows that have the same values in specified columns into </a:t>
            </a:r>
            <a:r>
              <a:rPr lang="en-US" sz="2800" b="1" dirty="0"/>
              <a:t>summary rows</a:t>
            </a:r>
            <a:r>
              <a:rPr lang="en-US" sz="2800" dirty="0"/>
              <a:t>, often combined with aggregate functions to produce </a:t>
            </a:r>
            <a:r>
              <a:rPr lang="en-US" sz="2800" b="1" dirty="0"/>
              <a:t>aggregated summaries per group</a:t>
            </a:r>
            <a:r>
              <a:rPr lang="en-US" sz="2800" dirty="0"/>
              <a:t>.</a:t>
            </a:r>
          </a:p>
          <a:p>
            <a:r>
              <a:rPr lang="en-US" sz="2800" dirty="0"/>
              <a:t>It essentially converts row-level data into </a:t>
            </a:r>
            <a:r>
              <a:rPr lang="en-US" sz="2800" b="1" dirty="0"/>
              <a:t>group-level summaries</a:t>
            </a:r>
            <a:r>
              <a:rPr lang="en-US" sz="2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7D613-4F7A-B963-B11F-4A0619EA0127}"/>
              </a:ext>
            </a:extLst>
          </p:cNvPr>
          <p:cNvSpPr txBox="1"/>
          <p:nvPr/>
        </p:nvSpPr>
        <p:spPr>
          <a:xfrm>
            <a:off x="1905000" y="4886235"/>
            <a:ext cx="54907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SELECT column1, </a:t>
            </a:r>
            <a:r>
              <a:rPr lang="en-US" sz="2400" b="1" dirty="0" err="1"/>
              <a:t>aggregate_function</a:t>
            </a:r>
            <a:r>
              <a:rPr lang="en-US" sz="2400" b="1" dirty="0"/>
              <a:t>(column2)</a:t>
            </a:r>
          </a:p>
          <a:p>
            <a:r>
              <a:rPr lang="en-US" sz="2400" b="1" dirty="0"/>
              <a:t>FROM </a:t>
            </a:r>
            <a:r>
              <a:rPr lang="en-US" sz="2400" b="1" dirty="0" err="1"/>
              <a:t>table_name</a:t>
            </a:r>
            <a:endParaRPr lang="en-US" sz="2400" b="1" dirty="0"/>
          </a:p>
          <a:p>
            <a:r>
              <a:rPr lang="en-US" sz="2400" b="1" dirty="0"/>
              <a:t>GROUP BY column1;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2">
            <a:extLst>
              <a:ext uri="{FF2B5EF4-FFF2-40B4-BE49-F238E27FC236}">
                <a16:creationId xmlns:a16="http://schemas.microsoft.com/office/drawing/2014/main" id="{A292C3F6-A2B5-C13B-1BA0-DAC2A7EBF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GROUP BY Clause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1170272-B674-E0BE-6C5B-2EAC57A03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9200" y="1524000"/>
            <a:ext cx="739140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Every column in the SELECT clause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must either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 in the GROUP BY clause,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 used in an aggregate 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database engine first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groups the rows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applies the aggregate functions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FB02C60C-07F6-7074-DC4E-9A57A4D55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Example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EDA67293-E0EB-C82A-C4C3-822F90BDF5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>
            <a:normAutofit lnSpcReduction="10000"/>
          </a:bodyPr>
          <a:lstStyle/>
          <a:p>
            <a:pPr marL="969963" lvl="4" indent="-396875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following query displays how many employees work for each department?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cs typeface="Times New Roman" panose="02020603050405020304" pitchFamily="18" charset="0"/>
              </a:rPr>
              <a:t>  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as "Department",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COUNT(*) as "Department Count"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FROM employee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GROUP BY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cs typeface="Courier New" panose="02070309020205020404" pitchFamily="49" charset="0"/>
              </a:rPr>
              <a:t> 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Department</a:t>
            </a: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---------- ----------------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			1                1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 	3                3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	 	7                4</a:t>
            </a: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000" dirty="0">
                <a:cs typeface="Courier New" panose="02070309020205020404" pitchFamily="49" charset="0"/>
              </a:rPr>
              <a:t> </a:t>
            </a: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C57F5E34-F21A-90B6-4663-020AAA974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Example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9A3547A2-5405-482B-6EAA-AA83E6CE4B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685800"/>
            <a:ext cx="7772400" cy="5334000"/>
          </a:xfrm>
        </p:spPr>
        <p:txBody>
          <a:bodyPr>
            <a:normAutofit/>
          </a:bodyPr>
          <a:lstStyle/>
          <a:p>
            <a:pPr marL="969963" lvl="4" indent="-3968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/>
              <a:t>SELECT </a:t>
            </a:r>
            <a:r>
              <a:rPr lang="en-US" altLang="en-US" sz="2800" dirty="0" err="1"/>
              <a:t>emp_dpt_number</a:t>
            </a:r>
            <a:r>
              <a:rPr lang="en-US" altLang="en-US" sz="2800" dirty="0"/>
              <a:t>, COUNT(*) FROM employee;</a:t>
            </a:r>
          </a:p>
          <a:p>
            <a:pPr marL="969963" lvl="4" indent="-396875" defTabSz="114300">
              <a:tabLst>
                <a:tab pos="0" algn="l"/>
                <a:tab pos="1827213" algn="l"/>
              </a:tabLst>
            </a:pPr>
            <a:endParaRPr lang="en-US" altLang="en-US" sz="2800" dirty="0"/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/>
              <a:t>ERROR at line 1: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/>
              <a:t>ORA-00937: not a single-group group function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89EC51B8-B874-255D-565F-1B2C60CE8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GROUP BY Clause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4B33D924-913C-A939-743A-7842450D5E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334000"/>
          </a:xfrm>
        </p:spPr>
        <p:txBody>
          <a:bodyPr>
            <a:normAutofit lnSpcReduction="10000"/>
          </a:bodyPr>
          <a:lstStyle/>
          <a:p>
            <a:pPr marL="969963" lvl="4" indent="-396875" algn="just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b="1" i="1" dirty="0">
                <a:cs typeface="Times New Roman" panose="02020603050405020304" pitchFamily="18" charset="0"/>
              </a:rPr>
              <a:t>To keep it simple, just remember the following:</a:t>
            </a:r>
          </a:p>
          <a:p>
            <a:pPr marL="969963" lvl="4" indent="-396875" algn="just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 b="1" i="1" dirty="0"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>
                <a:cs typeface="Times New Roman" panose="02020603050405020304" pitchFamily="18" charset="0"/>
              </a:rPr>
              <a:t>	1.  If you have column name(s) AND </a:t>
            </a:r>
            <a:r>
              <a:rPr lang="en-US" altLang="en-US" sz="3200" dirty="0" err="1">
                <a:cs typeface="Times New Roman" panose="02020603050405020304" pitchFamily="18" charset="0"/>
              </a:rPr>
              <a:t>Aggr</a:t>
            </a:r>
            <a:r>
              <a:rPr lang="en-US" altLang="en-US" sz="3200" dirty="0">
                <a:cs typeface="Times New Roman" panose="02020603050405020304" pitchFamily="18" charset="0"/>
              </a:rPr>
              <a:t>. Function(s) in the SELECT clause, then you MUST also have a GROUP BY clause.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>
                <a:cs typeface="Times New Roman" panose="02020603050405020304" pitchFamily="18" charset="0"/>
              </a:rPr>
              <a:t>	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>
                <a:cs typeface="Times New Roman" panose="02020603050405020304" pitchFamily="18" charset="0"/>
              </a:rPr>
              <a:t>	2.  The column name(s) in the SELECT clause MUST match column name(s) listed in the  GROUP BY clause.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6FE7DC28-011E-4F22-C68B-892BF40D2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Example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4AEC7857-90F9-DA76-97AC-B12024314C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SELECT  </a:t>
            </a:r>
            <a:r>
              <a:rPr lang="en-US" altLang="en-US" sz="3200" dirty="0" err="1"/>
              <a:t>emp_dpt_number</a:t>
            </a:r>
            <a:r>
              <a:rPr lang="en-US" altLang="en-US" sz="3200" dirty="0"/>
              <a:t> "Department",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                 </a:t>
            </a:r>
            <a:r>
              <a:rPr lang="en-US" altLang="en-US" sz="3200" dirty="0" err="1"/>
              <a:t>emp_gender</a:t>
            </a:r>
            <a:r>
              <a:rPr lang="en-US" altLang="en-US" sz="3200" dirty="0"/>
              <a:t> "Gender",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                 COUNT(*) "Department Count"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GROUP BY </a:t>
            </a:r>
            <a:r>
              <a:rPr lang="en-US" altLang="en-US" sz="3200" dirty="0" err="1"/>
              <a:t>emp_dpt_number</a:t>
            </a:r>
            <a:r>
              <a:rPr lang="en-US" altLang="en-US" sz="3200" dirty="0"/>
              <a:t>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3200" dirty="0"/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	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ERROR at line 2: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3200" dirty="0"/>
              <a:t>ORA-00979: not a GROUP BY expression</a:t>
            </a:r>
          </a:p>
          <a:p>
            <a:pPr marL="115888" indent="-115888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dirty="0">
                <a:cs typeface="Courier New" panose="02070309020205020404" pitchFamily="49" charset="0"/>
              </a:rPr>
              <a:t> 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7418458A-88FE-3B4D-AEF8-948B2738DA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990600"/>
          </a:xfrm>
        </p:spPr>
        <p:txBody>
          <a:bodyPr/>
          <a:lstStyle/>
          <a:p>
            <a:r>
              <a:rPr lang="en-US" altLang="en-US" sz="3200" b="1" u="sng">
                <a:ea typeface="PMingLiU" panose="02020500000000000000" pitchFamily="18" charset="-120"/>
              </a:rPr>
              <a:t>Example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9A3497B5-14B4-992C-FD11-CDE60C47E3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1600" y="990600"/>
            <a:ext cx="7543800" cy="5334000"/>
          </a:xfrm>
        </p:spPr>
        <p:txBody>
          <a:bodyPr>
            <a:normAutofit fontScale="85000" lnSpcReduction="20000"/>
          </a:bodyPr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</a:rPr>
              <a:t>SELECT  </a:t>
            </a:r>
            <a:r>
              <a:rPr lang="en-US" altLang="en-US" sz="2400" b="1" dirty="0" err="1">
                <a:solidFill>
                  <a:schemeClr val="tx1"/>
                </a:solidFill>
              </a:rPr>
              <a:t>emp_dpt_number</a:t>
            </a:r>
            <a:r>
              <a:rPr lang="en-US" altLang="en-US" sz="2400" b="1" dirty="0">
                <a:solidFill>
                  <a:schemeClr val="tx1"/>
                </a:solidFill>
              </a:rPr>
              <a:t> "Department",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</a:rPr>
              <a:t>		</a:t>
            </a:r>
            <a:r>
              <a:rPr lang="en-US" altLang="en-US" sz="2400" b="1" dirty="0" err="1">
                <a:solidFill>
                  <a:schemeClr val="tx1"/>
                </a:solidFill>
              </a:rPr>
              <a:t>emp_gender</a:t>
            </a:r>
            <a:r>
              <a:rPr lang="en-US" altLang="en-US" sz="2400" b="1" dirty="0">
                <a:solidFill>
                  <a:schemeClr val="tx1"/>
                </a:solidFill>
              </a:rPr>
              <a:t> "G",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</a:rPr>
              <a:t>		COUNT(*) “Employee Count"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</a:rPr>
              <a:t>GROUP BY </a:t>
            </a:r>
            <a:r>
              <a:rPr lang="en-US" altLang="en-US" sz="2400" b="1" dirty="0" err="1">
                <a:solidFill>
                  <a:schemeClr val="tx1"/>
                </a:solidFill>
              </a:rPr>
              <a:t>emp_dpt_number</a:t>
            </a:r>
            <a:r>
              <a:rPr lang="en-US" altLang="en-US" sz="2400" b="1" dirty="0">
                <a:solidFill>
                  <a:schemeClr val="tx1"/>
                </a:solidFill>
              </a:rPr>
              <a:t>, </a:t>
            </a:r>
            <a:r>
              <a:rPr lang="en-US" altLang="en-US" sz="2400" b="1" dirty="0" err="1">
                <a:solidFill>
                  <a:schemeClr val="tx1"/>
                </a:solidFill>
              </a:rPr>
              <a:t>emp_gender</a:t>
            </a:r>
            <a:r>
              <a:rPr lang="en-US" altLang="en-US" sz="2400" b="1" dirty="0">
                <a:solidFill>
                  <a:schemeClr val="tx1"/>
                </a:solidFill>
              </a:rPr>
              <a:t>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2400" b="1" dirty="0">
              <a:solidFill>
                <a:schemeClr val="tx1"/>
              </a:solidFill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Department G Employee Count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---------- - --------------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1 M              1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3 F              2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3 M              1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7 F              1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        7 M              3</a:t>
            </a:r>
          </a:p>
          <a:p>
            <a:pPr marL="115888" indent="-115888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 </a:t>
            </a:r>
            <a:endParaRPr lang="en-US" altLang="en-US" sz="2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614E1292-2B66-0F87-E2AA-AF46A5227B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r>
              <a:rPr lang="en-US" altLang="en-US" sz="3200" b="1" u="sng" dirty="0">
                <a:ea typeface="PMingLiU" panose="02020500000000000000" pitchFamily="18" charset="-120"/>
              </a:rPr>
              <a:t>WHERE Clause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A4171431-CD51-5DD4-62E1-27FDC13F6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914400"/>
            <a:ext cx="8382000" cy="5257800"/>
          </a:xfrm>
        </p:spPr>
        <p:txBody>
          <a:bodyPr>
            <a:normAutofit/>
          </a:bodyPr>
          <a:lstStyle/>
          <a:p>
            <a:pPr marL="915988" lvl="4" indent="-34290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The WHERE clause works to eliminates data table rows from consideration before any grouping takes place. 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SELECT </a:t>
            </a:r>
            <a:r>
              <a:rPr lang="en-US" altLang="en-US" sz="24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aggregate_function</a:t>
            </a:r>
            <a:r>
              <a:rPr lang="en-US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(column)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FROM </a:t>
            </a:r>
            <a:r>
              <a:rPr lang="en-US" altLang="en-US" sz="24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table_name</a:t>
            </a:r>
            <a:endParaRPr lang="en-US" alt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WHERE condition</a:t>
            </a:r>
          </a:p>
          <a:p>
            <a:pPr marL="969963" lvl="4" indent="-396875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sz="1800" dirty="0"/>
              <a:t>Columns used in the </a:t>
            </a:r>
            <a:r>
              <a:rPr lang="en-US" dirty="0"/>
              <a:t>WHERE</a:t>
            </a:r>
            <a:r>
              <a:rPr lang="en-US" sz="1800" dirty="0"/>
              <a:t> condition </a:t>
            </a:r>
            <a:r>
              <a:rPr lang="en-US" sz="1800" b="1" dirty="0"/>
              <a:t>do not have to appear</a:t>
            </a:r>
            <a:r>
              <a:rPr lang="en-US" sz="1800" dirty="0"/>
              <a:t> in the </a:t>
            </a:r>
            <a:r>
              <a:rPr lang="en-US" dirty="0"/>
              <a:t>SELECT</a:t>
            </a:r>
            <a:r>
              <a:rPr lang="en-US" sz="1800" dirty="0"/>
              <a:t> clause </a:t>
            </a:r>
            <a:r>
              <a:rPr lang="en-US" sz="1800" b="1" dirty="0"/>
              <a:t>or</a:t>
            </a:r>
            <a:r>
              <a:rPr lang="en-US" sz="1800" dirty="0"/>
              <a:t> the </a:t>
            </a:r>
            <a:r>
              <a:rPr lang="en-US" dirty="0"/>
              <a:t>GROUP BY</a:t>
            </a:r>
            <a:r>
              <a:rPr lang="en-US" sz="1800" dirty="0"/>
              <a:t> clause.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endParaRPr lang="en-US" altLang="en-US" sz="1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969963" lvl="4" indent="-396875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endParaRPr lang="en-US" altLang="en-US" sz="1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ED85-1B79-3119-970B-B9E8E591A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FE8666F7-F71D-F0E2-6C68-917D3064A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r>
              <a:rPr lang="en-US" altLang="en-US" sz="3200" b="1" u="sng" dirty="0">
                <a:ea typeface="PMingLiU" panose="02020500000000000000" pitchFamily="18" charset="-120"/>
              </a:rPr>
              <a:t>WHERE Clause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66E2F23D-0C71-E091-40A1-5B521AD57B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800100"/>
            <a:ext cx="7391400" cy="5257800"/>
          </a:xfrm>
        </p:spPr>
        <p:txBody>
          <a:bodyPr>
            <a:normAutofit/>
          </a:bodyPr>
          <a:lstStyle/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SELECT AVG(salary) AS </a:t>
            </a:r>
            <a:r>
              <a:rPr lang="en-US" altLang="en-US" sz="2400" dirty="0" err="1">
                <a:solidFill>
                  <a:schemeClr val="tx1"/>
                </a:solidFill>
                <a:cs typeface="Times New Roman" panose="02020603050405020304" pitchFamily="18" charset="0"/>
              </a:rPr>
              <a:t>avg_it_salary</a:t>
            </a:r>
            <a:endParaRPr lang="en-US" alt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FROM employees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WHERE department = 'IT’;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endParaRPr lang="en-US" altLang="en-US" sz="24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858838" lvl="4" indent="-28575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sz="2800" b="1" dirty="0"/>
              <a:t>Step 1 – WHERE:</a:t>
            </a:r>
            <a:br>
              <a:rPr lang="en-US" sz="2800" dirty="0"/>
            </a:br>
            <a:r>
              <a:rPr lang="en-US" sz="2800" dirty="0"/>
              <a:t>SQL filters rows where </a:t>
            </a:r>
            <a:r>
              <a:rPr lang="en-US" sz="1800" dirty="0"/>
              <a:t>department = 'IT’</a:t>
            </a:r>
            <a:r>
              <a:rPr lang="en-US" sz="2800" dirty="0"/>
              <a:t>.</a:t>
            </a:r>
          </a:p>
          <a:p>
            <a:pPr marL="858838" lvl="4" indent="-28575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sz="2800" b="1" dirty="0"/>
              <a:t>Step 2 – Aggregate:</a:t>
            </a:r>
            <a:br>
              <a:rPr lang="en-US" sz="2800" dirty="0"/>
            </a:br>
            <a:r>
              <a:rPr lang="en-US" sz="2800" dirty="0"/>
              <a:t>Then SQL applies the aggregate function </a:t>
            </a:r>
            <a:r>
              <a:rPr lang="en-US" sz="1800" dirty="0"/>
              <a:t>AVG(salary)</a:t>
            </a:r>
            <a:r>
              <a:rPr lang="en-US" sz="2800" dirty="0"/>
              <a:t> on the filtered rows</a:t>
            </a:r>
          </a:p>
          <a:p>
            <a:pPr marL="573088" lvl="4" indent="0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endParaRPr lang="en-US" alt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308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108C-7E22-5A92-9CF7-039DA1F1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7E56111C-DA13-65E2-9AC1-8EFC706A9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r>
              <a:rPr lang="en-US" altLang="en-US" sz="3200" b="1" u="sng" dirty="0">
                <a:ea typeface="PMingLiU" panose="02020500000000000000" pitchFamily="18" charset="-120"/>
              </a:rPr>
              <a:t>WHERE Clause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0D8EF971-22A6-BDBE-4F07-1E36CDD5E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800100"/>
            <a:ext cx="7391400" cy="5257800"/>
          </a:xfrm>
        </p:spPr>
        <p:txBody>
          <a:bodyPr>
            <a:normAutofit/>
          </a:bodyPr>
          <a:lstStyle/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SELECT COUNT(</a:t>
            </a:r>
            <a:r>
              <a:rPr lang="en-US" altLang="en-US" sz="28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employee_id</a:t>
            </a: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) AS </a:t>
            </a:r>
            <a:r>
              <a:rPr lang="en-US" altLang="en-US" sz="28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num_high_paid</a:t>
            </a: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    SUM(salary) AS </a:t>
            </a:r>
            <a:r>
              <a:rPr lang="en-US" altLang="en-US" sz="28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total_salary</a:t>
            </a: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FROM employees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WHERE salary &gt; 5000;</a:t>
            </a:r>
          </a:p>
          <a:p>
            <a:pPr marL="858838" lvl="4" indent="-28575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The WHERE clause filters out employees earning ≤ 5000.</a:t>
            </a:r>
          </a:p>
          <a:p>
            <a:pPr marL="858838" lvl="4" indent="-28575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Then COUNT() counts how many employees remain.</a:t>
            </a:r>
          </a:p>
          <a:p>
            <a:pPr marL="858838" lvl="4" indent="-28575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SUM() adds up their salaries.</a:t>
            </a:r>
          </a:p>
        </p:txBody>
      </p:sp>
    </p:spTree>
    <p:extLst>
      <p:ext uri="{BB962C8B-B14F-4D97-AF65-F5344CB8AC3E}">
        <p14:creationId xmlns:p14="http://schemas.microsoft.com/office/powerpoint/2010/main" val="10508029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0A3F-0ED8-A18D-38EC-95A9D5850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>
            <a:extLst>
              <a:ext uri="{FF2B5EF4-FFF2-40B4-BE49-F238E27FC236}">
                <a16:creationId xmlns:a16="http://schemas.microsoft.com/office/drawing/2014/main" id="{152E675E-FB84-E635-1CED-AE3DC29F83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r>
              <a:rPr lang="en-US" sz="3200" dirty="0"/>
              <a:t>Combining WHERE with GROUP BY</a:t>
            </a:r>
            <a:endParaRPr lang="en-US" altLang="en-US" sz="3200" b="1" u="sng" dirty="0">
              <a:ea typeface="PMingLiU" panose="02020500000000000000" pitchFamily="18" charset="-120"/>
            </a:endParaRP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46D274F5-6FF0-3B22-A6DE-BF5BA5985F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800100"/>
            <a:ext cx="7391400" cy="5257800"/>
          </a:xfrm>
        </p:spPr>
        <p:txBody>
          <a:bodyPr>
            <a:normAutofit/>
          </a:bodyPr>
          <a:lstStyle/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SELECT department, AVG(salary) AS </a:t>
            </a:r>
            <a:r>
              <a:rPr lang="en-US" altLang="en-US" sz="2800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avg_salary</a:t>
            </a: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FROM employees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WHERE salary &gt; 4000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r>
              <a:rPr lang="en-US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GROUP BY department;</a:t>
            </a:r>
          </a:p>
          <a:p>
            <a:pPr marL="915988" lvl="4" indent="-34290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WHERE salary &gt; 4000 → only include employees earning above 4000.</a:t>
            </a:r>
          </a:p>
          <a:p>
            <a:pPr marL="915988" lvl="4" indent="-34290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GROUP BY department → group remaining rows by department.</a:t>
            </a:r>
          </a:p>
          <a:p>
            <a:pPr marL="915988" lvl="4" indent="-342900" defTabSz="114300">
              <a:lnSpc>
                <a:spcPct val="90000"/>
              </a:lnSpc>
              <a:tabLst>
                <a:tab pos="0" algn="l"/>
                <a:tab pos="1827213" algn="l"/>
              </a:tabLst>
            </a:pP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AVG(salary) → compute the average for each department.</a:t>
            </a:r>
          </a:p>
          <a:p>
            <a:pPr marL="573088" lvl="4" indent="0" algn="ctr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endParaRPr lang="en-US" altLang="en-US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3088" lvl="4" indent="0" defTabSz="114300">
              <a:lnSpc>
                <a:spcPct val="90000"/>
              </a:lnSpc>
              <a:buNone/>
              <a:tabLst>
                <a:tab pos="0" algn="l"/>
                <a:tab pos="1827213" algn="l"/>
              </a:tabLst>
            </a:pPr>
            <a:endParaRPr lang="en-US" alt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3A52A2-F9E2-3CD2-0DAF-2814AC410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505314"/>
              </p:ext>
            </p:extLst>
          </p:nvPr>
        </p:nvGraphicFramePr>
        <p:xfrm>
          <a:off x="2133600" y="5407980"/>
          <a:ext cx="5791200" cy="1097280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1552566508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490349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1"/>
                          </a:solidFill>
                        </a:rPr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</a:rPr>
                        <a:t>avg_salary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799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997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5833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364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>
            <a:extLst>
              <a:ext uri="{FF2B5EF4-FFF2-40B4-BE49-F238E27FC236}">
                <a16:creationId xmlns:a16="http://schemas.microsoft.com/office/drawing/2014/main" id="{AE8A4980-C827-A07B-2554-3584EB7608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endParaRPr lang="en-US" altLang="en-US" sz="2800" b="1" u="sng" dirty="0">
              <a:ea typeface="PMingLiU" panose="02020500000000000000" pitchFamily="18" charset="-120"/>
            </a:endParaRP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D4D1C570-E51B-BCF5-DF29-DD9663D92E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5029200"/>
          </a:xfrm>
        </p:spPr>
        <p:txBody>
          <a:bodyPr>
            <a:normAutofit lnSpcReduction="10000"/>
          </a:bodyPr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"Department", AVG(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)as  "Average Salary"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 BY AVG(</a:t>
            </a:r>
            <a:r>
              <a:rPr lang="en-US" altLang="en-US" sz="2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cs typeface="Courier New" panose="02070309020205020404" pitchFamily="49" charset="0"/>
              </a:rPr>
              <a:t> </a:t>
            </a:r>
            <a:endParaRPr lang="en-US" altLang="en-US" sz="2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 Average Salary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---------- --------------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3        $31,000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7        $34,000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1        $55,000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>
            <a:extLst>
              <a:ext uri="{FF2B5EF4-FFF2-40B4-BE49-F238E27FC236}">
                <a16:creationId xmlns:a16="http://schemas.microsoft.com/office/drawing/2014/main" id="{4F2DD5C2-B3A5-8894-8C35-6DDA31D8B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01000" cy="990600"/>
          </a:xfrm>
        </p:spPr>
        <p:txBody>
          <a:bodyPr/>
          <a:lstStyle/>
          <a:p>
            <a:r>
              <a:rPr lang="en-US" altLang="en-US" sz="2800" b="1" u="sng">
                <a:ea typeface="PMingLiU" panose="02020500000000000000" pitchFamily="18" charset="-120"/>
              </a:rPr>
              <a:t>GROUP BY With a HAVING Clause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2E14D83A-13EC-F7F5-F0EF-6CDD77B65D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5029200"/>
          </a:xfrm>
        </p:spPr>
        <p:txBody>
          <a:bodyPr>
            <a:normAutofit/>
          </a:bodyPr>
          <a:lstStyle/>
          <a:p>
            <a:pPr marL="969963" lvl="4" indent="-396875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sz="2800" dirty="0"/>
              <a:t>You </a:t>
            </a:r>
            <a:r>
              <a:rPr lang="en-US" sz="2800" b="1" dirty="0"/>
              <a:t>cannot</a:t>
            </a:r>
            <a:r>
              <a:rPr lang="en-US" sz="2800" dirty="0"/>
              <a:t> use aggregate functions directly in the </a:t>
            </a:r>
            <a:r>
              <a:rPr lang="en-US" sz="1900" b="1" dirty="0">
                <a:solidFill>
                  <a:schemeClr val="tx1"/>
                </a:solidFill>
              </a:rPr>
              <a:t>WHERE</a:t>
            </a:r>
            <a:r>
              <a:rPr lang="en-US" sz="2800" dirty="0"/>
              <a:t> clause.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969963" lvl="4" indent="-396875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HAVING and WHERE clauses do the same thing, that is filter rows from inclusion in a result table based on a condition.</a:t>
            </a:r>
          </a:p>
          <a:p>
            <a:pPr marL="969963" lvl="4" indent="-396875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a WHERE clause is used to filter rows </a:t>
            </a:r>
            <a:r>
              <a:rPr lang="en-US" altLang="en-US" sz="2800" b="1" dirty="0">
                <a:cs typeface="Times New Roman" panose="02020603050405020304" pitchFamily="18" charset="0"/>
              </a:rPr>
              <a:t>BEFORE</a:t>
            </a:r>
            <a:r>
              <a:rPr lang="en-US" altLang="en-US" sz="2800" dirty="0">
                <a:cs typeface="Times New Roman" panose="02020603050405020304" pitchFamily="18" charset="0"/>
              </a:rPr>
              <a:t> the GROUPING action.</a:t>
            </a:r>
          </a:p>
          <a:p>
            <a:pPr marL="969963" lvl="4" indent="-396875" defTabSz="114300">
              <a:lnSpc>
                <a:spcPct val="90000"/>
              </a:lnSpc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a HAVING clause filters rows </a:t>
            </a:r>
            <a:r>
              <a:rPr lang="en-US" altLang="en-US" sz="2800" b="1" dirty="0">
                <a:cs typeface="Times New Roman" panose="02020603050405020304" pitchFamily="18" charset="0"/>
              </a:rPr>
              <a:t>AFTER </a:t>
            </a:r>
            <a:r>
              <a:rPr lang="en-US" altLang="en-US" sz="2800" dirty="0">
                <a:cs typeface="Times New Roman" panose="02020603050405020304" pitchFamily="18" charset="0"/>
              </a:rPr>
              <a:t>the GROUPING action. </a:t>
            </a:r>
            <a:r>
              <a:rPr lang="en-US" altLang="en-US" sz="2800" dirty="0">
                <a:cs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E9BB906B-FB3A-C5F0-5528-331CD95CF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01000" cy="990600"/>
          </a:xfrm>
        </p:spPr>
        <p:txBody>
          <a:bodyPr/>
          <a:lstStyle/>
          <a:p>
            <a:r>
              <a:rPr lang="en-US" altLang="en-US" sz="2800" b="1" u="sng">
                <a:ea typeface="PMingLiU" panose="02020500000000000000" pitchFamily="18" charset="-120"/>
              </a:rPr>
              <a:t>GROUP BY With a HAVING Clause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49DD84AA-3E99-1B20-DCBC-0290725EBF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5029200"/>
          </a:xfrm>
        </p:spPr>
        <p:txBody>
          <a:bodyPr/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"Department", AVG(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)as "Average Salary"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HAVING AVG(</a:t>
            </a:r>
            <a:r>
              <a:rPr lang="en-US" alt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&gt; 33000;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Courier New" panose="02070309020205020404" pitchFamily="49" charset="0"/>
              </a:rPr>
              <a:t> </a:t>
            </a:r>
            <a:endParaRPr lang="en-US" alt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 Average Salary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 --------------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1        $55,000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7        $34,000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>
            <a:extLst>
              <a:ext uri="{FF2B5EF4-FFF2-40B4-BE49-F238E27FC236}">
                <a16:creationId xmlns:a16="http://schemas.microsoft.com/office/drawing/2014/main" id="{DB171C7D-6FCA-F6AF-A2A7-A9E1921119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01000" cy="990600"/>
          </a:xfrm>
        </p:spPr>
        <p:txBody>
          <a:bodyPr/>
          <a:lstStyle/>
          <a:p>
            <a:r>
              <a:rPr lang="en-US" altLang="en-US" sz="2800" b="1" u="sng" dirty="0">
                <a:ea typeface="PMingLiU" panose="02020500000000000000" pitchFamily="18" charset="-120"/>
              </a:rPr>
              <a:t>Combining HAVING Clause with Where clause 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2B970B6D-CDE9-5F6B-FF06-CAA0103E72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0" y="1143000"/>
            <a:ext cx="7391400" cy="5029200"/>
          </a:xfrm>
        </p:spPr>
        <p:txBody>
          <a:bodyPr/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SELECT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emp_dpt_number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"Department", AVG(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emp_salary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"Average Salary"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WHERE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emp_dpt_number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&lt;&gt; 1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GROUP BY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emp_dpt_number</a:t>
            </a:r>
            <a:endParaRPr lang="en-US" altLang="en-US" sz="2400" b="1" dirty="0">
              <a:solidFill>
                <a:schemeClr val="tx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HAVING AVG(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emp_salary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&gt; 33000;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 </a:t>
            </a:r>
            <a:endParaRPr lang="en-US" altLang="en-US" sz="2400" b="1" dirty="0">
              <a:solidFill>
                <a:schemeClr val="tx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Department Average Salary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---------- --------------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7        $34,000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505A2934-8FFD-8368-98D2-7ACA78CF3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01000" cy="990600"/>
          </a:xfrm>
        </p:spPr>
        <p:txBody>
          <a:bodyPr/>
          <a:lstStyle/>
          <a:p>
            <a:r>
              <a:rPr lang="en-US" altLang="en-US" sz="2800" b="1" u="sng">
                <a:ea typeface="PMingLiU" panose="02020500000000000000" pitchFamily="18" charset="-120"/>
              </a:rPr>
              <a:t>GROUP BY With a HAVING Clause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A46DFFAB-BE17-855B-CF2F-2B81E05DFD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50374" y="1105889"/>
            <a:ext cx="7924800" cy="5029200"/>
          </a:xfrm>
        </p:spPr>
        <p:txBody>
          <a:bodyPr>
            <a:normAutofit/>
          </a:bodyPr>
          <a:lstStyle/>
          <a:p>
            <a:pPr marL="576263" lvl="4" indent="-3175" algn="just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 </a:t>
            </a:r>
          </a:p>
          <a:p>
            <a:pPr marL="576263" lvl="4" indent="-31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1.   The WHERE clause filters rows that do not meet the condition</a:t>
            </a:r>
            <a:br>
              <a:rPr lang="en-US" altLang="en-US" sz="2400" b="1" dirty="0">
                <a:cs typeface="Times New Roman" panose="02020603050405020304" pitchFamily="18" charset="0"/>
              </a:rPr>
            </a:br>
            <a:r>
              <a:rPr lang="en-US" altLang="en-US" sz="2400" b="1" i="1" dirty="0" err="1">
                <a:cs typeface="Times New Roman" panose="02020603050405020304" pitchFamily="18" charset="0"/>
              </a:rPr>
              <a:t>emp_dpt_number</a:t>
            </a:r>
            <a:r>
              <a:rPr lang="en-US" altLang="en-US" sz="2400" b="1" i="1" dirty="0">
                <a:cs typeface="Times New Roman" panose="02020603050405020304" pitchFamily="18" charset="0"/>
              </a:rPr>
              <a:t> &lt;&gt;</a:t>
            </a:r>
            <a:r>
              <a:rPr lang="en-US" altLang="en-US" sz="2400" b="1" dirty="0">
                <a:cs typeface="Times New Roman" panose="02020603050405020304" pitchFamily="18" charset="0"/>
              </a:rPr>
              <a:t> 1.</a:t>
            </a:r>
          </a:p>
          <a:p>
            <a:pPr marL="576263" lvl="4" indent="-31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2.   The GROUP BY clause collects the surviving rows into one or more groups for each unique </a:t>
            </a:r>
            <a:r>
              <a:rPr lang="en-US" altLang="en-US" sz="2400" b="1" i="1" dirty="0" err="1">
                <a:cs typeface="Times New Roman" panose="02020603050405020304" pitchFamily="18" charset="0"/>
              </a:rPr>
              <a:t>emp_dpt_number</a:t>
            </a:r>
            <a:r>
              <a:rPr lang="en-US" altLang="en-US" sz="2400" b="1" dirty="0">
                <a:cs typeface="Times New Roman" panose="02020603050405020304" pitchFamily="18" charset="0"/>
              </a:rPr>
              <a:t>.</a:t>
            </a:r>
          </a:p>
          <a:p>
            <a:pPr marL="576263" lvl="4" indent="-31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3.   The aggregate function calculates the average salary for each </a:t>
            </a:r>
            <a:r>
              <a:rPr lang="en-US" altLang="en-US" sz="2400" b="1" i="1" dirty="0" err="1">
                <a:cs typeface="Times New Roman" panose="02020603050405020304" pitchFamily="18" charset="0"/>
              </a:rPr>
              <a:t>emp_dpt_number</a:t>
            </a:r>
            <a:r>
              <a:rPr lang="en-US" altLang="en-US" sz="2400" b="1" dirty="0">
                <a:cs typeface="Times New Roman" panose="02020603050405020304" pitchFamily="18" charset="0"/>
              </a:rPr>
              <a:t> grouping.</a:t>
            </a:r>
          </a:p>
          <a:p>
            <a:pPr marL="576263" lvl="4" indent="-31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400" b="1" dirty="0">
                <a:cs typeface="Times New Roman" panose="02020603050405020304" pitchFamily="18" charset="0"/>
              </a:rPr>
              <a:t>4.   The HAVING clause filters out the rows from the result table that do not meet the condition average salary greater than $33,000.</a:t>
            </a:r>
          </a:p>
          <a:p>
            <a:pPr marL="576263" lvl="4" indent="-3175" defTabSz="114300">
              <a:lnSpc>
                <a:spcPct val="90000"/>
              </a:lnSpc>
              <a:buFontTx/>
              <a:buNone/>
              <a:tabLst>
                <a:tab pos="0" algn="l"/>
                <a:tab pos="1827213" algn="l"/>
              </a:tabLst>
            </a:pPr>
            <a:endParaRPr lang="en-US" altLang="en-US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11BE39BE-9A01-A466-D45A-ACC473FCD8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8001000" cy="990600"/>
          </a:xfrm>
        </p:spPr>
        <p:txBody>
          <a:bodyPr/>
          <a:lstStyle/>
          <a:p>
            <a:r>
              <a:rPr lang="en-US" altLang="en-US" sz="2800" b="1" u="sng">
                <a:ea typeface="PMingLiU" panose="02020500000000000000" pitchFamily="18" charset="-120"/>
              </a:rPr>
              <a:t>More Examples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2389C263-ED7D-6E8F-817C-CF3160614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0" y="1085417"/>
            <a:ext cx="8686800" cy="5029200"/>
          </a:xfrm>
        </p:spPr>
        <p:txBody>
          <a:bodyPr>
            <a:normAutofit/>
          </a:bodyPr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SELECT 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emp_dpt_number</a:t>
            </a: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"Department",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COUNT(*) "Department Count",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MAX(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emp_salary</a:t>
            </a: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"Top Salary",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MIN(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emp_salary</a:t>
            </a: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"Low Salary"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GROUP BY 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emp_dpt_number</a:t>
            </a:r>
            <a:endParaRPr lang="en-US" altLang="en-US" sz="1600" b="1" dirty="0">
              <a:solidFill>
                <a:schemeClr val="tx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HAVING COUNT(*) &gt;= 3;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1600" b="1" dirty="0">
              <a:solidFill>
                <a:schemeClr val="tx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Department </a:t>
            </a:r>
            <a:r>
              <a:rPr lang="en-US" altLang="en-US" sz="1600" b="1" dirty="0" err="1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Department</a:t>
            </a: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Count Top Salary Low Salary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---------- ---------------- ---------- ----------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3                3    $43,000    $25,000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1600" b="1" dirty="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 7                4    $43,000    $25,000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A8A4C119-AAA1-B859-4232-3567FB86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8001000" cy="990600"/>
          </a:xfrm>
        </p:spPr>
        <p:txBody>
          <a:bodyPr/>
          <a:lstStyle/>
          <a:p>
            <a:r>
              <a:rPr lang="en-US" altLang="en-US" sz="2800" b="1" u="sng">
                <a:ea typeface="PMingLiU" panose="02020500000000000000" pitchFamily="18" charset="-120"/>
              </a:rPr>
              <a:t>GROUP BY With a HAVING Clause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301053A9-D922-05A0-D3CF-EAAC9484B9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5029200"/>
          </a:xfrm>
        </p:spPr>
        <p:txBody>
          <a:bodyPr/>
          <a:lstStyle/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emp_dpt_number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AVG(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FROM employee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HAVING AVG(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emp_salary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 &gt; 33000;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Courier New" panose="02070309020205020404" pitchFamily="49" charset="0"/>
              </a:rPr>
              <a:t> 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ERROR at line 1: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ORA-00937: not a single-group group function</a:t>
            </a:r>
          </a:p>
          <a:p>
            <a:pPr marL="969963" lvl="4" indent="-396875" defTabSz="114300">
              <a:buFontTx/>
              <a:buNone/>
              <a:tabLst>
                <a:tab pos="0" algn="l"/>
                <a:tab pos="1827213" algn="l"/>
              </a:tabLst>
            </a:pPr>
            <a:endParaRPr lang="en-US" altLang="en-US" sz="28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>
            <a:extLst>
              <a:ext uri="{FF2B5EF4-FFF2-40B4-BE49-F238E27FC236}">
                <a16:creationId xmlns:a16="http://schemas.microsoft.com/office/drawing/2014/main" id="{B60371FF-DC83-A5D8-58CB-254F6267C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8001000" cy="990600"/>
          </a:xfrm>
        </p:spPr>
        <p:txBody>
          <a:bodyPr/>
          <a:lstStyle/>
          <a:p>
            <a:r>
              <a:rPr lang="en-US" altLang="en-US" sz="2800" b="1" u="sng" dirty="0">
                <a:ea typeface="PMingLiU" panose="02020500000000000000" pitchFamily="18" charset="-120"/>
              </a:rPr>
              <a:t>ORDER BY Clause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C0584163-6AF1-370C-04A8-A98D8F3A53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143000"/>
            <a:ext cx="7924800" cy="5029200"/>
          </a:xfrm>
        </p:spPr>
        <p:txBody>
          <a:bodyPr>
            <a:normAutofit lnSpcReduction="10000"/>
          </a:bodyPr>
          <a:lstStyle/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ORDER BY clause allows you to specify how rows in a result table are sorted.  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default ordering is from smallest to largest value. 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A GROUP BY clause in a SELECT statement will determine the sort order of rows in a result table.</a:t>
            </a:r>
          </a:p>
          <a:p>
            <a:pPr marL="969963" lvl="4" indent="-396875" defTabSz="114300">
              <a:buFontTx/>
              <a:buChar char="•"/>
              <a:tabLst>
                <a:tab pos="0" algn="l"/>
                <a:tab pos="1827213" algn="l"/>
              </a:tabLst>
            </a:pPr>
            <a:r>
              <a:rPr lang="en-US" altLang="en-US" sz="2800" dirty="0">
                <a:cs typeface="Times New Roman" panose="02020603050405020304" pitchFamily="18" charset="0"/>
              </a:rPr>
              <a:t>The sort order can be changed by specifying an ORDER BY clause after the GROUP BY clause. 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B038B7-7148-EAAF-2957-DE9686352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917833"/>
              </p:ext>
            </p:extLst>
          </p:nvPr>
        </p:nvGraphicFramePr>
        <p:xfrm>
          <a:off x="1485900" y="685800"/>
          <a:ext cx="6896100" cy="430630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98700">
                  <a:extLst>
                    <a:ext uri="{9D8B030D-6E8A-4147-A177-3AD203B41FA5}">
                      <a16:colId xmlns:a16="http://schemas.microsoft.com/office/drawing/2014/main" val="368664804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655136058"/>
                    </a:ext>
                  </a:extLst>
                </a:gridCol>
                <a:gridCol w="2298700">
                  <a:extLst>
                    <a:ext uri="{9D8B030D-6E8A-4147-A177-3AD203B41FA5}">
                      <a16:colId xmlns:a16="http://schemas.microsoft.com/office/drawing/2014/main" val="4228099360"/>
                    </a:ext>
                  </a:extLst>
                </a:gridCol>
              </a:tblGrid>
              <a:tr h="4751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b="1" dirty="0"/>
                        <a:t>Logical Step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b="1"/>
                        <a:t>Clause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800" b="1" dirty="0"/>
                        <a:t>Description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1376490194"/>
                  </a:ext>
                </a:extLst>
              </a:tr>
              <a:tr h="832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FROM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Selects the source table(s)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2741074238"/>
                  </a:ext>
                </a:extLst>
              </a:tr>
              <a:tr h="832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2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WHERE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Filters individual rows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867336796"/>
                  </a:ext>
                </a:extLst>
              </a:tr>
              <a:tr h="832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3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GROUP BY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Groups filtered rows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265569841"/>
                  </a:ext>
                </a:extLst>
              </a:tr>
              <a:tr h="4751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4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HAVING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Filters groups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3664178008"/>
                  </a:ext>
                </a:extLst>
              </a:tr>
              <a:tr h="8322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/>
                        <a:t>ORDER BY</a:t>
                      </a:r>
                    </a:p>
                  </a:txBody>
                  <a:tcPr marL="75565" marR="75565" marT="37782" marB="3778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/>
                        <a:t>Sorts the final results</a:t>
                      </a:r>
                    </a:p>
                  </a:txBody>
                  <a:tcPr marL="75565" marR="75565" marT="37782" marB="37782" anchor="ctr"/>
                </a:tc>
                <a:extLst>
                  <a:ext uri="{0D108BD9-81ED-4DB2-BD59-A6C34878D82A}">
                    <a16:rowId xmlns:a16="http://schemas.microsoft.com/office/drawing/2014/main" val="1557504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8859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657E8-E7E8-A55F-2DB9-F699D35DB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671451"/>
            <a:ext cx="6591985" cy="2800767"/>
          </a:xfr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SELECT column1, column2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table_name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WHERE condition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GROUP BY column1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HAVING condition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ORDER BY column2 ASC | DESC;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13DC8-3B09-7514-D319-0F06A9BBB57C}"/>
              </a:ext>
            </a:extLst>
          </p:cNvPr>
          <p:cNvSpPr txBox="1"/>
          <p:nvPr/>
        </p:nvSpPr>
        <p:spPr>
          <a:xfrm>
            <a:off x="1905000" y="3733800"/>
            <a:ext cx="601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department, salary, name</a:t>
            </a:r>
          </a:p>
          <a:p>
            <a:r>
              <a:rPr lang="en-US" dirty="0"/>
              <a:t>FROM employees</a:t>
            </a:r>
          </a:p>
          <a:p>
            <a:r>
              <a:rPr lang="en-US" dirty="0"/>
              <a:t>ORDER BY department ASC, salary DESC;</a:t>
            </a:r>
          </a:p>
        </p:txBody>
      </p:sp>
    </p:spTree>
    <p:extLst>
      <p:ext uri="{BB962C8B-B14F-4D97-AF65-F5344CB8AC3E}">
        <p14:creationId xmlns:p14="http://schemas.microsoft.com/office/powerpoint/2010/main" val="9425248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8E675A-EA1B-7B98-2F55-2CD6A4DD827D}"/>
              </a:ext>
            </a:extLst>
          </p:cNvPr>
          <p:cNvSpPr txBox="1"/>
          <p:nvPr/>
        </p:nvSpPr>
        <p:spPr>
          <a:xfrm>
            <a:off x="1524000" y="533400"/>
            <a:ext cx="5791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SELECT name</a:t>
            </a:r>
          </a:p>
          <a:p>
            <a:r>
              <a:rPr lang="en-US" sz="2000" b="1" dirty="0"/>
              <a:t>FROM employees</a:t>
            </a:r>
          </a:p>
          <a:p>
            <a:r>
              <a:rPr lang="en-US" sz="2000" b="1" dirty="0"/>
              <a:t>ORDER BY </a:t>
            </a:r>
            <a:r>
              <a:rPr lang="en-US" sz="2000" b="1" dirty="0" err="1"/>
              <a:t>hire_date</a:t>
            </a:r>
            <a:r>
              <a:rPr lang="en-US" sz="2000" b="1" dirty="0"/>
              <a:t> DESC;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52232D-44B1-FD43-98ED-71C281BA991B}"/>
              </a:ext>
            </a:extLst>
          </p:cNvPr>
          <p:cNvSpPr txBox="1"/>
          <p:nvPr/>
        </p:nvSpPr>
        <p:spPr>
          <a:xfrm>
            <a:off x="1676400" y="2136338"/>
            <a:ext cx="716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urier New" panose="02070309020205020404" pitchFamily="49" charset="0"/>
              </a:rPr>
              <a:t>hire_date</a:t>
            </a:r>
            <a:r>
              <a:rPr lang="en-US" sz="2800" dirty="0"/>
              <a:t> is </a:t>
            </a:r>
            <a:r>
              <a:rPr lang="en-US" sz="2800" b="1" dirty="0"/>
              <a:t>not</a:t>
            </a:r>
            <a:r>
              <a:rPr lang="en-US" sz="2800" dirty="0"/>
              <a:t> in </a:t>
            </a:r>
            <a:r>
              <a:rPr lang="en-US" sz="2800" dirty="0">
                <a:latin typeface="Courier New" panose="02070309020205020404" pitchFamily="49" charset="0"/>
              </a:rPr>
              <a:t>SELECT</a:t>
            </a:r>
            <a:r>
              <a:rPr lang="en-US" sz="2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err="1">
                <a:latin typeface="Courier New" panose="02070309020205020404" pitchFamily="49" charset="0"/>
              </a:rPr>
              <a:t>hire_date</a:t>
            </a:r>
            <a:r>
              <a:rPr lang="en-US" sz="2800" dirty="0"/>
              <a:t> is </a:t>
            </a:r>
            <a:r>
              <a:rPr lang="en-US" sz="2800" b="1" dirty="0"/>
              <a:t>not</a:t>
            </a:r>
            <a:r>
              <a:rPr lang="en-US" sz="2800" dirty="0"/>
              <a:t> aggregated or grouped.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SQL still uses it to sort the final result.</a:t>
            </a:r>
          </a:p>
          <a:p>
            <a:pPr>
              <a:buNone/>
            </a:pPr>
            <a:r>
              <a:rPr lang="en-US" sz="2800" b="1" dirty="0"/>
              <a:t>Reason:</a:t>
            </a:r>
            <a:r>
              <a:rPr lang="en-US" sz="2800" dirty="0"/>
              <a:t> Sorting happens after row retrieval; all table columns are still accessible.</a:t>
            </a:r>
          </a:p>
          <a:p>
            <a:pPr>
              <a:buNone/>
            </a:pPr>
            <a:r>
              <a:rPr lang="en-US" sz="2800" b="1" dirty="0"/>
              <a:t>Result:</a:t>
            </a:r>
            <a:r>
              <a:rPr lang="en-US" sz="2800" dirty="0"/>
              <a:t> Employees’ names sorted by their hire date (newest fir</a:t>
            </a:r>
          </a:p>
        </p:txBody>
      </p:sp>
    </p:spTree>
    <p:extLst>
      <p:ext uri="{BB962C8B-B14F-4D97-AF65-F5344CB8AC3E}">
        <p14:creationId xmlns:p14="http://schemas.microsoft.com/office/powerpoint/2010/main" val="1192982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8372BA-AD38-A250-CC35-5BA7F4FB4F00}"/>
              </a:ext>
            </a:extLst>
          </p:cNvPr>
          <p:cNvSpPr txBox="1"/>
          <p:nvPr/>
        </p:nvSpPr>
        <p:spPr>
          <a:xfrm>
            <a:off x="1295400" y="990600"/>
            <a:ext cx="8001000" cy="1702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SELECT department, COUNT(*) AS </a:t>
            </a:r>
            <a:r>
              <a:rPr lang="en-US" dirty="0" err="1"/>
              <a:t>total_employees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FROM employees</a:t>
            </a:r>
          </a:p>
          <a:p>
            <a:pPr>
              <a:lnSpc>
                <a:spcPct val="150000"/>
              </a:lnSpc>
            </a:pPr>
            <a:r>
              <a:rPr lang="en-US" dirty="0"/>
              <a:t>GROUP BY department</a:t>
            </a:r>
          </a:p>
          <a:p>
            <a:pPr>
              <a:lnSpc>
                <a:spcPct val="150000"/>
              </a:lnSpc>
            </a:pPr>
            <a:r>
              <a:rPr lang="en-US" dirty="0"/>
              <a:t>ORDER BY salary DESC;  -- ❌ </a:t>
            </a:r>
            <a:r>
              <a:rPr lang="en-US" b="1" dirty="0"/>
              <a:t>salary not grouped or aggregated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DA0689-D6F6-AE2F-9306-181CE88FF041}"/>
              </a:ext>
            </a:extLst>
          </p:cNvPr>
          <p:cNvSpPr txBox="1"/>
          <p:nvPr/>
        </p:nvSpPr>
        <p:spPr>
          <a:xfrm>
            <a:off x="1981200" y="2971800"/>
            <a:ext cx="6019800" cy="334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/>
              <a:t>This will raise an error in </a:t>
            </a:r>
            <a:r>
              <a:rPr lang="en-US" sz="2400" b="1" dirty="0"/>
              <a:t>standard SQL</a:t>
            </a:r>
            <a:r>
              <a:rPr lang="en-US" sz="2400" dirty="0"/>
              <a:t> (and most DBMSs because: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ourier New" panose="02070309020205020404" pitchFamily="49" charset="0"/>
              </a:rPr>
              <a:t>salary</a:t>
            </a:r>
            <a:r>
              <a:rPr lang="en-US" sz="2400" dirty="0"/>
              <a:t> has multiple values per department,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and SQL doesn’t know which one to use for sorting (min, max, average?).</a:t>
            </a:r>
          </a:p>
        </p:txBody>
      </p:sp>
    </p:spTree>
    <p:extLst>
      <p:ext uri="{BB962C8B-B14F-4D97-AF65-F5344CB8AC3E}">
        <p14:creationId xmlns:p14="http://schemas.microsoft.com/office/powerpoint/2010/main" val="40513157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2DA189-5FA0-B39D-4B67-6F94543AA193}"/>
              </a:ext>
            </a:extLst>
          </p:cNvPr>
          <p:cNvSpPr txBox="1"/>
          <p:nvPr/>
        </p:nvSpPr>
        <p:spPr>
          <a:xfrm>
            <a:off x="1905000" y="9144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ORDER BY department;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4478F4-8B60-41CD-2313-C17B2FB647B2}"/>
              </a:ext>
            </a:extLst>
          </p:cNvPr>
          <p:cNvSpPr txBox="1"/>
          <p:nvPr/>
        </p:nvSpPr>
        <p:spPr>
          <a:xfrm>
            <a:off x="3972467" y="18442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ORDER BY COUNT(*) DESC;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34781-8FAE-7B35-6D71-432ECFD6FDFF}"/>
              </a:ext>
            </a:extLst>
          </p:cNvPr>
          <p:cNvSpPr txBox="1"/>
          <p:nvPr/>
        </p:nvSpPr>
        <p:spPr>
          <a:xfrm>
            <a:off x="1752600" y="3376136"/>
            <a:ext cx="61722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SELECT department, COUNT(*) AS </a:t>
            </a:r>
            <a:r>
              <a:rPr lang="en-US" sz="2400" b="1" dirty="0" err="1"/>
              <a:t>total_employees</a:t>
            </a:r>
            <a:endParaRPr lang="en-US" sz="2400" b="1" dirty="0"/>
          </a:p>
          <a:p>
            <a:r>
              <a:rPr lang="en-US" sz="2400" b="1" dirty="0"/>
              <a:t>FROM employees</a:t>
            </a:r>
          </a:p>
          <a:p>
            <a:r>
              <a:rPr lang="en-US" sz="2400" b="1" dirty="0"/>
              <a:t>GROUP BY department</a:t>
            </a:r>
          </a:p>
          <a:p>
            <a:r>
              <a:rPr lang="en-US" sz="2400" b="1" dirty="0"/>
              <a:t>ORDER BY </a:t>
            </a:r>
            <a:r>
              <a:rPr lang="en-US" sz="2400" b="1" dirty="0" err="1"/>
              <a:t>total_employees</a:t>
            </a:r>
            <a:r>
              <a:rPr lang="en-US" sz="2400" b="1" dirty="0"/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26607412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1814</TotalTime>
  <Words>2590</Words>
  <Application>Microsoft Office PowerPoint</Application>
  <PresentationFormat>On-screen Show (4:3)</PresentationFormat>
  <Paragraphs>363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Times New Roman</vt:lpstr>
      <vt:lpstr>Arial</vt:lpstr>
      <vt:lpstr>Wingdings</vt:lpstr>
      <vt:lpstr>Courier New</vt:lpstr>
      <vt:lpstr>PMingLiU</vt:lpstr>
      <vt:lpstr>Wisp</vt:lpstr>
      <vt:lpstr>Aggregate Row Functions.</vt:lpstr>
      <vt:lpstr>AGGREGATE ROW FUCTIONS</vt:lpstr>
      <vt:lpstr>AGGREGATE ROW FUCTIONS</vt:lpstr>
      <vt:lpstr>AGGREGATE ROW FUCTIONS</vt:lpstr>
      <vt:lpstr>COUNT( )</vt:lpstr>
      <vt:lpstr>AGGREGATE ROW FUCTIONS</vt:lpstr>
      <vt:lpstr>EXAMPLE</vt:lpstr>
      <vt:lpstr>COUNT( )</vt:lpstr>
      <vt:lpstr>COUNT( )</vt:lpstr>
      <vt:lpstr>COUNT( )</vt:lpstr>
      <vt:lpstr>COUNT ( )</vt:lpstr>
      <vt:lpstr>AVG Function </vt:lpstr>
      <vt:lpstr>More Examples</vt:lpstr>
      <vt:lpstr>SUM Function</vt:lpstr>
      <vt:lpstr>More Examples</vt:lpstr>
      <vt:lpstr> MIN and MAX Functions</vt:lpstr>
      <vt:lpstr>Example</vt:lpstr>
      <vt:lpstr>EXAMPLE</vt:lpstr>
      <vt:lpstr>GROUP BY</vt:lpstr>
      <vt:lpstr>GROUP BY Clause</vt:lpstr>
      <vt:lpstr>Example</vt:lpstr>
      <vt:lpstr>Example</vt:lpstr>
      <vt:lpstr>GROUP BY Clause</vt:lpstr>
      <vt:lpstr>Example</vt:lpstr>
      <vt:lpstr>Example</vt:lpstr>
      <vt:lpstr>WHERE Clause</vt:lpstr>
      <vt:lpstr>WHERE Clause</vt:lpstr>
      <vt:lpstr>WHERE Clause</vt:lpstr>
      <vt:lpstr>Combining WHERE with GROUP BY</vt:lpstr>
      <vt:lpstr>PowerPoint Presentation</vt:lpstr>
      <vt:lpstr>GROUP BY With a HAVING Clause</vt:lpstr>
      <vt:lpstr>GROUP BY With a HAVING Clause</vt:lpstr>
      <vt:lpstr>Combining HAVING Clause with Where clause </vt:lpstr>
      <vt:lpstr>GROUP BY With a HAVING Clause</vt:lpstr>
      <vt:lpstr>More Examples</vt:lpstr>
      <vt:lpstr>GROUP BY With a HAVING Clause</vt:lpstr>
      <vt:lpstr>ORDER BY Clause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Academic Computing</dc:creator>
  <cp:lastModifiedBy>Bilal Shatila</cp:lastModifiedBy>
  <cp:revision>223</cp:revision>
  <dcterms:created xsi:type="dcterms:W3CDTF">2001-10-17T20:51:44Z</dcterms:created>
  <dcterms:modified xsi:type="dcterms:W3CDTF">2025-10-19T08:38:45Z</dcterms:modified>
</cp:coreProperties>
</file>