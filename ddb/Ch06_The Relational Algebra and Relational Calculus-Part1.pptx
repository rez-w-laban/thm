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24"/>
  </p:notesMasterIdLst>
  <p:handoutMasterIdLst>
    <p:handoutMasterId r:id="rId25"/>
  </p:handoutMasterIdLst>
  <p:sldIdLst>
    <p:sldId id="282" r:id="rId2"/>
    <p:sldId id="324" r:id="rId3"/>
    <p:sldId id="327" r:id="rId4"/>
    <p:sldId id="329" r:id="rId5"/>
    <p:sldId id="396" r:id="rId6"/>
    <p:sldId id="397" r:id="rId7"/>
    <p:sldId id="395" r:id="rId8"/>
    <p:sldId id="436" r:id="rId9"/>
    <p:sldId id="330" r:id="rId10"/>
    <p:sldId id="437" r:id="rId11"/>
    <p:sldId id="438" r:id="rId12"/>
    <p:sldId id="398" r:id="rId13"/>
    <p:sldId id="429" r:id="rId14"/>
    <p:sldId id="439" r:id="rId15"/>
    <p:sldId id="331" r:id="rId16"/>
    <p:sldId id="333" r:id="rId17"/>
    <p:sldId id="440" r:id="rId18"/>
    <p:sldId id="379" r:id="rId19"/>
    <p:sldId id="334" r:id="rId20"/>
    <p:sldId id="335" r:id="rId21"/>
    <p:sldId id="399" r:id="rId22"/>
    <p:sldId id="401" r:id="rId23"/>
  </p:sldIdLst>
  <p:sldSz cx="9144000" cy="6858000" type="letter"/>
  <p:notesSz cx="6858000" cy="9144000"/>
  <p:defaultTextStyle>
    <a:defPPr>
      <a:defRPr lang="en-CA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77228"/>
    <a:srgbClr val="6E792B"/>
    <a:srgbClr val="76822E"/>
    <a:srgbClr val="4F571F"/>
    <a:srgbClr val="6F6A07"/>
    <a:srgbClr val="827C08"/>
    <a:srgbClr val="FFFF00"/>
    <a:srgbClr val="99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000" autoAdjust="0"/>
    <p:restoredTop sz="94660"/>
  </p:normalViewPr>
  <p:slideViewPr>
    <p:cSldViewPr snapToObjects="1">
      <p:cViewPr varScale="1">
        <p:scale>
          <a:sx n="85" d="100"/>
          <a:sy n="85" d="100"/>
        </p:scale>
        <p:origin x="1194" y="72"/>
      </p:cViewPr>
      <p:guideLst>
        <p:guide orient="horz" pos="19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8851"/>
    </p:cViewPr>
  </p:sorterViewPr>
  <p:notesViewPr>
    <p:cSldViewPr snapToObjects="1">
      <p:cViewPr>
        <p:scale>
          <a:sx n="100" d="100"/>
          <a:sy n="100" d="100"/>
        </p:scale>
        <p:origin x="-780" y="217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E4D9269F-9750-497B-AD96-D883F086C49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Tahoma" pitchFamily="34" charset="0"/>
              </a:defRPr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D3CD46B8-156E-4DD2-888A-43756FC9C6E8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>
                <a:latin typeface="Tahoma" pitchFamily="34" charset="0"/>
              </a:defRPr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60420" name="Rectangle 4">
            <a:extLst>
              <a:ext uri="{FF2B5EF4-FFF2-40B4-BE49-F238E27FC236}">
                <a16:creationId xmlns:a16="http://schemas.microsoft.com/office/drawing/2014/main" id="{04DE0EC8-298E-484C-8285-CCE219335EE3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Tahoma" pitchFamily="34" charset="0"/>
              </a:defRPr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60421" name="Rectangle 5">
            <a:extLst>
              <a:ext uri="{FF2B5EF4-FFF2-40B4-BE49-F238E27FC236}">
                <a16:creationId xmlns:a16="http://schemas.microsoft.com/office/drawing/2014/main" id="{CDF97F75-ABFB-4D1D-A2D6-88BC0B943333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panose="020B0604030504040204" pitchFamily="34" charset="0"/>
              </a:defRPr>
            </a:lvl1pPr>
          </a:lstStyle>
          <a:p>
            <a:fld id="{8F085953-BAF3-4C72-A6F6-6915AB1E7CC5}" type="slidenum">
              <a:rPr lang="en-CA" altLang="en-US"/>
              <a:pPr/>
              <a:t>‹#›</a:t>
            </a:fld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4FD04E48-6264-4456-A384-0322E3B8C52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Tahoma" pitchFamily="34" charset="0"/>
              </a:defRPr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2E2F5BB9-5635-4731-A1CD-37D76F53CBEB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>
                <a:latin typeface="Tahoma" pitchFamily="34" charset="0"/>
              </a:defRPr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77828" name="Rectangle 4">
            <a:extLst>
              <a:ext uri="{FF2B5EF4-FFF2-40B4-BE49-F238E27FC236}">
                <a16:creationId xmlns:a16="http://schemas.microsoft.com/office/drawing/2014/main" id="{A10F0E43-AE07-402B-A430-A7AC802D3B42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1445" name="Rectangle 5">
            <a:extLst>
              <a:ext uri="{FF2B5EF4-FFF2-40B4-BE49-F238E27FC236}">
                <a16:creationId xmlns:a16="http://schemas.microsoft.com/office/drawing/2014/main" id="{75E84622-930F-425D-8515-2480F33F00E2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CA" noProof="0"/>
              <a:t>Click to edit Master text styles</a:t>
            </a:r>
          </a:p>
          <a:p>
            <a:pPr lvl="1"/>
            <a:r>
              <a:rPr lang="en-CA" noProof="0"/>
              <a:t>Second level</a:t>
            </a:r>
          </a:p>
          <a:p>
            <a:pPr lvl="2"/>
            <a:r>
              <a:rPr lang="en-CA" noProof="0"/>
              <a:t>Third level</a:t>
            </a:r>
          </a:p>
          <a:p>
            <a:pPr lvl="3"/>
            <a:r>
              <a:rPr lang="en-CA" noProof="0"/>
              <a:t>Fourth level</a:t>
            </a:r>
          </a:p>
          <a:p>
            <a:pPr lvl="4"/>
            <a:r>
              <a:rPr lang="en-CA" noProof="0"/>
              <a:t>Fifth level</a:t>
            </a:r>
          </a:p>
        </p:txBody>
      </p:sp>
      <p:sp>
        <p:nvSpPr>
          <p:cNvPr id="61446" name="Rectangle 6">
            <a:extLst>
              <a:ext uri="{FF2B5EF4-FFF2-40B4-BE49-F238E27FC236}">
                <a16:creationId xmlns:a16="http://schemas.microsoft.com/office/drawing/2014/main" id="{6A5B32B9-CDD8-48B2-B7EC-E4E179FE2D5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Tahoma" pitchFamily="34" charset="0"/>
              </a:defRPr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61447" name="Rectangle 7">
            <a:extLst>
              <a:ext uri="{FF2B5EF4-FFF2-40B4-BE49-F238E27FC236}">
                <a16:creationId xmlns:a16="http://schemas.microsoft.com/office/drawing/2014/main" id="{414F9324-2DE5-481B-84EA-FA8086479F7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panose="020B0604030504040204" pitchFamily="34" charset="0"/>
              </a:defRPr>
            </a:lvl1pPr>
          </a:lstStyle>
          <a:p>
            <a:fld id="{72E9EF88-0635-4F78-9CD7-64FE7DAE829C}" type="slidenum">
              <a:rPr lang="en-CA" altLang="en-US"/>
              <a:pPr/>
              <a:t>‹#›</a:t>
            </a:fld>
            <a:endParaRPr lang="en-CA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>
            <a:extLst>
              <a:ext uri="{FF2B5EF4-FFF2-40B4-BE49-F238E27FC236}">
                <a16:creationId xmlns:a16="http://schemas.microsoft.com/office/drawing/2014/main" id="{981205CF-5575-435E-999F-8855BC41542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EED7C5A1-2E58-4077-988F-7D486E3637B4}" type="slidenum">
              <a:rPr lang="en-CA" altLang="en-US" sz="1200">
                <a:latin typeface="Tahoma" panose="020B0604030504040204" pitchFamily="34" charset="0"/>
              </a:rPr>
              <a:pPr eaLnBrk="1" hangingPunct="1"/>
              <a:t>1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78851" name="Rectangle 2">
            <a:extLst>
              <a:ext uri="{FF2B5EF4-FFF2-40B4-BE49-F238E27FC236}">
                <a16:creationId xmlns:a16="http://schemas.microsoft.com/office/drawing/2014/main" id="{A8CD1621-09C0-4B39-BC7D-3322E553455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>
            <a:extLst>
              <a:ext uri="{FF2B5EF4-FFF2-40B4-BE49-F238E27FC236}">
                <a16:creationId xmlns:a16="http://schemas.microsoft.com/office/drawing/2014/main" id="{35A21750-1671-4DF4-B097-457474D480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>
            <a:extLst>
              <a:ext uri="{FF2B5EF4-FFF2-40B4-BE49-F238E27FC236}">
                <a16:creationId xmlns:a16="http://schemas.microsoft.com/office/drawing/2014/main" id="{43DD7132-0447-454F-8239-FB336883122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7EEDF52-20AE-471A-938A-C41E37FC65BD}" type="slidenum">
              <a:rPr lang="en-CA" altLang="en-US" sz="1200">
                <a:latin typeface="Tahoma" panose="020B0604030504040204" pitchFamily="34" charset="0"/>
              </a:rPr>
              <a:pPr eaLnBrk="1" hangingPunct="1"/>
              <a:t>2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79875" name="Rectangle 2">
            <a:extLst>
              <a:ext uri="{FF2B5EF4-FFF2-40B4-BE49-F238E27FC236}">
                <a16:creationId xmlns:a16="http://schemas.microsoft.com/office/drawing/2014/main" id="{BF9038E4-78DE-436B-8EA3-B04922A093B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>
            <a:extLst>
              <a:ext uri="{FF2B5EF4-FFF2-40B4-BE49-F238E27FC236}">
                <a16:creationId xmlns:a16="http://schemas.microsoft.com/office/drawing/2014/main" id="{7E7D9A64-9F79-41A5-81B1-35625325D9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>
            <a:extLst>
              <a:ext uri="{FF2B5EF4-FFF2-40B4-BE49-F238E27FC236}">
                <a16:creationId xmlns:a16="http://schemas.microsoft.com/office/drawing/2014/main" id="{785677E3-B692-4F01-8DD3-DBF6E30A9D4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9184BB2-9861-4C2B-8E98-521BB68E4B83}" type="slidenum">
              <a:rPr lang="en-CA" altLang="en-US" sz="1200">
                <a:latin typeface="Tahoma" panose="020B0604030504040204" pitchFamily="34" charset="0"/>
              </a:rPr>
              <a:pPr eaLnBrk="1" hangingPunct="1"/>
              <a:t>3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80899" name="Rectangle 2">
            <a:extLst>
              <a:ext uri="{FF2B5EF4-FFF2-40B4-BE49-F238E27FC236}">
                <a16:creationId xmlns:a16="http://schemas.microsoft.com/office/drawing/2014/main" id="{A09CD90A-4A03-4975-B1FE-D98A3E9264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>
            <a:extLst>
              <a:ext uri="{FF2B5EF4-FFF2-40B4-BE49-F238E27FC236}">
                <a16:creationId xmlns:a16="http://schemas.microsoft.com/office/drawing/2014/main" id="{00E476AE-B137-408F-9EF1-630D664DF1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>
            <a:extLst>
              <a:ext uri="{FF2B5EF4-FFF2-40B4-BE49-F238E27FC236}">
                <a16:creationId xmlns:a16="http://schemas.microsoft.com/office/drawing/2014/main" id="{DAB92056-3F80-4CE4-9401-BC3C73CED5B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9BBBD5C-2A92-45ED-B928-1FD04B71B6F3}" type="slidenum">
              <a:rPr lang="en-CA" altLang="en-US" sz="1200">
                <a:latin typeface="Tahoma" panose="020B0604030504040204" pitchFamily="34" charset="0"/>
              </a:rPr>
              <a:pPr eaLnBrk="1" hangingPunct="1"/>
              <a:t>4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81923" name="Rectangle 2">
            <a:extLst>
              <a:ext uri="{FF2B5EF4-FFF2-40B4-BE49-F238E27FC236}">
                <a16:creationId xmlns:a16="http://schemas.microsoft.com/office/drawing/2014/main" id="{A19F61A6-8C85-4664-A5E7-8279FBA4564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>
            <a:extLst>
              <a:ext uri="{FF2B5EF4-FFF2-40B4-BE49-F238E27FC236}">
                <a16:creationId xmlns:a16="http://schemas.microsoft.com/office/drawing/2014/main" id="{06D3E0D0-7FE3-4A46-ADD4-182343CE12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>
            <a:extLst>
              <a:ext uri="{FF2B5EF4-FFF2-40B4-BE49-F238E27FC236}">
                <a16:creationId xmlns:a16="http://schemas.microsoft.com/office/drawing/2014/main" id="{71F0EC36-1E08-4C5E-933F-B2DC536F686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B372575-69F4-440D-9563-B2208E06DC76}" type="slidenum">
              <a:rPr lang="en-CA" altLang="en-US" sz="1200">
                <a:latin typeface="Tahoma" panose="020B0604030504040204" pitchFamily="34" charset="0"/>
              </a:rPr>
              <a:pPr eaLnBrk="1" hangingPunct="1"/>
              <a:t>5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82947" name="Rectangle 2">
            <a:extLst>
              <a:ext uri="{FF2B5EF4-FFF2-40B4-BE49-F238E27FC236}">
                <a16:creationId xmlns:a16="http://schemas.microsoft.com/office/drawing/2014/main" id="{ED4D5728-2A52-4FF3-B122-86586159A60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>
            <a:extLst>
              <a:ext uri="{FF2B5EF4-FFF2-40B4-BE49-F238E27FC236}">
                <a16:creationId xmlns:a16="http://schemas.microsoft.com/office/drawing/2014/main" id="{BEE91708-E68E-4DD1-9FF1-8D9B48ECDD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>
            <a:extLst>
              <a:ext uri="{FF2B5EF4-FFF2-40B4-BE49-F238E27FC236}">
                <a16:creationId xmlns:a16="http://schemas.microsoft.com/office/drawing/2014/main" id="{84993D6A-2144-471D-A10E-CFA7D50D811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E0E51DEE-FF4F-45B2-BFC5-A865FDDBEE8F}" type="slidenum">
              <a:rPr lang="en-CA" altLang="en-US" sz="1200">
                <a:latin typeface="Tahoma" panose="020B0604030504040204" pitchFamily="34" charset="0"/>
              </a:rPr>
              <a:pPr eaLnBrk="1" hangingPunct="1"/>
              <a:t>6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83971" name="Rectangle 2">
            <a:extLst>
              <a:ext uri="{FF2B5EF4-FFF2-40B4-BE49-F238E27FC236}">
                <a16:creationId xmlns:a16="http://schemas.microsoft.com/office/drawing/2014/main" id="{B8A206EC-37E4-4F92-89B3-9903E94B89D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>
            <a:extLst>
              <a:ext uri="{FF2B5EF4-FFF2-40B4-BE49-F238E27FC236}">
                <a16:creationId xmlns:a16="http://schemas.microsoft.com/office/drawing/2014/main" id="{6AA36442-B60D-45DC-9542-3E89EC8303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>
            <a:extLst>
              <a:ext uri="{FF2B5EF4-FFF2-40B4-BE49-F238E27FC236}">
                <a16:creationId xmlns:a16="http://schemas.microsoft.com/office/drawing/2014/main" id="{DFFBD7C8-A205-4D24-94D3-4324E6D75D5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545EAC4-A5A7-41BA-BFA4-8A000C60A041}" type="slidenum">
              <a:rPr lang="en-CA" altLang="en-US" sz="1200">
                <a:latin typeface="Tahoma" panose="020B0604030504040204" pitchFamily="34" charset="0"/>
              </a:rPr>
              <a:pPr eaLnBrk="1" hangingPunct="1"/>
              <a:t>7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84995" name="Rectangle 2">
            <a:extLst>
              <a:ext uri="{FF2B5EF4-FFF2-40B4-BE49-F238E27FC236}">
                <a16:creationId xmlns:a16="http://schemas.microsoft.com/office/drawing/2014/main" id="{BF7A542A-15D1-4D84-AFE8-21E68558129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>
            <a:extLst>
              <a:ext uri="{FF2B5EF4-FFF2-40B4-BE49-F238E27FC236}">
                <a16:creationId xmlns:a16="http://schemas.microsoft.com/office/drawing/2014/main" id="{2E12447D-8446-4195-BD3B-A72211964B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>
            <a:extLst>
              <a:ext uri="{FF2B5EF4-FFF2-40B4-BE49-F238E27FC236}">
                <a16:creationId xmlns:a16="http://schemas.microsoft.com/office/drawing/2014/main" id="{8A862761-C9A5-44BC-9E1B-ED10DC3DC44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118F06E-3365-4CE9-9631-D97C8B6A5A5A}" type="slidenum">
              <a:rPr lang="en-CA" altLang="en-US" sz="1200">
                <a:latin typeface="Tahoma" panose="020B0604030504040204" pitchFamily="34" charset="0"/>
              </a:rPr>
              <a:pPr eaLnBrk="1" hangingPunct="1"/>
              <a:t>9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86019" name="Rectangle 2">
            <a:extLst>
              <a:ext uri="{FF2B5EF4-FFF2-40B4-BE49-F238E27FC236}">
                <a16:creationId xmlns:a16="http://schemas.microsoft.com/office/drawing/2014/main" id="{6359D04F-FDA0-4E17-9047-4F2736BA713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>
            <a:extLst>
              <a:ext uri="{FF2B5EF4-FFF2-40B4-BE49-F238E27FC236}">
                <a16:creationId xmlns:a16="http://schemas.microsoft.com/office/drawing/2014/main" id="{ED83FF9E-A03F-46AC-B9E7-87E62EA60C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>
            <a:extLst>
              <a:ext uri="{FF2B5EF4-FFF2-40B4-BE49-F238E27FC236}">
                <a16:creationId xmlns:a16="http://schemas.microsoft.com/office/drawing/2014/main" id="{AF6F9C69-8479-4AA1-8E69-B7DAC4FCCE5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CBA5BD2-7574-4B41-BE2D-C9E7D3F70518}" type="slidenum">
              <a:rPr lang="en-CA" altLang="en-US" sz="1200">
                <a:latin typeface="Tahoma" panose="020B0604030504040204" pitchFamily="34" charset="0"/>
              </a:rPr>
              <a:pPr eaLnBrk="1" hangingPunct="1"/>
              <a:t>12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87043" name="Rectangle 2">
            <a:extLst>
              <a:ext uri="{FF2B5EF4-FFF2-40B4-BE49-F238E27FC236}">
                <a16:creationId xmlns:a16="http://schemas.microsoft.com/office/drawing/2014/main" id="{615D4D76-DBDC-498E-9C4D-EA4BCFF7DA1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>
            <a:extLst>
              <a:ext uri="{FF2B5EF4-FFF2-40B4-BE49-F238E27FC236}">
                <a16:creationId xmlns:a16="http://schemas.microsoft.com/office/drawing/2014/main" id="{733DEEB9-7D1D-46DE-B91A-F27B993714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>
            <a:extLst>
              <a:ext uri="{FF2B5EF4-FFF2-40B4-BE49-F238E27FC236}">
                <a16:creationId xmlns:a16="http://schemas.microsoft.com/office/drawing/2014/main" id="{33F4D2EF-187F-40D7-A10C-18E60F33D93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EBFD022-1C2E-438C-BE4C-CA308EE75E7F}" type="slidenum">
              <a:rPr lang="en-CA" altLang="en-US" sz="1200">
                <a:latin typeface="Tahoma" panose="020B0604030504040204" pitchFamily="34" charset="0"/>
              </a:rPr>
              <a:pPr eaLnBrk="1" hangingPunct="1"/>
              <a:t>15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88067" name="Rectangle 2">
            <a:extLst>
              <a:ext uri="{FF2B5EF4-FFF2-40B4-BE49-F238E27FC236}">
                <a16:creationId xmlns:a16="http://schemas.microsoft.com/office/drawing/2014/main" id="{CF68EE18-587B-493E-8A13-CD87A6C0364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8" name="Rectangle 3">
            <a:extLst>
              <a:ext uri="{FF2B5EF4-FFF2-40B4-BE49-F238E27FC236}">
                <a16:creationId xmlns:a16="http://schemas.microsoft.com/office/drawing/2014/main" id="{D41473AA-4C3C-4471-84BB-2DA3D77892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>
            <a:extLst>
              <a:ext uri="{FF2B5EF4-FFF2-40B4-BE49-F238E27FC236}">
                <a16:creationId xmlns:a16="http://schemas.microsoft.com/office/drawing/2014/main" id="{391FE52D-9DD6-49AC-8E1E-DCAA748CD96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38283B6-5FD0-414A-8EB2-77443EC3AC54}" type="slidenum">
              <a:rPr lang="en-CA" altLang="en-US" sz="1200">
                <a:latin typeface="Tahoma" panose="020B0604030504040204" pitchFamily="34" charset="0"/>
              </a:rPr>
              <a:pPr eaLnBrk="1" hangingPunct="1"/>
              <a:t>16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90115" name="Rectangle 2">
            <a:extLst>
              <a:ext uri="{FF2B5EF4-FFF2-40B4-BE49-F238E27FC236}">
                <a16:creationId xmlns:a16="http://schemas.microsoft.com/office/drawing/2014/main" id="{C5DB4BB6-98B6-4C30-95F0-E68225D79D2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>
            <a:extLst>
              <a:ext uri="{FF2B5EF4-FFF2-40B4-BE49-F238E27FC236}">
                <a16:creationId xmlns:a16="http://schemas.microsoft.com/office/drawing/2014/main" id="{1037294D-5280-4DB4-B560-4C698B83AA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>
            <a:extLst>
              <a:ext uri="{FF2B5EF4-FFF2-40B4-BE49-F238E27FC236}">
                <a16:creationId xmlns:a16="http://schemas.microsoft.com/office/drawing/2014/main" id="{59A9C791-EB15-4E4F-B2E8-C614BB159F4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7ED5A7C-9B7B-4592-B96A-272B40EC6B0D}" type="slidenum">
              <a:rPr lang="en-CA" altLang="en-US" sz="1200">
                <a:latin typeface="Tahoma" panose="020B0604030504040204" pitchFamily="34" charset="0"/>
              </a:rPr>
              <a:pPr eaLnBrk="1" hangingPunct="1"/>
              <a:t>18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91139" name="Rectangle 2">
            <a:extLst>
              <a:ext uri="{FF2B5EF4-FFF2-40B4-BE49-F238E27FC236}">
                <a16:creationId xmlns:a16="http://schemas.microsoft.com/office/drawing/2014/main" id="{E9960F05-02C3-4AA6-8709-4A59307CDC6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>
            <a:extLst>
              <a:ext uri="{FF2B5EF4-FFF2-40B4-BE49-F238E27FC236}">
                <a16:creationId xmlns:a16="http://schemas.microsoft.com/office/drawing/2014/main" id="{9466750B-1191-40B4-9555-C832380839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>
            <a:extLst>
              <a:ext uri="{FF2B5EF4-FFF2-40B4-BE49-F238E27FC236}">
                <a16:creationId xmlns:a16="http://schemas.microsoft.com/office/drawing/2014/main" id="{2DA9F14E-1CDB-44A3-8E40-695CA072434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C9442C4-1720-49AC-B730-3A25542377FD}" type="slidenum">
              <a:rPr lang="en-CA" altLang="en-US" sz="1200">
                <a:latin typeface="Tahoma" panose="020B0604030504040204" pitchFamily="34" charset="0"/>
              </a:rPr>
              <a:pPr eaLnBrk="1" hangingPunct="1"/>
              <a:t>19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92163" name="Rectangle 2">
            <a:extLst>
              <a:ext uri="{FF2B5EF4-FFF2-40B4-BE49-F238E27FC236}">
                <a16:creationId xmlns:a16="http://schemas.microsoft.com/office/drawing/2014/main" id="{58AB3FCC-8C22-46F7-A591-00A82E38A99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>
            <a:extLst>
              <a:ext uri="{FF2B5EF4-FFF2-40B4-BE49-F238E27FC236}">
                <a16:creationId xmlns:a16="http://schemas.microsoft.com/office/drawing/2014/main" id="{2B19F53C-AB5A-4A45-9849-0232940B59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61E2A1A1-753A-4B9B-840E-2809AD267AD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199357B-9E36-46DD-A9A9-9136EC2E4AE6}" type="slidenum">
              <a:rPr lang="en-CA" altLang="en-US" sz="1200">
                <a:latin typeface="Tahoma" panose="020B0604030504040204" pitchFamily="34" charset="0"/>
              </a:rPr>
              <a:pPr eaLnBrk="1" hangingPunct="1"/>
              <a:t>20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A658AFFE-B4FF-4FC2-9DA6-BC3CD86BB6A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8AC7056F-DBE9-45BD-885C-16D8639F54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>
            <a:extLst>
              <a:ext uri="{FF2B5EF4-FFF2-40B4-BE49-F238E27FC236}">
                <a16:creationId xmlns:a16="http://schemas.microsoft.com/office/drawing/2014/main" id="{DBD627D1-B859-41CF-849C-B6C3DCEFDC0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6470D28-5290-4ACC-BAA2-5FFE84FE9662}" type="slidenum">
              <a:rPr lang="en-CA" altLang="en-US" sz="1200">
                <a:latin typeface="Tahoma" panose="020B0604030504040204" pitchFamily="34" charset="0"/>
              </a:rPr>
              <a:pPr eaLnBrk="1" hangingPunct="1"/>
              <a:t>21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94211" name="Rectangle 2">
            <a:extLst>
              <a:ext uri="{FF2B5EF4-FFF2-40B4-BE49-F238E27FC236}">
                <a16:creationId xmlns:a16="http://schemas.microsoft.com/office/drawing/2014/main" id="{D9CFE9AC-FA04-41A0-8ECA-891A601BAFB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>
            <a:extLst>
              <a:ext uri="{FF2B5EF4-FFF2-40B4-BE49-F238E27FC236}">
                <a16:creationId xmlns:a16="http://schemas.microsoft.com/office/drawing/2014/main" id="{849F5E8A-74A8-47BE-9546-2B58ED5EE5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>
            <a:extLst>
              <a:ext uri="{FF2B5EF4-FFF2-40B4-BE49-F238E27FC236}">
                <a16:creationId xmlns:a16="http://schemas.microsoft.com/office/drawing/2014/main" id="{FD9A1041-3299-43DA-9DAA-EC4ED503893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E5C7B1A9-D85A-4F60-A77E-AF75488BFF69}" type="slidenum">
              <a:rPr lang="en-CA" altLang="en-US" sz="1200">
                <a:latin typeface="Tahoma" panose="020B0604030504040204" pitchFamily="34" charset="0"/>
              </a:rPr>
              <a:pPr eaLnBrk="1" hangingPunct="1"/>
              <a:t>22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95235" name="Rectangle 2">
            <a:extLst>
              <a:ext uri="{FF2B5EF4-FFF2-40B4-BE49-F238E27FC236}">
                <a16:creationId xmlns:a16="http://schemas.microsoft.com/office/drawing/2014/main" id="{950735A3-A80E-4AB2-919B-90EBB171B76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>
            <a:extLst>
              <a:ext uri="{FF2B5EF4-FFF2-40B4-BE49-F238E27FC236}">
                <a16:creationId xmlns:a16="http://schemas.microsoft.com/office/drawing/2014/main" id="{0DC92902-B198-43FD-98F6-30090E8FF1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4">
            <a:extLst>
              <a:ext uri="{FF2B5EF4-FFF2-40B4-BE49-F238E27FC236}">
                <a16:creationId xmlns:a16="http://schemas.microsoft.com/office/drawing/2014/main" id="{75692D9B-53C5-40FB-A2FE-2BBF41A900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05800" y="0"/>
            <a:ext cx="609600" cy="6858000"/>
          </a:xfrm>
          <a:prstGeom prst="rect">
            <a:avLst/>
          </a:prstGeom>
          <a:gradFill rotWithShape="1">
            <a:gsLst>
              <a:gs pos="0">
                <a:srgbClr val="677228">
                  <a:alpha val="43999"/>
                </a:srgbClr>
              </a:gs>
              <a:gs pos="100000">
                <a:srgbClr val="5A6423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" name="Rectangle 47">
            <a:extLst>
              <a:ext uri="{FF2B5EF4-FFF2-40B4-BE49-F238E27FC236}">
                <a16:creationId xmlns:a16="http://schemas.microsoft.com/office/drawing/2014/main" id="{57D5F7C4-0F0A-4B33-BB36-D892D81E323E}"/>
              </a:ext>
            </a:extLst>
          </p:cNvPr>
          <p:cNvSpPr>
            <a:spLocks noChangeArrowheads="1"/>
          </p:cNvSpPr>
          <p:nvPr userDrawn="1"/>
        </p:nvSpPr>
        <p:spPr bwMode="auto">
          <a:xfrm rot="16200000">
            <a:off x="3500437" y="-985837"/>
            <a:ext cx="2143125" cy="9144000"/>
          </a:xfrm>
          <a:prstGeom prst="rect">
            <a:avLst/>
          </a:prstGeom>
          <a:solidFill>
            <a:srgbClr val="677228">
              <a:alpha val="43921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6" name="Rectangle 48">
            <a:extLst>
              <a:ext uri="{FF2B5EF4-FFF2-40B4-BE49-F238E27FC236}">
                <a16:creationId xmlns:a16="http://schemas.microsoft.com/office/drawing/2014/main" id="{F62521B8-08E4-40AD-95E8-D30D89B9DBB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315200" y="2438400"/>
            <a:ext cx="1828800" cy="22907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pic>
        <p:nvPicPr>
          <p:cNvPr id="7" name="Picture 35" descr="awtri_4c UPDATE_color">
            <a:extLst>
              <a:ext uri="{FF2B5EF4-FFF2-40B4-BE49-F238E27FC236}">
                <a16:creationId xmlns:a16="http://schemas.microsoft.com/office/drawing/2014/main" id="{9177D811-B09E-41FB-BB88-E1D498B47C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5949950"/>
            <a:ext cx="684213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46" descr="elmasri_thumb">
            <a:extLst>
              <a:ext uri="{FF2B5EF4-FFF2-40B4-BE49-F238E27FC236}">
                <a16:creationId xmlns:a16="http://schemas.microsoft.com/office/drawing/2014/main" id="{5BB13B45-84F3-4D7D-A14D-C0F187D8EB0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9975" y="2514600"/>
            <a:ext cx="1724025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26" name="Rectangle 30" descr="Pink tissue paper"/>
          <p:cNvSpPr>
            <a:spLocks noGrp="1" noChangeArrowheads="1"/>
          </p:cNvSpPr>
          <p:nvPr>
            <p:ph type="ctrTitle" sz="quarter"/>
          </p:nvPr>
        </p:nvSpPr>
        <p:spPr>
          <a:xfrm>
            <a:off x="228600" y="152400"/>
            <a:ext cx="7086600" cy="2286000"/>
          </a:xfrm>
          <a:extLst>
            <a:ext uri="{909E8E84-426E-40DD-AFC4-6F175D3DCCD1}">
              <a14:hiddenFill xmlns:a14="http://schemas.microsoft.com/office/drawing/2010/main">
                <a:blipFill dpi="0" rotWithShape="0">
                  <a:blip r:embed="rId4"/>
                  <a:srcRect/>
                  <a:tile tx="0" ty="0" sx="100000" sy="100000" flip="none" algn="tl"/>
                </a:blipFill>
              </a14:hiddenFill>
            </a:ext>
          </a:extLst>
        </p:spPr>
        <p:txBody>
          <a:bodyPr wrap="none" anchor="ctr"/>
          <a:lstStyle>
            <a:lvl1pPr>
              <a:defRPr sz="6600">
                <a:solidFill>
                  <a:srgbClr val="990033"/>
                </a:solidFill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4134" name="Rectangle 38" descr="Pink tissue paper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304800" y="2590800"/>
            <a:ext cx="6629400" cy="1905000"/>
          </a:xfrm>
          <a:extLst>
            <a:ext uri="{909E8E84-426E-40DD-AFC4-6F175D3DCCD1}">
              <a14:hiddenFill xmlns:a14="http://schemas.microsoft.com/office/drawing/2010/main">
                <a:blipFill dpi="0" rotWithShape="0">
                  <a:blip r:embed="rId4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0" indent="0">
              <a:buFont typeface="Wingdings" pitchFamily="2" charset="2"/>
              <a:buNone/>
              <a:defRPr sz="3200"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9" name="Rectangle 29">
            <a:extLst>
              <a:ext uri="{FF2B5EF4-FFF2-40B4-BE49-F238E27FC236}">
                <a16:creationId xmlns:a16="http://schemas.microsoft.com/office/drawing/2014/main" id="{73E27DE3-1028-4B3C-95A7-2C17E2470C3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 bwMode="auto">
          <a:xfrm>
            <a:off x="838200" y="6397625"/>
            <a:ext cx="44958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900" smtClean="0">
                <a:latin typeface="Arial" charset="0"/>
              </a:defRPr>
            </a:lvl1pPr>
          </a:lstStyle>
          <a:p>
            <a:pPr>
              <a:defRPr/>
            </a:pPr>
            <a:r>
              <a:rPr lang="en-US"/>
              <a:t>Copyright © 2007 </a:t>
            </a:r>
            <a:r>
              <a:rPr lang="en-US">
                <a:solidFill>
                  <a:srgbClr val="000000"/>
                </a:solidFill>
              </a:rPr>
              <a:t>Ramez Elmasri and Shamkant B. Navathe</a:t>
            </a:r>
          </a:p>
        </p:txBody>
      </p:sp>
    </p:spTree>
    <p:extLst>
      <p:ext uri="{BB962C8B-B14F-4D97-AF65-F5344CB8AC3E}">
        <p14:creationId xmlns:p14="http://schemas.microsoft.com/office/powerpoint/2010/main" val="1117510554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4A6C1DA6-A383-4940-84B9-2B662AB87E2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Slide 6- </a:t>
            </a:r>
            <a:fld id="{FEB8EDCB-4292-4ED5-8B00-20E21538EECC}" type="slidenum">
              <a:rPr lang="en-US" altLang="en-US"/>
              <a:pPr/>
              <a:t>‹#›</a:t>
            </a:fld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1782826578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C7C4D88B-37FF-4347-9101-723BC8630D3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Slide 6- </a:t>
            </a:r>
            <a:fld id="{7729CF4D-6E68-4F31-BC8A-F58E58D246BD}" type="slidenum">
              <a:rPr lang="en-US" altLang="en-US"/>
              <a:pPr/>
              <a:t>‹#›</a:t>
            </a:fld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3431068489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39713" y="1600200"/>
            <a:ext cx="407035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62463" y="1600200"/>
            <a:ext cx="4071937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164DF53D-B7E5-4667-9249-E55AB36A272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Slide 6- </a:t>
            </a:r>
            <a:fld id="{A309E4A8-FB48-4162-9F44-0EE2648A4F5C}" type="slidenum">
              <a:rPr lang="en-US" altLang="en-US"/>
              <a:pPr/>
              <a:t>‹#›</a:t>
            </a:fld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4184407057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54D6F0FA-13AF-4CF1-921B-B8C193E87A3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Slide 6- </a:t>
            </a:r>
            <a:fld id="{0878602E-D07E-4895-BDE8-65319342C7F0}" type="slidenum">
              <a:rPr lang="en-US" altLang="en-US"/>
              <a:pPr/>
              <a:t>‹#›</a:t>
            </a:fld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2280710160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3">
            <a:extLst>
              <a:ext uri="{FF2B5EF4-FFF2-40B4-BE49-F238E27FC236}">
                <a16:creationId xmlns:a16="http://schemas.microsoft.com/office/drawing/2014/main" id="{99CB381D-925B-4AFD-BF16-4281C640E76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Slide 6- </a:t>
            </a:r>
            <a:fld id="{5DEE1029-C792-46AE-93D4-EE57F9B1EC31}" type="slidenum">
              <a:rPr lang="en-US" altLang="en-US"/>
              <a:pPr/>
              <a:t>‹#›</a:t>
            </a:fld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3023606556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3">
            <a:extLst>
              <a:ext uri="{FF2B5EF4-FFF2-40B4-BE49-F238E27FC236}">
                <a16:creationId xmlns:a16="http://schemas.microsoft.com/office/drawing/2014/main" id="{79A9CB21-84DA-49C3-86EC-F2AE5A63227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Slide 6- </a:t>
            </a:r>
            <a:fld id="{D47AF73B-E90B-49A2-9332-63DB46FE0909}" type="slidenum">
              <a:rPr lang="en-US" altLang="en-US"/>
              <a:pPr/>
              <a:t>‹#›</a:t>
            </a:fld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1977006168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67281897-CB46-4985-B95E-2CB9CC766B4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Slide 6- </a:t>
            </a:r>
            <a:fld id="{7DB3E006-A249-424E-9188-458D6B63E777}" type="slidenum">
              <a:rPr lang="en-US" altLang="en-US"/>
              <a:pPr/>
              <a:t>‹#›</a:t>
            </a:fld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1214534028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4C3AB8C3-CCE3-4581-95E2-FB6CCEB902D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Slide 6- </a:t>
            </a:r>
            <a:fld id="{52FF7977-D71F-434C-9775-433A3716570F}" type="slidenum">
              <a:rPr lang="en-US" altLang="en-US"/>
              <a:pPr/>
              <a:t>‹#›</a:t>
            </a:fld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2596608272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1D520232-D0B3-4311-81F4-58AF4BB9A9F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Slide 6- </a:t>
            </a:r>
            <a:fld id="{FBC61856-8FE2-4746-B619-2E65D993AF99}" type="slidenum">
              <a:rPr lang="en-US" altLang="en-US"/>
              <a:pPr/>
              <a:t>‹#›</a:t>
            </a:fld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975920886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57950" y="303213"/>
            <a:ext cx="2076450" cy="58689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303213"/>
            <a:ext cx="6076950" cy="58689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977C781D-6482-4562-A2FD-12B0C1D53D9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Slide 6- </a:t>
            </a:r>
            <a:fld id="{BBD342A5-4818-49BA-855E-605A9F837D8C}" type="slidenum">
              <a:rPr lang="en-US" altLang="en-US"/>
              <a:pPr/>
              <a:t>‹#›</a:t>
            </a:fld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1022902630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45">
            <a:extLst>
              <a:ext uri="{FF2B5EF4-FFF2-40B4-BE49-F238E27FC236}">
                <a16:creationId xmlns:a16="http://schemas.microsoft.com/office/drawing/2014/main" id="{8829E06D-06CD-4663-8906-1BE0DD5212CF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8936038" y="1449388"/>
            <a:ext cx="207962" cy="5408612"/>
            <a:chOff x="5606" y="889"/>
            <a:chExt cx="154" cy="3431"/>
          </a:xfrm>
        </p:grpSpPr>
        <p:sp>
          <p:nvSpPr>
            <p:cNvPr id="1032" name="Rectangle 38">
              <a:extLst>
                <a:ext uri="{FF2B5EF4-FFF2-40B4-BE49-F238E27FC236}">
                  <a16:creationId xmlns:a16="http://schemas.microsoft.com/office/drawing/2014/main" id="{95149182-72C2-4604-8C12-A9606297DB0C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 flipH="1">
              <a:off x="5685" y="889"/>
              <a:ext cx="75" cy="3431"/>
            </a:xfrm>
            <a:prstGeom prst="rect">
              <a:avLst/>
            </a:prstGeom>
            <a:solidFill>
              <a:srgbClr val="67722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FF99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kumimoji="1" lang="en-US" altLang="en-US" sz="3200">
                <a:latin typeface="Tahoma" panose="020B0604030504040204" pitchFamily="34" charset="0"/>
              </a:endParaRPr>
            </a:p>
          </p:txBody>
        </p:sp>
        <p:grpSp>
          <p:nvGrpSpPr>
            <p:cNvPr id="1033" name="Group 44">
              <a:extLst>
                <a:ext uri="{FF2B5EF4-FFF2-40B4-BE49-F238E27FC236}">
                  <a16:creationId xmlns:a16="http://schemas.microsoft.com/office/drawing/2014/main" id="{B153DCF6-2BD3-4B25-8EB4-C47A1B5CF5BF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5606" y="889"/>
              <a:ext cx="106" cy="3431"/>
              <a:chOff x="5606" y="889"/>
              <a:chExt cx="106" cy="3431"/>
            </a:xfrm>
          </p:grpSpPr>
          <p:sp>
            <p:nvSpPr>
              <p:cNvPr id="1034" name="Rectangle 43">
                <a:extLst>
                  <a:ext uri="{FF2B5EF4-FFF2-40B4-BE49-F238E27FC236}">
                    <a16:creationId xmlns:a16="http://schemas.microsoft.com/office/drawing/2014/main" id="{2B4D643C-E049-45F9-8B7E-8D0338F580F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gray">
              <a:xfrm rot="10800000" flipH="1">
                <a:off x="5606" y="889"/>
                <a:ext cx="58" cy="3431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FF9966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10800000"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endParaRPr kumimoji="1" lang="en-US" altLang="en-US" sz="3200">
                  <a:latin typeface="Tahoma" panose="020B0604030504040204" pitchFamily="34" charset="0"/>
                </a:endParaRPr>
              </a:p>
            </p:txBody>
          </p:sp>
          <p:sp>
            <p:nvSpPr>
              <p:cNvPr id="1035" name="Rectangle 32">
                <a:extLst>
                  <a:ext uri="{FF2B5EF4-FFF2-40B4-BE49-F238E27FC236}">
                    <a16:creationId xmlns:a16="http://schemas.microsoft.com/office/drawing/2014/main" id="{CCDEB8AE-0BF1-48D1-941E-8A1F438871D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gray">
              <a:xfrm rot="10800000" flipH="1">
                <a:off x="5654" y="889"/>
                <a:ext cx="58" cy="3431"/>
              </a:xfrm>
              <a:prstGeom prst="rect">
                <a:avLst/>
              </a:prstGeom>
              <a:solidFill>
                <a:srgbClr val="9900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FF9966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10800000"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endParaRPr kumimoji="1" lang="en-US" altLang="en-US" sz="3200">
                  <a:latin typeface="Tahoma" panose="020B0604030504040204" pitchFamily="34" charset="0"/>
                </a:endParaRPr>
              </a:p>
            </p:txBody>
          </p:sp>
        </p:grpSp>
      </p:grpSp>
      <p:sp>
        <p:nvSpPr>
          <p:cNvPr id="1027" name="Rectangle 37">
            <a:extLst>
              <a:ext uri="{FF2B5EF4-FFF2-40B4-BE49-F238E27FC236}">
                <a16:creationId xmlns:a16="http://schemas.microsoft.com/office/drawing/2014/main" id="{6E85D444-E08A-4213-BA1E-F0A9731A6B6C}"/>
              </a:ext>
            </a:extLst>
          </p:cNvPr>
          <p:cNvSpPr>
            <a:spLocks noChangeArrowheads="1"/>
          </p:cNvSpPr>
          <p:nvPr userDrawn="1"/>
        </p:nvSpPr>
        <p:spPr bwMode="gray">
          <a:xfrm rot="-5400000">
            <a:off x="3845719" y="-3845719"/>
            <a:ext cx="1449388" cy="9140825"/>
          </a:xfrm>
          <a:prstGeom prst="rect">
            <a:avLst/>
          </a:prstGeom>
          <a:solidFill>
            <a:srgbClr val="677228">
              <a:alpha val="36078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FF99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3200">
              <a:latin typeface="Tahoma" panose="020B0604030504040204" pitchFamily="34" charset="0"/>
            </a:endParaRPr>
          </a:p>
        </p:txBody>
      </p:sp>
      <p:sp>
        <p:nvSpPr>
          <p:cNvPr id="1028" name="Rectangle 9">
            <a:extLst>
              <a:ext uri="{FF2B5EF4-FFF2-40B4-BE49-F238E27FC236}">
                <a16:creationId xmlns:a16="http://schemas.microsoft.com/office/drawing/2014/main" id="{AB549742-ABE0-4883-800D-FDDA9F49AE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303213"/>
            <a:ext cx="7796213" cy="992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3085" name="Rectangle 13">
            <a:extLst>
              <a:ext uri="{FF2B5EF4-FFF2-40B4-BE49-F238E27FC236}">
                <a16:creationId xmlns:a16="http://schemas.microsoft.com/office/drawing/2014/main" id="{9C1906B7-EE3B-4F53-85C9-8E24F02D5D1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 b="1">
                <a:solidFill>
                  <a:srgbClr val="990033"/>
                </a:solidFill>
              </a:defRPr>
            </a:lvl1pPr>
          </a:lstStyle>
          <a:p>
            <a:r>
              <a:rPr lang="en-US" altLang="en-US"/>
              <a:t>Slide 6- </a:t>
            </a:r>
            <a:fld id="{9BE9E372-0B41-4CE5-B8FA-A89901D5E3A7}" type="slidenum">
              <a:rPr lang="en-US" altLang="en-US"/>
              <a:pPr/>
              <a:t>‹#›</a:t>
            </a:fld>
            <a:endParaRPr lang="en-CA" altLang="en-US"/>
          </a:p>
        </p:txBody>
      </p:sp>
      <p:sp>
        <p:nvSpPr>
          <p:cNvPr id="1030" name="Rectangle 21">
            <a:extLst>
              <a:ext uri="{FF2B5EF4-FFF2-40B4-BE49-F238E27FC236}">
                <a16:creationId xmlns:a16="http://schemas.microsoft.com/office/drawing/2014/main" id="{76803A4B-B995-4206-B9E8-BBB84074E8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39713" y="1600200"/>
            <a:ext cx="8294687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CC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31" name="Rectangle 30">
            <a:extLst>
              <a:ext uri="{FF2B5EF4-FFF2-40B4-BE49-F238E27FC236}">
                <a16:creationId xmlns:a16="http://schemas.microsoft.com/office/drawing/2014/main" id="{853AB97E-46B0-4C12-9089-9079C66FFF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6397625"/>
            <a:ext cx="449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900"/>
              <a:t>Copyright © 2007 </a:t>
            </a:r>
            <a:r>
              <a:rPr lang="en-US" altLang="en-US" sz="900">
                <a:solidFill>
                  <a:srgbClr val="000000"/>
                </a:solidFill>
              </a:rPr>
              <a:t>Ramez Elmasri and Shamkant B. Navathe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med"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990033"/>
        </a:buClr>
        <a:buSzPct val="60000"/>
        <a:buFont typeface="Wingdings" panose="05000000000000000000" pitchFamily="2" charset="2"/>
        <a:buChar char="n"/>
        <a:defRPr sz="28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55000"/>
        <a:buFont typeface="Wingdings" panose="05000000000000000000" pitchFamily="2" charset="2"/>
        <a:buChar char="n"/>
        <a:defRPr sz="2600">
          <a:solidFill>
            <a:srgbClr val="800000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990033"/>
        </a:buClr>
        <a:buSzPct val="50000"/>
        <a:buFont typeface="Wingdings" panose="05000000000000000000" pitchFamily="2" charset="2"/>
        <a:buChar char="n"/>
        <a:defRPr sz="2400">
          <a:solidFill>
            <a:schemeClr val="tx2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55000"/>
        <a:buFont typeface="Wingdings" panose="05000000000000000000" pitchFamily="2" charset="2"/>
        <a:buChar char="n"/>
        <a:defRPr sz="2000">
          <a:solidFill>
            <a:srgbClr val="800000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990033"/>
        </a:buClr>
        <a:buSzPct val="50000"/>
        <a:buFont typeface="Wingdings" panose="05000000000000000000" pitchFamily="2" charset="2"/>
        <a:buChar char="n"/>
        <a:defRPr sz="2000">
          <a:solidFill>
            <a:schemeClr val="tx2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990033"/>
        </a:buClr>
        <a:buSzPct val="50000"/>
        <a:buFont typeface="Wingdings" pitchFamily="2" charset="2"/>
        <a:buChar char="n"/>
        <a:defRPr sz="2000">
          <a:solidFill>
            <a:schemeClr val="tx2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990033"/>
        </a:buClr>
        <a:buSzPct val="50000"/>
        <a:buFont typeface="Wingdings" pitchFamily="2" charset="2"/>
        <a:buChar char="n"/>
        <a:defRPr sz="2000">
          <a:solidFill>
            <a:schemeClr val="tx2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990033"/>
        </a:buClr>
        <a:buSzPct val="50000"/>
        <a:buFont typeface="Wingdings" pitchFamily="2" charset="2"/>
        <a:buChar char="n"/>
        <a:defRPr sz="2000">
          <a:solidFill>
            <a:schemeClr val="tx2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990033"/>
        </a:buClr>
        <a:buSzPct val="50000"/>
        <a:buFont typeface="Wingdings" pitchFamily="2" charset="2"/>
        <a:buChar char="n"/>
        <a:defRPr sz="2000">
          <a:solidFill>
            <a:schemeClr val="tx2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Slide Number Placeholder 2">
            <a:extLst>
              <a:ext uri="{FF2B5EF4-FFF2-40B4-BE49-F238E27FC236}">
                <a16:creationId xmlns:a16="http://schemas.microsoft.com/office/drawing/2014/main" id="{B650282B-2A47-48B7-943C-288A69C862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solidFill>
                  <a:srgbClr val="990033"/>
                </a:solidFill>
              </a:rPr>
              <a:t>Slide 6- </a:t>
            </a:r>
            <a:fld id="{D038C7C9-1B9E-4435-988C-D3549FCC7DD9}" type="slidenum">
              <a:rPr lang="en-US" altLang="en-US" sz="1400">
                <a:solidFill>
                  <a:srgbClr val="990033"/>
                </a:solidFill>
              </a:rPr>
              <a:pPr eaLnBrk="1" hangingPunct="1"/>
              <a:t>1</a:t>
            </a:fld>
            <a:endParaRPr lang="en-CA" altLang="en-US" sz="1400">
              <a:solidFill>
                <a:srgbClr val="990033"/>
              </a:solidFill>
            </a:endParaRP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8E4EE448-20D1-4DD1-A0E8-1173C6A93C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 altLang="en-US"/>
          </a:p>
        </p:txBody>
      </p:sp>
      <p:pic>
        <p:nvPicPr>
          <p:cNvPr id="3076" name="Picture 11" descr="Elmasri_cov">
            <a:extLst>
              <a:ext uri="{FF2B5EF4-FFF2-40B4-BE49-F238E27FC236}">
                <a16:creationId xmlns:a16="http://schemas.microsoft.com/office/drawing/2014/main" id="{91651946-4E36-4666-AEFF-A9F8F33B98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9">
            <a:extLst>
              <a:ext uri="{FF2B5EF4-FFF2-40B4-BE49-F238E27FC236}">
                <a16:creationId xmlns:a16="http://schemas.microsoft.com/office/drawing/2014/main" id="{AB5A5B69-6597-4AC0-86C5-A59F082058B7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900"/>
              <a:t>Copyright © 2007 </a:t>
            </a:r>
            <a:r>
              <a:rPr lang="en-US" altLang="en-US" sz="900">
                <a:solidFill>
                  <a:srgbClr val="000000"/>
                </a:solidFill>
              </a:rPr>
              <a:t>Ramez Elmasri and Shamkant B. Navathe</a:t>
            </a:r>
          </a:p>
        </p:txBody>
      </p:sp>
      <p:sp>
        <p:nvSpPr>
          <p:cNvPr id="4099" name="Rectangle 2" descr="Pink tissue paper">
            <a:extLst>
              <a:ext uri="{FF2B5EF4-FFF2-40B4-BE49-F238E27FC236}">
                <a16:creationId xmlns:a16="http://schemas.microsoft.com/office/drawing/2014/main" id="{780B370E-DF79-46B2-9922-45878651D22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Chapter 6</a:t>
            </a:r>
          </a:p>
        </p:txBody>
      </p:sp>
      <p:sp>
        <p:nvSpPr>
          <p:cNvPr id="4100" name="Rectangle 3" descr="Pink tissue paper">
            <a:extLst>
              <a:ext uri="{FF2B5EF4-FFF2-40B4-BE49-F238E27FC236}">
                <a16:creationId xmlns:a16="http://schemas.microsoft.com/office/drawing/2014/main" id="{E652D3B1-9D93-4F20-938B-ADC2187EC99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The Relational Algebra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Number Placeholder 3">
            <a:extLst>
              <a:ext uri="{FF2B5EF4-FFF2-40B4-BE49-F238E27FC236}">
                <a16:creationId xmlns:a16="http://schemas.microsoft.com/office/drawing/2014/main" id="{3EFB5062-B2B0-434A-9F0F-1A4321F358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solidFill>
                  <a:srgbClr val="990033"/>
                </a:solidFill>
              </a:rPr>
              <a:t>Slide 6- </a:t>
            </a:r>
            <a:fld id="{6533F0D3-06A0-415D-B3D1-D7EA483E0CBA}" type="slidenum">
              <a:rPr lang="en-US" altLang="en-US" sz="1400">
                <a:solidFill>
                  <a:srgbClr val="990033"/>
                </a:solidFill>
              </a:rPr>
              <a:pPr eaLnBrk="1" hangingPunct="1"/>
              <a:t>3</a:t>
            </a:fld>
            <a:endParaRPr lang="en-CA" altLang="en-US" sz="1400">
              <a:solidFill>
                <a:srgbClr val="990033"/>
              </a:solidFill>
            </a:endParaRPr>
          </a:p>
        </p:txBody>
      </p:sp>
      <p:sp>
        <p:nvSpPr>
          <p:cNvPr id="5123" name="Rectangle 4">
            <a:extLst>
              <a:ext uri="{FF2B5EF4-FFF2-40B4-BE49-F238E27FC236}">
                <a16:creationId xmlns:a16="http://schemas.microsoft.com/office/drawing/2014/main" id="{8F2563FA-6D69-4605-A3D8-4A0F82ACB2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sz="3200"/>
              <a:t>Chapter Outline</a:t>
            </a:r>
          </a:p>
        </p:txBody>
      </p:sp>
      <p:sp>
        <p:nvSpPr>
          <p:cNvPr id="5124" name="Rectangle 5">
            <a:extLst>
              <a:ext uri="{FF2B5EF4-FFF2-40B4-BE49-F238E27FC236}">
                <a16:creationId xmlns:a16="http://schemas.microsoft.com/office/drawing/2014/main" id="{6152D777-6A70-4DF5-917E-4F5D1AF1EE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Relational Algebra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 dirty="0"/>
              <a:t>Unary Relational Operations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 dirty="0"/>
              <a:t>Relational Algebra Operations From Set Theory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 dirty="0"/>
              <a:t>Binary Relational Operations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 dirty="0"/>
              <a:t>Additional Relational Operations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 dirty="0"/>
              <a:t>Examples of Queries in Relational Algebra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Example Database Application (COMPANY)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>
            <a:extLst>
              <a:ext uri="{FF2B5EF4-FFF2-40B4-BE49-F238E27FC236}">
                <a16:creationId xmlns:a16="http://schemas.microsoft.com/office/drawing/2014/main" id="{2D2673EF-AC2A-4C10-B8D1-0D1681433D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solidFill>
                  <a:srgbClr val="990033"/>
                </a:solidFill>
              </a:rPr>
              <a:t>Slide 6- </a:t>
            </a:r>
            <a:fld id="{8AD845A6-C807-4CFE-B68A-37251571312B}" type="slidenum">
              <a:rPr lang="en-US" altLang="en-US" sz="1400">
                <a:solidFill>
                  <a:srgbClr val="990033"/>
                </a:solidFill>
              </a:rPr>
              <a:pPr eaLnBrk="1" hangingPunct="1"/>
              <a:t>4</a:t>
            </a:fld>
            <a:endParaRPr lang="en-CA" altLang="en-US" sz="1400">
              <a:solidFill>
                <a:srgbClr val="990033"/>
              </a:solidFill>
            </a:endParaRPr>
          </a:p>
        </p:txBody>
      </p:sp>
      <p:sp>
        <p:nvSpPr>
          <p:cNvPr id="6147" name="Rectangle 4">
            <a:extLst>
              <a:ext uri="{FF2B5EF4-FFF2-40B4-BE49-F238E27FC236}">
                <a16:creationId xmlns:a16="http://schemas.microsoft.com/office/drawing/2014/main" id="{59817E1A-4B69-4C36-825C-B268037ACD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sz="3200"/>
              <a:t>Relational Algebra Overview</a:t>
            </a:r>
          </a:p>
        </p:txBody>
      </p:sp>
      <p:sp>
        <p:nvSpPr>
          <p:cNvPr id="6148" name="Rectangle 5">
            <a:extLst>
              <a:ext uri="{FF2B5EF4-FFF2-40B4-BE49-F238E27FC236}">
                <a16:creationId xmlns:a16="http://schemas.microsoft.com/office/drawing/2014/main" id="{43B9B2E5-FD8D-4997-B424-811ABB8784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Relational algebra is the basic set of operations for the relational model</a:t>
            </a:r>
          </a:p>
          <a:p>
            <a:pPr eaLnBrk="1" hangingPunct="1"/>
            <a:r>
              <a:rPr lang="en-US" altLang="en-US" sz="2700"/>
              <a:t>These operations enable a user to specify </a:t>
            </a:r>
            <a:r>
              <a:rPr lang="en-US" altLang="en-US" sz="2700" b="1"/>
              <a:t>basic retrieval requests</a:t>
            </a:r>
            <a:r>
              <a:rPr lang="en-US" altLang="en-US" sz="2700"/>
              <a:t> (or </a:t>
            </a:r>
            <a:r>
              <a:rPr lang="en-US" altLang="en-US" sz="2700" b="1"/>
              <a:t>queries</a:t>
            </a:r>
            <a:r>
              <a:rPr lang="en-US" altLang="en-US" sz="2700"/>
              <a:t>)</a:t>
            </a:r>
          </a:p>
          <a:p>
            <a:pPr eaLnBrk="1" hangingPunct="1"/>
            <a:r>
              <a:rPr lang="en-US" altLang="en-US"/>
              <a:t>The result of an operation is a </a:t>
            </a:r>
            <a:r>
              <a:rPr lang="en-US" altLang="en-US" i="1"/>
              <a:t>new relation</a:t>
            </a:r>
            <a:r>
              <a:rPr lang="en-US" altLang="en-US"/>
              <a:t>, which may have been formed from one or more </a:t>
            </a:r>
            <a:r>
              <a:rPr lang="en-US" altLang="en-US" i="1"/>
              <a:t>input</a:t>
            </a:r>
            <a:r>
              <a:rPr lang="en-US" altLang="en-US"/>
              <a:t> relations</a:t>
            </a:r>
          </a:p>
          <a:p>
            <a:pPr lvl="1" eaLnBrk="1" hangingPunct="1"/>
            <a:r>
              <a:rPr lang="en-US" altLang="en-US"/>
              <a:t>This property makes the algebra “closed” (all objects in relational algebra are relations)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Number Placeholder 3">
            <a:extLst>
              <a:ext uri="{FF2B5EF4-FFF2-40B4-BE49-F238E27FC236}">
                <a16:creationId xmlns:a16="http://schemas.microsoft.com/office/drawing/2014/main" id="{26B0E5B8-1855-427E-AB79-A84F3B6944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solidFill>
                  <a:srgbClr val="990033"/>
                </a:solidFill>
              </a:rPr>
              <a:t>Slide 6- </a:t>
            </a:r>
            <a:fld id="{34E44714-2F62-420B-B276-DA2B8F613A4A}" type="slidenum">
              <a:rPr lang="en-US" altLang="en-US" sz="1400">
                <a:solidFill>
                  <a:srgbClr val="990033"/>
                </a:solidFill>
              </a:rPr>
              <a:pPr eaLnBrk="1" hangingPunct="1"/>
              <a:t>5</a:t>
            </a:fld>
            <a:endParaRPr lang="en-CA" altLang="en-US" sz="1400">
              <a:solidFill>
                <a:srgbClr val="990033"/>
              </a:solidFill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43BB5A0B-ECA8-4F9F-B04A-A2EF053288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sz="3200"/>
              <a:t>Relational Algebra Overview (continued)</a:t>
            </a:r>
          </a:p>
        </p:txBody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6D0D3319-D935-4E80-825A-F688676EA5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The </a:t>
            </a:r>
            <a:r>
              <a:rPr lang="en-US" altLang="en-US" b="1"/>
              <a:t>algebra operations</a:t>
            </a:r>
            <a:r>
              <a:rPr lang="en-US" altLang="en-US"/>
              <a:t> thus produce new relations</a:t>
            </a:r>
          </a:p>
          <a:p>
            <a:pPr lvl="1" eaLnBrk="1" hangingPunct="1"/>
            <a:r>
              <a:rPr lang="en-US" altLang="en-US"/>
              <a:t>These can be further manipulated using operations of the same algebra</a:t>
            </a:r>
          </a:p>
          <a:p>
            <a:pPr eaLnBrk="1" hangingPunct="1"/>
            <a:r>
              <a:rPr lang="en-US" altLang="en-US"/>
              <a:t>A sequence of relational algebra operations forms a </a:t>
            </a:r>
            <a:r>
              <a:rPr lang="en-US" altLang="en-US" b="1"/>
              <a:t>relational algebra expression</a:t>
            </a:r>
          </a:p>
          <a:p>
            <a:pPr lvl="1" eaLnBrk="1" hangingPunct="1"/>
            <a:r>
              <a:rPr lang="en-US" altLang="en-US" sz="2500"/>
              <a:t>The result of a relational algebra expression is also a relation that represents the result of a database query (or retrieval request)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Number Placeholder 3">
            <a:extLst>
              <a:ext uri="{FF2B5EF4-FFF2-40B4-BE49-F238E27FC236}">
                <a16:creationId xmlns:a16="http://schemas.microsoft.com/office/drawing/2014/main" id="{DC9A0074-B0F6-4C8F-8B6D-44C56B3452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solidFill>
                  <a:srgbClr val="990033"/>
                </a:solidFill>
              </a:rPr>
              <a:t>Slide 6- </a:t>
            </a:r>
            <a:fld id="{75AD1ED1-386D-4D06-8684-DE6C5FF554C7}" type="slidenum">
              <a:rPr lang="en-US" altLang="en-US" sz="1400">
                <a:solidFill>
                  <a:srgbClr val="990033"/>
                </a:solidFill>
              </a:rPr>
              <a:pPr eaLnBrk="1" hangingPunct="1"/>
              <a:t>6</a:t>
            </a:fld>
            <a:endParaRPr lang="en-CA" altLang="en-US" sz="1400">
              <a:solidFill>
                <a:srgbClr val="990033"/>
              </a:solidFill>
            </a:endParaRPr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830B2648-0E1B-4603-847D-5D5E478E84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sz="3200"/>
              <a:t>Relational Algebra Overview</a:t>
            </a:r>
          </a:p>
        </p:txBody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C18473FA-688E-4208-9B3A-C0E82C9ECB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000" dirty="0"/>
              <a:t>Relational Algebra consists of several groups of operations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dirty="0"/>
              <a:t>Unary Relational Operations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sz="1800" dirty="0"/>
              <a:t>SELECT (symbol: </a:t>
            </a:r>
            <a:r>
              <a:rPr lang="en-US" altLang="en-US" b="1" dirty="0">
                <a:latin typeface="Symbol" panose="05050102010706020507" pitchFamily="18" charset="2"/>
              </a:rPr>
              <a:t></a:t>
            </a:r>
            <a:r>
              <a:rPr lang="en-US" altLang="en-US" sz="1800" dirty="0"/>
              <a:t> (sigma))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sz="1800" dirty="0"/>
              <a:t>PROJECT (symbol: </a:t>
            </a:r>
            <a:r>
              <a:rPr lang="en-US" altLang="en-US" sz="1800" b="1" dirty="0">
                <a:latin typeface="Symbol" panose="05050102010706020507" pitchFamily="18" charset="2"/>
              </a:rPr>
              <a:t> </a:t>
            </a:r>
            <a:r>
              <a:rPr lang="en-US" altLang="en-US" sz="1800" dirty="0"/>
              <a:t>(pi))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sz="1800" dirty="0"/>
              <a:t>RENAME (symbol: </a:t>
            </a:r>
            <a:r>
              <a:rPr lang="en-US" altLang="en-US" sz="1800" b="1" dirty="0">
                <a:sym typeface="Symbol" panose="05050102010706020507" pitchFamily="18" charset="2"/>
              </a:rPr>
              <a:t></a:t>
            </a:r>
            <a:r>
              <a:rPr lang="en-US" altLang="en-US" sz="1800" dirty="0">
                <a:sym typeface="Symbol" panose="05050102010706020507" pitchFamily="18" charset="2"/>
              </a:rPr>
              <a:t> </a:t>
            </a:r>
            <a:r>
              <a:rPr lang="en-US" altLang="en-US" sz="1800" dirty="0"/>
              <a:t>(rho))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dirty="0"/>
              <a:t>Relational Algebra Operations From Set Theory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sz="1800" dirty="0"/>
              <a:t>UNION ( </a:t>
            </a:r>
            <a:r>
              <a:rPr lang="en-US" altLang="en-US" sz="1800" b="1" dirty="0">
                <a:latin typeface="Symbol" panose="05050102010706020507" pitchFamily="18" charset="2"/>
              </a:rPr>
              <a:t></a:t>
            </a:r>
            <a:r>
              <a:rPr lang="en-US" altLang="en-US" sz="1800" dirty="0"/>
              <a:t> ), INTERSECTION ( </a:t>
            </a:r>
            <a:r>
              <a:rPr lang="en-US" altLang="en-US" sz="1800" b="1" dirty="0">
                <a:latin typeface="Symbol" panose="05050102010706020507" pitchFamily="18" charset="2"/>
              </a:rPr>
              <a:t></a:t>
            </a:r>
            <a:r>
              <a:rPr lang="en-US" altLang="en-US" sz="1800" dirty="0">
                <a:latin typeface="Symbol" panose="05050102010706020507" pitchFamily="18" charset="2"/>
              </a:rPr>
              <a:t> </a:t>
            </a:r>
            <a:r>
              <a:rPr lang="en-US" altLang="en-US" sz="1800" dirty="0"/>
              <a:t>), DIFFERENCE (or MINUS, </a:t>
            </a:r>
            <a:r>
              <a:rPr lang="en-US" altLang="en-US" sz="1800" b="1" dirty="0"/>
              <a:t>–</a:t>
            </a:r>
            <a:r>
              <a:rPr lang="en-US" altLang="en-US" sz="1800" dirty="0"/>
              <a:t> )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sz="1800" dirty="0"/>
              <a:t>CARTESIAN PRODUCT ( </a:t>
            </a:r>
            <a:r>
              <a:rPr lang="en-US" altLang="en-US" sz="1800" b="1" dirty="0"/>
              <a:t>x</a:t>
            </a:r>
            <a:r>
              <a:rPr lang="en-US" altLang="en-US" sz="1800" dirty="0"/>
              <a:t> )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dirty="0"/>
              <a:t>Binary Relational Operations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sz="1800" dirty="0"/>
              <a:t>JOIN (several variations of JOIN exist)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sz="1800" dirty="0"/>
              <a:t>DIVISION (We will not cover it)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Number Placeholder 3">
            <a:extLst>
              <a:ext uri="{FF2B5EF4-FFF2-40B4-BE49-F238E27FC236}">
                <a16:creationId xmlns:a16="http://schemas.microsoft.com/office/drawing/2014/main" id="{4F29718B-1A0A-48DD-8B2F-C66C3A11E4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solidFill>
                  <a:srgbClr val="990033"/>
                </a:solidFill>
              </a:rPr>
              <a:t>Slide 6- </a:t>
            </a:r>
            <a:fld id="{34E0987F-60C8-466B-B9DE-84DD9790995F}" type="slidenum">
              <a:rPr lang="en-US" altLang="en-US" sz="1400">
                <a:solidFill>
                  <a:srgbClr val="990033"/>
                </a:solidFill>
              </a:rPr>
              <a:pPr eaLnBrk="1" hangingPunct="1"/>
              <a:t>7</a:t>
            </a:fld>
            <a:endParaRPr lang="en-CA" altLang="en-US" sz="1400">
              <a:solidFill>
                <a:srgbClr val="990033"/>
              </a:solidFill>
            </a:endParaRPr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08F7ADB4-7E39-4A77-B42F-B09E86E150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sz="3200"/>
              <a:t>Database State for COMPANY</a:t>
            </a:r>
          </a:p>
        </p:txBody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1F2A2FBA-F6B9-4C09-B127-D8274ECDC9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000"/>
              <a:t>All examples discussed below refer to the COMPANY database shown here.</a:t>
            </a:r>
          </a:p>
          <a:p>
            <a:pPr eaLnBrk="1" hangingPunct="1"/>
            <a:endParaRPr lang="en-US" altLang="en-US" sz="2000"/>
          </a:p>
        </p:txBody>
      </p:sp>
      <p:pic>
        <p:nvPicPr>
          <p:cNvPr id="9221" name="Picture 6" descr="fig05_07">
            <a:extLst>
              <a:ext uri="{FF2B5EF4-FFF2-40B4-BE49-F238E27FC236}">
                <a16:creationId xmlns:a16="http://schemas.microsoft.com/office/drawing/2014/main" id="{07BE3B86-4A2A-41DF-9378-1ABA18E665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8413" y="2057400"/>
            <a:ext cx="5995987" cy="445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B7E3D-BE87-48FC-9A17-B03C86CDE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5DD4C1-4D61-4C7E-BB04-D26DE32BBF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EAF95F-B44D-4023-80D3-FBA83852D5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Slide 6- </a:t>
            </a:r>
            <a:fld id="{FEB8EDCB-4292-4ED5-8B00-20E21538EECC}" type="slidenum">
              <a:rPr lang="en-US" altLang="en-US" smtClean="0"/>
              <a:pPr/>
              <a:t>8</a:t>
            </a:fld>
            <a:endParaRPr lang="en-CA" altLang="en-US"/>
          </a:p>
        </p:txBody>
      </p:sp>
      <p:pic>
        <p:nvPicPr>
          <p:cNvPr id="6" name="Picture 9" descr="fig05_06">
            <a:extLst>
              <a:ext uri="{FF2B5EF4-FFF2-40B4-BE49-F238E27FC236}">
                <a16:creationId xmlns:a16="http://schemas.microsoft.com/office/drawing/2014/main" id="{6FEEEEC1-C25F-447D-8075-E985A73829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0887" y="546893"/>
            <a:ext cx="5243513" cy="6678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4694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3">
            <a:extLst>
              <a:ext uri="{FF2B5EF4-FFF2-40B4-BE49-F238E27FC236}">
                <a16:creationId xmlns:a16="http://schemas.microsoft.com/office/drawing/2014/main" id="{F42D585E-6D4C-4FDE-B88E-8EF14C6FD9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solidFill>
                  <a:srgbClr val="990033"/>
                </a:solidFill>
              </a:rPr>
              <a:t>Slide 6- </a:t>
            </a:r>
            <a:fld id="{6B690ED6-BABA-472A-B8B3-35587362711B}" type="slidenum">
              <a:rPr lang="en-US" altLang="en-US" sz="1400">
                <a:solidFill>
                  <a:srgbClr val="990033"/>
                </a:solidFill>
              </a:rPr>
              <a:pPr eaLnBrk="1" hangingPunct="1"/>
              <a:t>9</a:t>
            </a:fld>
            <a:endParaRPr lang="en-CA" altLang="en-US" sz="1400">
              <a:solidFill>
                <a:srgbClr val="990033"/>
              </a:solidFill>
            </a:endParaRPr>
          </a:p>
        </p:txBody>
      </p:sp>
      <p:sp>
        <p:nvSpPr>
          <p:cNvPr id="10243" name="Rectangle 4">
            <a:extLst>
              <a:ext uri="{FF2B5EF4-FFF2-40B4-BE49-F238E27FC236}">
                <a16:creationId xmlns:a16="http://schemas.microsoft.com/office/drawing/2014/main" id="{51A1ED3F-0BE3-4B4D-8451-5247F39564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sz="3200"/>
              <a:t>Unary Relational Operations: SELECT</a:t>
            </a:r>
          </a:p>
        </p:txBody>
      </p:sp>
      <p:sp>
        <p:nvSpPr>
          <p:cNvPr id="10244" name="Rectangle 5">
            <a:extLst>
              <a:ext uri="{FF2B5EF4-FFF2-40B4-BE49-F238E27FC236}">
                <a16:creationId xmlns:a16="http://schemas.microsoft.com/office/drawing/2014/main" id="{896760E1-04C4-4820-821F-EB875CB7AD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The SELECT operation (denoted by </a:t>
            </a:r>
            <a:r>
              <a:rPr lang="en-US" altLang="en-US" b="1" dirty="0">
                <a:latin typeface="Symbol" panose="05050102010706020507" pitchFamily="18" charset="2"/>
              </a:rPr>
              <a:t></a:t>
            </a:r>
            <a:r>
              <a:rPr lang="en-US" altLang="en-US" sz="2000" dirty="0"/>
              <a:t> (sigma)) is used to select a </a:t>
            </a:r>
            <a:r>
              <a:rPr lang="en-US" altLang="en-US" sz="2000" i="1" dirty="0"/>
              <a:t>subset</a:t>
            </a:r>
            <a:r>
              <a:rPr lang="en-US" altLang="en-US" sz="2000" dirty="0"/>
              <a:t> of the tuples from a relation based on a </a:t>
            </a:r>
            <a:r>
              <a:rPr lang="en-US" altLang="en-US" sz="2000" b="1" dirty="0"/>
              <a:t>selection condition</a:t>
            </a:r>
            <a:r>
              <a:rPr lang="en-US" altLang="en-US" sz="2000" dirty="0"/>
              <a:t>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 dirty="0"/>
              <a:t>The selection condition acts as a </a:t>
            </a:r>
            <a:r>
              <a:rPr lang="en-US" altLang="en-US" sz="2200" b="1" dirty="0"/>
              <a:t>filter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 dirty="0"/>
              <a:t>Keeps only those tuples that satisfy the qualifying condition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 dirty="0"/>
              <a:t>Tuples satisfying the condition are </a:t>
            </a:r>
            <a:r>
              <a:rPr lang="en-US" altLang="en-US" sz="2200" i="1" dirty="0"/>
              <a:t>selected</a:t>
            </a:r>
            <a:r>
              <a:rPr lang="en-US" altLang="en-US" sz="2200" dirty="0"/>
              <a:t> whereas the other tuples are discarded (</a:t>
            </a:r>
            <a:r>
              <a:rPr lang="en-US" altLang="en-US" sz="2200" i="1" dirty="0"/>
              <a:t>filtered out</a:t>
            </a:r>
            <a:r>
              <a:rPr lang="en-US" altLang="en-US" sz="2200" dirty="0"/>
              <a:t>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Examples: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Select the EMPLOYEE tuples whose department number is 4:</a:t>
            </a:r>
          </a:p>
          <a:p>
            <a:pPr algn="ctr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b="1" dirty="0">
                <a:latin typeface="Symbol" panose="05050102010706020507" pitchFamily="18" charset="2"/>
              </a:rPr>
              <a:t></a:t>
            </a:r>
            <a:r>
              <a:rPr lang="en-US" altLang="en-US" sz="2000" dirty="0"/>
              <a:t> </a:t>
            </a:r>
            <a:r>
              <a:rPr lang="en-US" altLang="en-US" sz="2000" baseline="-25000" dirty="0"/>
              <a:t>DNO = 4</a:t>
            </a:r>
            <a:r>
              <a:rPr lang="en-US" altLang="en-US" sz="2000" dirty="0"/>
              <a:t> (EMPLOYEE)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Select the employee tuples whose salary is greater than $30,000:</a:t>
            </a:r>
          </a:p>
          <a:p>
            <a:pPr algn="ctr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b="1" dirty="0">
                <a:latin typeface="Symbol" panose="05050102010706020507" pitchFamily="18" charset="2"/>
              </a:rPr>
              <a:t></a:t>
            </a:r>
            <a:r>
              <a:rPr lang="en-US" altLang="en-US" sz="2000" dirty="0"/>
              <a:t> </a:t>
            </a:r>
            <a:r>
              <a:rPr lang="en-US" altLang="en-US" sz="2000" baseline="-25000" dirty="0"/>
              <a:t>SALARY &gt; 30,000</a:t>
            </a:r>
            <a:r>
              <a:rPr lang="en-US" altLang="en-US" sz="2000" dirty="0"/>
              <a:t> (EMPLOYEE)</a:t>
            </a:r>
          </a:p>
        </p:txBody>
      </p:sp>
      <p:pic>
        <p:nvPicPr>
          <p:cNvPr id="10245" name="Picture 6" descr="Pink tissue paper">
            <a:extLst>
              <a:ext uri="{FF2B5EF4-FFF2-40B4-BE49-F238E27FC236}">
                <a16:creationId xmlns:a16="http://schemas.microsoft.com/office/drawing/2014/main" id="{3ECD7CD4-5611-4DF3-A24C-12B7E63FAB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76200"/>
            <a:ext cx="3295650" cy="638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4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E2DB3-7095-4F61-9CE1-22D4AF2A0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E98D9E-F879-4691-9EDB-136B107BBB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9713" y="1600200"/>
            <a:ext cx="8599487" cy="17399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Examples: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Select the EMPLOYEE tuples whose department number is 4:</a:t>
            </a:r>
          </a:p>
          <a:p>
            <a:pPr marL="0" indent="0" algn="ctr" eaLnBrk="1" hangingPunct="1">
              <a:lnSpc>
                <a:spcPct val="90000"/>
              </a:lnSpc>
              <a:buNone/>
            </a:pPr>
            <a:r>
              <a:rPr lang="en-US" altLang="en-US" sz="2800" dirty="0"/>
              <a:t>res= </a:t>
            </a:r>
            <a:r>
              <a:rPr lang="en-US" altLang="en-US" b="1" dirty="0">
                <a:latin typeface="Symbol" panose="05050102010706020507" pitchFamily="18" charset="2"/>
              </a:rPr>
              <a:t></a:t>
            </a:r>
            <a:r>
              <a:rPr lang="en-US" altLang="en-US" sz="2000" b="1" dirty="0">
                <a:latin typeface="Symbol" panose="05050102010706020507" pitchFamily="18" charset="2"/>
              </a:rPr>
              <a:t>  </a:t>
            </a:r>
            <a:r>
              <a:rPr lang="en-US" altLang="en-US" sz="2000" baseline="-25000" dirty="0"/>
              <a:t>DNO = 4</a:t>
            </a:r>
            <a:r>
              <a:rPr lang="en-US" altLang="en-US" sz="2000" dirty="0"/>
              <a:t> (EMPLOYEE)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075292-AA33-4161-A522-73DBB57667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Slide 6- </a:t>
            </a:r>
            <a:fld id="{FEB8EDCB-4292-4ED5-8B00-20E21538EECC}" type="slidenum">
              <a:rPr lang="en-US" altLang="en-US" smtClean="0"/>
              <a:pPr/>
              <a:t>10</a:t>
            </a:fld>
            <a:endParaRPr lang="en-CA" alt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3323CBB-1DA0-49E3-A2BA-6FAA94140E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637" y="3340100"/>
            <a:ext cx="8086725" cy="3057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580245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E2DB3-7095-4F61-9CE1-22D4AF2A0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E98D9E-F879-4691-9EDB-136B107BBB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Examples: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Select the employee tuples whose salary is greater than $30,000:</a:t>
            </a:r>
          </a:p>
          <a:p>
            <a:pPr algn="ctr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b="1" dirty="0">
                <a:latin typeface="Symbol" panose="05050102010706020507" pitchFamily="18" charset="2"/>
              </a:rPr>
              <a:t></a:t>
            </a:r>
            <a:r>
              <a:rPr lang="en-US" altLang="en-US" sz="2000" dirty="0"/>
              <a:t> </a:t>
            </a:r>
            <a:r>
              <a:rPr lang="en-US" altLang="en-US" sz="2000" baseline="-25000" dirty="0"/>
              <a:t>SALARY &gt; 30,000</a:t>
            </a:r>
            <a:r>
              <a:rPr lang="en-US" altLang="en-US" sz="2000" dirty="0"/>
              <a:t> (EMPLOYEE)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075292-AA33-4161-A522-73DBB57667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Slide 6- </a:t>
            </a:r>
            <a:fld id="{FEB8EDCB-4292-4ED5-8B00-20E21538EECC}" type="slidenum">
              <a:rPr lang="en-US" altLang="en-US" smtClean="0"/>
              <a:pPr/>
              <a:t>11</a:t>
            </a:fld>
            <a:endParaRPr lang="en-CA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2E1BCED-F880-4CB2-92BE-8A40F5599D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25" y="2971800"/>
            <a:ext cx="8210550" cy="2943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0356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Number Placeholder 3">
            <a:extLst>
              <a:ext uri="{FF2B5EF4-FFF2-40B4-BE49-F238E27FC236}">
                <a16:creationId xmlns:a16="http://schemas.microsoft.com/office/drawing/2014/main" id="{8B447888-2CCB-4EDD-873D-8CC4F33ED4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solidFill>
                  <a:srgbClr val="990033"/>
                </a:solidFill>
              </a:rPr>
              <a:t>Slide 6- </a:t>
            </a:r>
            <a:fld id="{B7D7E0BF-4304-46EF-818A-E7B65E7B9E62}" type="slidenum">
              <a:rPr lang="en-US" altLang="en-US" sz="1400">
                <a:solidFill>
                  <a:srgbClr val="990033"/>
                </a:solidFill>
              </a:rPr>
              <a:pPr eaLnBrk="1" hangingPunct="1"/>
              <a:t>12</a:t>
            </a:fld>
            <a:endParaRPr lang="en-CA" altLang="en-US" sz="1400">
              <a:solidFill>
                <a:srgbClr val="990033"/>
              </a:solidFill>
            </a:endParaRPr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AC2BD8AD-3EDA-44EE-B5A6-6E930653C6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sz="3200"/>
              <a:t>Unary Relational Operations: SELECT</a:t>
            </a:r>
          </a:p>
        </p:txBody>
      </p:sp>
      <p:sp>
        <p:nvSpPr>
          <p:cNvPr id="11268" name="Rectangle 3">
            <a:extLst>
              <a:ext uri="{FF2B5EF4-FFF2-40B4-BE49-F238E27FC236}">
                <a16:creationId xmlns:a16="http://schemas.microsoft.com/office/drawing/2014/main" id="{F6E12EE7-D64B-4B06-8BD2-C5B2F05478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 eaLnBrk="1" hangingPunct="1"/>
            <a:r>
              <a:rPr lang="en-US" altLang="en-US" sz="2800" dirty="0"/>
              <a:t>In general, the </a:t>
            </a:r>
            <a:r>
              <a:rPr lang="en-US" altLang="en-US" sz="2800" i="1" dirty="0"/>
              <a:t>select</a:t>
            </a:r>
            <a:r>
              <a:rPr lang="en-US" altLang="en-US" sz="2800" dirty="0"/>
              <a:t> operation is denoted by </a:t>
            </a:r>
            <a:r>
              <a:rPr lang="en-US" altLang="en-US" sz="3600" b="1" dirty="0">
                <a:latin typeface="Symbol" panose="05050102010706020507" pitchFamily="18" charset="2"/>
              </a:rPr>
              <a:t></a:t>
            </a:r>
            <a:r>
              <a:rPr lang="en-US" altLang="en-US" sz="2800" dirty="0"/>
              <a:t> </a:t>
            </a:r>
            <a:r>
              <a:rPr lang="en-US" altLang="en-US" sz="2800" baseline="-25000" dirty="0"/>
              <a:t>&lt;selection condition&gt;</a:t>
            </a:r>
            <a:r>
              <a:rPr lang="en-US" altLang="en-US" sz="2800" dirty="0"/>
              <a:t>(R) where</a:t>
            </a:r>
          </a:p>
          <a:p>
            <a:pPr lvl="2" eaLnBrk="1" hangingPunct="1"/>
            <a:r>
              <a:rPr lang="en-US" altLang="en-US" dirty="0"/>
              <a:t>the symbol </a:t>
            </a:r>
            <a:r>
              <a:rPr lang="en-US" altLang="en-US" sz="3200" b="1" dirty="0">
                <a:latin typeface="Symbol" panose="05050102010706020507" pitchFamily="18" charset="2"/>
              </a:rPr>
              <a:t></a:t>
            </a:r>
            <a:r>
              <a:rPr lang="en-US" altLang="en-US" dirty="0"/>
              <a:t> (sigma) is used to denote the </a:t>
            </a:r>
            <a:r>
              <a:rPr lang="en-US" altLang="en-US" i="1" dirty="0"/>
              <a:t>select</a:t>
            </a:r>
            <a:r>
              <a:rPr lang="en-US" altLang="en-US" dirty="0"/>
              <a:t> operator</a:t>
            </a:r>
          </a:p>
          <a:p>
            <a:pPr lvl="2" eaLnBrk="1" hangingPunct="1"/>
            <a:r>
              <a:rPr lang="en-US" altLang="en-US" dirty="0"/>
              <a:t>the selection condition is a Boolean (conditional) expression specified on the attributes of relation R</a:t>
            </a:r>
          </a:p>
          <a:p>
            <a:pPr lvl="2" eaLnBrk="1" hangingPunct="1"/>
            <a:r>
              <a:rPr lang="en-US" altLang="en-US" dirty="0"/>
              <a:t>tuples that make the condition </a:t>
            </a:r>
            <a:r>
              <a:rPr lang="en-US" altLang="en-US" b="1" dirty="0"/>
              <a:t>true </a:t>
            </a:r>
            <a:r>
              <a:rPr lang="en-US" altLang="en-US" dirty="0"/>
              <a:t>are selected</a:t>
            </a:r>
          </a:p>
          <a:p>
            <a:pPr lvl="3" eaLnBrk="1" hangingPunct="1"/>
            <a:r>
              <a:rPr lang="en-US" altLang="en-US" dirty="0"/>
              <a:t>appear in the result of the operation</a:t>
            </a:r>
          </a:p>
          <a:p>
            <a:pPr lvl="2" eaLnBrk="1" hangingPunct="1"/>
            <a:r>
              <a:rPr lang="en-US" altLang="en-US" dirty="0"/>
              <a:t>tuples that make the condition </a:t>
            </a:r>
            <a:r>
              <a:rPr lang="en-US" altLang="en-US" b="1" dirty="0"/>
              <a:t>false </a:t>
            </a:r>
            <a:r>
              <a:rPr lang="en-US" altLang="en-US" dirty="0"/>
              <a:t>are filtered out</a:t>
            </a:r>
          </a:p>
          <a:p>
            <a:pPr lvl="3" eaLnBrk="1" hangingPunct="1"/>
            <a:r>
              <a:rPr lang="en-US" altLang="en-US" dirty="0"/>
              <a:t>discarded from the result of the operation</a:t>
            </a: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Number Placeholder 3">
            <a:extLst>
              <a:ext uri="{FF2B5EF4-FFF2-40B4-BE49-F238E27FC236}">
                <a16:creationId xmlns:a16="http://schemas.microsoft.com/office/drawing/2014/main" id="{2CF37162-C265-43AF-9062-3991327A4E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solidFill>
                  <a:srgbClr val="990033"/>
                </a:solidFill>
              </a:rPr>
              <a:t>Slide 6- </a:t>
            </a:r>
            <a:fld id="{FBE11A67-8B44-4C83-B935-3C6E5FE5DCA4}" type="slidenum">
              <a:rPr lang="en-US" altLang="en-US" sz="1400">
                <a:solidFill>
                  <a:srgbClr val="990033"/>
                </a:solidFill>
              </a:rPr>
              <a:pPr eaLnBrk="1" hangingPunct="1"/>
              <a:t>13</a:t>
            </a:fld>
            <a:endParaRPr lang="en-CA" altLang="en-US" sz="1400">
              <a:solidFill>
                <a:srgbClr val="990033"/>
              </a:solidFill>
            </a:endParaRP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C94B24DE-595B-44D1-90F8-B6FBEAB1AC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Get all information about females working in department 5</a:t>
            </a:r>
          </a:p>
          <a:p>
            <a:pPr marL="1371600" lvl="3" indent="0" eaLnBrk="1" hangingPunct="1">
              <a:buNone/>
            </a:pPr>
            <a:r>
              <a:rPr lang="en-US" altLang="en-US" sz="2400" b="1" dirty="0">
                <a:latin typeface="Symbol" panose="05050102010706020507" pitchFamily="18" charset="2"/>
              </a:rPr>
              <a:t></a:t>
            </a:r>
            <a:r>
              <a:rPr lang="en-US" altLang="en-US" sz="1800" b="1" dirty="0">
                <a:latin typeface="Symbol" panose="05050102010706020507" pitchFamily="18" charset="2"/>
              </a:rPr>
              <a:t> </a:t>
            </a:r>
            <a:r>
              <a:rPr lang="en-US" altLang="en-US" sz="1800" baseline="-25000" dirty="0"/>
              <a:t>DNO = 5 AND sex = “F”</a:t>
            </a:r>
            <a:r>
              <a:rPr lang="en-US" altLang="en-US" sz="1800" dirty="0"/>
              <a:t> (EMPLOYEE)</a:t>
            </a:r>
          </a:p>
          <a:p>
            <a:pPr lvl="3" eaLnBrk="1" hangingPunct="1">
              <a:buFont typeface="Symbol" panose="05050102010706020507" pitchFamily="18" charset="2"/>
              <a:buChar char="s"/>
            </a:pPr>
            <a:endParaRPr lang="en-US" altLang="en-US" dirty="0"/>
          </a:p>
          <a:p>
            <a:pPr eaLnBrk="1" hangingPunct="1"/>
            <a:r>
              <a:rPr lang="en-US" altLang="en-US" dirty="0"/>
              <a:t>Get the names of all males employees either having a salary greater than 30000 or working in department number 5</a:t>
            </a:r>
          </a:p>
          <a:p>
            <a:pPr lvl="3" eaLnBrk="1" hangingPunct="1">
              <a:buFont typeface="Wingdings" panose="05000000000000000000" pitchFamily="2" charset="2"/>
              <a:buNone/>
            </a:pPr>
            <a:r>
              <a:rPr lang="en-US" altLang="en-US" b="1" dirty="0">
                <a:latin typeface="Symbol" panose="05050102010706020507" pitchFamily="18" charset="2"/>
              </a:rPr>
              <a:t></a:t>
            </a:r>
            <a:r>
              <a:rPr lang="en-US" altLang="en-US" sz="1600" dirty="0"/>
              <a:t> </a:t>
            </a:r>
            <a:r>
              <a:rPr lang="en-US" altLang="en-US" sz="1600" baseline="-25000" dirty="0"/>
              <a:t>sex = “M” AND (salary &gt;30000 or </a:t>
            </a:r>
            <a:r>
              <a:rPr lang="en-US" altLang="en-US" sz="1600" baseline="-25000" dirty="0" err="1"/>
              <a:t>dno</a:t>
            </a:r>
            <a:r>
              <a:rPr lang="en-US" altLang="en-US" sz="1600" baseline="-25000" dirty="0"/>
              <a:t> = 5)</a:t>
            </a:r>
            <a:r>
              <a:rPr lang="en-US" altLang="en-US" sz="1600" dirty="0"/>
              <a:t> (EMPLOYEE)</a:t>
            </a:r>
          </a:p>
        </p:txBody>
      </p:sp>
      <p:sp>
        <p:nvSpPr>
          <p:cNvPr id="12292" name="Rectangle 4">
            <a:extLst>
              <a:ext uri="{FF2B5EF4-FFF2-40B4-BE49-F238E27FC236}">
                <a16:creationId xmlns:a16="http://schemas.microsoft.com/office/drawing/2014/main" id="{8AEFD488-1FA9-4E0F-AD9E-A70EC2EE86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sz="3200"/>
              <a:t>Unary Relational Operations: SELECT- Example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A28D729-4D3E-430C-B58F-D9D72F7ED1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52" y="2971800"/>
            <a:ext cx="8134350" cy="285750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Number Placeholder 3">
            <a:extLst>
              <a:ext uri="{FF2B5EF4-FFF2-40B4-BE49-F238E27FC236}">
                <a16:creationId xmlns:a16="http://schemas.microsoft.com/office/drawing/2014/main" id="{2CF37162-C265-43AF-9062-3991327A4E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solidFill>
                  <a:srgbClr val="990033"/>
                </a:solidFill>
              </a:rPr>
              <a:t>Slide 6- </a:t>
            </a:r>
            <a:fld id="{FBE11A67-8B44-4C83-B935-3C6E5FE5DCA4}" type="slidenum">
              <a:rPr lang="en-US" altLang="en-US" sz="1400">
                <a:solidFill>
                  <a:srgbClr val="990033"/>
                </a:solidFill>
              </a:rPr>
              <a:pPr eaLnBrk="1" hangingPunct="1"/>
              <a:t>14</a:t>
            </a:fld>
            <a:endParaRPr lang="en-CA" altLang="en-US" sz="1400">
              <a:solidFill>
                <a:srgbClr val="990033"/>
              </a:solidFill>
            </a:endParaRP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C94B24DE-595B-44D1-90F8-B6FBEAB1AC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Get the names of all males employees either having a salary greater than 30000 or working in department number 5</a:t>
            </a:r>
          </a:p>
          <a:p>
            <a:pPr lvl="3" eaLnBrk="1" hangingPunct="1">
              <a:buFont typeface="Wingdings" panose="05000000000000000000" pitchFamily="2" charset="2"/>
              <a:buNone/>
            </a:pPr>
            <a:r>
              <a:rPr lang="en-US" altLang="en-US" b="1" dirty="0">
                <a:latin typeface="Symbol" panose="05050102010706020507" pitchFamily="18" charset="2"/>
              </a:rPr>
              <a:t></a:t>
            </a:r>
            <a:r>
              <a:rPr lang="en-US" altLang="en-US" sz="1600" dirty="0"/>
              <a:t> </a:t>
            </a:r>
            <a:r>
              <a:rPr lang="en-US" altLang="en-US" sz="1800" baseline="-25000" dirty="0"/>
              <a:t>sex = “M” AND (salary &gt;30000 or </a:t>
            </a:r>
            <a:r>
              <a:rPr lang="en-US" altLang="en-US" sz="1800" baseline="-25000" dirty="0" err="1"/>
              <a:t>Dno</a:t>
            </a:r>
            <a:r>
              <a:rPr lang="en-US" altLang="en-US" sz="1800" baseline="-25000" dirty="0"/>
              <a:t> = 5)</a:t>
            </a:r>
            <a:r>
              <a:rPr lang="en-US" altLang="en-US" sz="1800" dirty="0"/>
              <a:t> </a:t>
            </a:r>
            <a:r>
              <a:rPr lang="en-US" altLang="en-US" sz="1600" dirty="0"/>
              <a:t>(EMPLOYEE)</a:t>
            </a:r>
          </a:p>
        </p:txBody>
      </p:sp>
      <p:sp>
        <p:nvSpPr>
          <p:cNvPr id="12292" name="Rectangle 4">
            <a:extLst>
              <a:ext uri="{FF2B5EF4-FFF2-40B4-BE49-F238E27FC236}">
                <a16:creationId xmlns:a16="http://schemas.microsoft.com/office/drawing/2014/main" id="{8AEFD488-1FA9-4E0F-AD9E-A70EC2EE86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sz="3200"/>
              <a:t>Unary Relational Operations: SELECT- Example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659F1A1-69A8-448E-9E18-C61E5C1163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193" y="3603625"/>
            <a:ext cx="6943725" cy="2543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230750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Number Placeholder 3">
            <a:extLst>
              <a:ext uri="{FF2B5EF4-FFF2-40B4-BE49-F238E27FC236}">
                <a16:creationId xmlns:a16="http://schemas.microsoft.com/office/drawing/2014/main" id="{B9215088-E095-4151-9DB8-E36529B850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solidFill>
                  <a:srgbClr val="990033"/>
                </a:solidFill>
              </a:rPr>
              <a:t>Slide 6- </a:t>
            </a:r>
            <a:fld id="{E540917A-EAFE-4ABF-A5C6-E5AAAC31BE5E}" type="slidenum">
              <a:rPr lang="en-US" altLang="en-US" sz="1400">
                <a:solidFill>
                  <a:srgbClr val="990033"/>
                </a:solidFill>
              </a:rPr>
              <a:pPr eaLnBrk="1" hangingPunct="1"/>
              <a:t>15</a:t>
            </a:fld>
            <a:endParaRPr lang="en-CA" altLang="en-US" sz="1400">
              <a:solidFill>
                <a:srgbClr val="990033"/>
              </a:solidFill>
            </a:endParaRPr>
          </a:p>
        </p:txBody>
      </p:sp>
      <p:sp>
        <p:nvSpPr>
          <p:cNvPr id="13315" name="Rectangle 4">
            <a:extLst>
              <a:ext uri="{FF2B5EF4-FFF2-40B4-BE49-F238E27FC236}">
                <a16:creationId xmlns:a16="http://schemas.microsoft.com/office/drawing/2014/main" id="{3698131B-C1E2-4A71-B2A1-019BBA0783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sz="3200"/>
              <a:t>Unary Relational Operations: SELECT (contd.)</a:t>
            </a:r>
          </a:p>
        </p:txBody>
      </p:sp>
      <p:sp>
        <p:nvSpPr>
          <p:cNvPr id="13316" name="Rectangle 5">
            <a:extLst>
              <a:ext uri="{FF2B5EF4-FFF2-40B4-BE49-F238E27FC236}">
                <a16:creationId xmlns:a16="http://schemas.microsoft.com/office/drawing/2014/main" id="{96A8824A-F55F-4FF2-BE63-A62F890504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400" dirty="0"/>
              <a:t>SELECT Operation Properties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100" dirty="0"/>
              <a:t>The SELECT operation </a:t>
            </a:r>
            <a:r>
              <a:rPr lang="en-US" altLang="en-US" sz="2100" dirty="0">
                <a:latin typeface="Symbol" panose="05050102010706020507" pitchFamily="18" charset="2"/>
              </a:rPr>
              <a:t></a:t>
            </a:r>
            <a:r>
              <a:rPr lang="en-US" altLang="en-US" sz="2100" dirty="0"/>
              <a:t> </a:t>
            </a:r>
            <a:r>
              <a:rPr lang="en-US" altLang="en-US" sz="2100" baseline="-25000" dirty="0"/>
              <a:t>&lt;selection condition&gt;</a:t>
            </a:r>
            <a:r>
              <a:rPr lang="en-US" altLang="en-US" sz="2100" dirty="0"/>
              <a:t>(R) produces a relation S that has the same schema (same attributes) as R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100" dirty="0"/>
              <a:t>SELECT </a:t>
            </a:r>
            <a:r>
              <a:rPr lang="en-US" altLang="en-US" sz="2100" dirty="0">
                <a:latin typeface="Symbol" panose="05050102010706020507" pitchFamily="18" charset="2"/>
              </a:rPr>
              <a:t></a:t>
            </a:r>
            <a:r>
              <a:rPr lang="en-US" altLang="en-US" sz="2100" dirty="0"/>
              <a:t> is commutative: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sz="2000" dirty="0">
                <a:latin typeface="Symbol" panose="05050102010706020507" pitchFamily="18" charset="2"/>
              </a:rPr>
              <a:t></a:t>
            </a:r>
            <a:r>
              <a:rPr lang="en-US" altLang="en-US" sz="2000" dirty="0"/>
              <a:t> </a:t>
            </a:r>
            <a:r>
              <a:rPr lang="en-US" altLang="en-US" sz="2100" baseline="-25000" dirty="0"/>
              <a:t>&lt;condition1&gt;</a:t>
            </a:r>
            <a:r>
              <a:rPr lang="en-US" altLang="en-US" sz="2000" dirty="0"/>
              <a:t>(</a:t>
            </a:r>
            <a:r>
              <a:rPr lang="en-US" altLang="en-US" sz="2000" dirty="0">
                <a:latin typeface="Symbol" panose="05050102010706020507" pitchFamily="18" charset="2"/>
              </a:rPr>
              <a:t></a:t>
            </a:r>
            <a:r>
              <a:rPr lang="en-US" altLang="en-US" sz="2000" dirty="0"/>
              <a:t> </a:t>
            </a:r>
            <a:r>
              <a:rPr lang="en-US" altLang="en-US" sz="2100" baseline="-25000" dirty="0"/>
              <a:t>&lt; condition2&gt;</a:t>
            </a:r>
            <a:r>
              <a:rPr lang="en-US" altLang="en-US" sz="2000" dirty="0"/>
              <a:t> (R)) = </a:t>
            </a:r>
            <a:r>
              <a:rPr lang="en-US" altLang="en-US" sz="2000" dirty="0">
                <a:latin typeface="Symbol" panose="05050102010706020507" pitchFamily="18" charset="2"/>
              </a:rPr>
              <a:t></a:t>
            </a:r>
            <a:r>
              <a:rPr lang="en-US" altLang="en-US" sz="2000" dirty="0"/>
              <a:t> </a:t>
            </a:r>
            <a:r>
              <a:rPr lang="en-US" altLang="en-US" sz="2100" baseline="-25000" dirty="0"/>
              <a:t>&lt;condition2&gt;</a:t>
            </a:r>
            <a:r>
              <a:rPr lang="en-US" altLang="en-US" sz="2000" dirty="0"/>
              <a:t> (</a:t>
            </a:r>
            <a:r>
              <a:rPr lang="en-US" altLang="en-US" sz="2000" dirty="0">
                <a:latin typeface="Symbol" panose="05050102010706020507" pitchFamily="18" charset="2"/>
              </a:rPr>
              <a:t></a:t>
            </a:r>
            <a:r>
              <a:rPr lang="en-US" altLang="en-US" sz="2000" dirty="0"/>
              <a:t> </a:t>
            </a:r>
            <a:r>
              <a:rPr lang="en-US" altLang="en-US" sz="2100" baseline="-25000" dirty="0"/>
              <a:t>&lt; condition1&gt;</a:t>
            </a:r>
            <a:r>
              <a:rPr lang="en-US" altLang="en-US" sz="2000" dirty="0"/>
              <a:t> (R))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100" dirty="0"/>
              <a:t>Because of commutativity property, a cascade (sequence) of SELECT operations may be applied in any order: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sz="2000" dirty="0">
                <a:latin typeface="Symbol" panose="05050102010706020507" pitchFamily="18" charset="2"/>
              </a:rPr>
              <a:t></a:t>
            </a:r>
            <a:r>
              <a:rPr lang="en-US" altLang="en-US" sz="2000" baseline="-25000" dirty="0"/>
              <a:t>&lt;cond1&gt;</a:t>
            </a:r>
            <a:r>
              <a:rPr lang="en-US" altLang="en-US" sz="2000" dirty="0"/>
              <a:t>(</a:t>
            </a:r>
            <a:r>
              <a:rPr lang="en-US" altLang="en-US" sz="2000" dirty="0">
                <a:latin typeface="Symbol" panose="05050102010706020507" pitchFamily="18" charset="2"/>
              </a:rPr>
              <a:t></a:t>
            </a:r>
            <a:r>
              <a:rPr lang="en-US" altLang="en-US" sz="2000" baseline="-25000" dirty="0"/>
              <a:t>&lt;cond2&gt;</a:t>
            </a:r>
            <a:r>
              <a:rPr lang="en-US" altLang="en-US" sz="2000" dirty="0"/>
              <a:t> (</a:t>
            </a:r>
            <a:r>
              <a:rPr lang="en-US" altLang="en-US" sz="2000" dirty="0">
                <a:latin typeface="Symbol" panose="05050102010706020507" pitchFamily="18" charset="2"/>
              </a:rPr>
              <a:t></a:t>
            </a:r>
            <a:r>
              <a:rPr lang="en-US" altLang="en-US" sz="2000" baseline="-25000" dirty="0"/>
              <a:t>&lt;cond3&gt;</a:t>
            </a:r>
            <a:r>
              <a:rPr lang="en-US" altLang="en-US" sz="2000" dirty="0"/>
              <a:t> (R)) = </a:t>
            </a:r>
            <a:r>
              <a:rPr lang="en-US" altLang="en-US" sz="2000" dirty="0">
                <a:latin typeface="Symbol" panose="05050102010706020507" pitchFamily="18" charset="2"/>
              </a:rPr>
              <a:t></a:t>
            </a:r>
            <a:r>
              <a:rPr lang="en-US" altLang="en-US" sz="2000" baseline="-25000" dirty="0"/>
              <a:t>&lt;cond2&gt;</a:t>
            </a:r>
            <a:r>
              <a:rPr lang="en-US" altLang="en-US" sz="2000" dirty="0"/>
              <a:t> (</a:t>
            </a:r>
            <a:r>
              <a:rPr lang="en-US" altLang="en-US" sz="2000" dirty="0">
                <a:latin typeface="Symbol" panose="05050102010706020507" pitchFamily="18" charset="2"/>
              </a:rPr>
              <a:t></a:t>
            </a:r>
            <a:r>
              <a:rPr lang="en-US" altLang="en-US" sz="2000" baseline="-25000" dirty="0"/>
              <a:t>&lt;cond3&gt;</a:t>
            </a:r>
            <a:r>
              <a:rPr lang="en-US" altLang="en-US" sz="2000" dirty="0"/>
              <a:t> (</a:t>
            </a:r>
            <a:r>
              <a:rPr lang="en-US" altLang="en-US" sz="2000" dirty="0">
                <a:latin typeface="Symbol" panose="05050102010706020507" pitchFamily="18" charset="2"/>
              </a:rPr>
              <a:t></a:t>
            </a:r>
            <a:r>
              <a:rPr lang="en-US" altLang="en-US" sz="2000" baseline="-25000" dirty="0"/>
              <a:t>&lt;cond1&gt;</a:t>
            </a:r>
            <a:r>
              <a:rPr lang="en-US" altLang="en-US" sz="2000" dirty="0"/>
              <a:t> ( R)))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100" dirty="0"/>
              <a:t>A cascade of SELECT operations may be replaced by a single selection with a conjunction of all the conditions: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sz="2000" dirty="0">
                <a:latin typeface="Symbol" panose="05050102010706020507" pitchFamily="18" charset="2"/>
              </a:rPr>
              <a:t></a:t>
            </a:r>
            <a:r>
              <a:rPr lang="en-US" altLang="en-US" sz="2000" baseline="-25000" dirty="0"/>
              <a:t>&lt;cond1&gt;</a:t>
            </a:r>
            <a:r>
              <a:rPr lang="en-US" altLang="en-US" sz="2000" dirty="0"/>
              <a:t>(</a:t>
            </a:r>
            <a:r>
              <a:rPr lang="en-US" altLang="en-US" sz="2000" dirty="0">
                <a:latin typeface="Symbol" panose="05050102010706020507" pitchFamily="18" charset="2"/>
              </a:rPr>
              <a:t></a:t>
            </a:r>
            <a:r>
              <a:rPr lang="en-US" altLang="en-US" sz="2000" baseline="-25000" dirty="0"/>
              <a:t>&lt; cond2&gt;</a:t>
            </a:r>
            <a:r>
              <a:rPr lang="en-US" altLang="en-US" sz="2000" dirty="0"/>
              <a:t> (</a:t>
            </a:r>
            <a:r>
              <a:rPr lang="en-US" altLang="en-US" sz="2000" dirty="0">
                <a:latin typeface="Symbol" panose="05050102010706020507" pitchFamily="18" charset="2"/>
              </a:rPr>
              <a:t></a:t>
            </a:r>
            <a:r>
              <a:rPr lang="en-US" altLang="en-US" sz="2000" baseline="-25000" dirty="0"/>
              <a:t>&lt;cond3&gt;</a:t>
            </a:r>
            <a:r>
              <a:rPr lang="en-US" altLang="en-US" sz="2000" dirty="0"/>
              <a:t>(R)) = </a:t>
            </a:r>
            <a:r>
              <a:rPr lang="en-US" altLang="en-US" sz="2000" dirty="0">
                <a:latin typeface="Symbol" panose="05050102010706020507" pitchFamily="18" charset="2"/>
              </a:rPr>
              <a:t></a:t>
            </a:r>
            <a:r>
              <a:rPr lang="en-US" altLang="en-US" sz="2000" baseline="-25000" dirty="0"/>
              <a:t> &lt;cond1&gt; AND &lt; cond2&gt; AND &lt; cond3&gt;</a:t>
            </a:r>
            <a:r>
              <a:rPr lang="en-US" altLang="en-US" sz="2000" dirty="0"/>
              <a:t>(R)))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200" dirty="0"/>
              <a:t>The number of tuples in the result of a SELECT is less than (or equal to) the number of tuples in the input relation R</a:t>
            </a:r>
          </a:p>
          <a:p>
            <a:pPr lvl="1" eaLnBrk="1" hangingPunct="1">
              <a:lnSpc>
                <a:spcPct val="80000"/>
              </a:lnSpc>
            </a:pPr>
            <a:endParaRPr lang="en-US" altLang="en-US" sz="2100" dirty="0"/>
          </a:p>
          <a:p>
            <a:pPr lvl="2" eaLnBrk="1" hangingPunct="1">
              <a:lnSpc>
                <a:spcPct val="80000"/>
              </a:lnSpc>
            </a:pPr>
            <a:endParaRPr lang="en-US" altLang="en-US" sz="2000" dirty="0"/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Number Placeholder 3">
            <a:extLst>
              <a:ext uri="{FF2B5EF4-FFF2-40B4-BE49-F238E27FC236}">
                <a16:creationId xmlns:a16="http://schemas.microsoft.com/office/drawing/2014/main" id="{092F8D59-66EC-45B6-B20A-BFF6DFC6ED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solidFill>
                  <a:srgbClr val="990033"/>
                </a:solidFill>
              </a:rPr>
              <a:t>Slide 6- </a:t>
            </a:r>
            <a:fld id="{3750FEAC-9836-47D3-A650-44895D95B442}" type="slidenum">
              <a:rPr lang="en-US" altLang="en-US" sz="1400">
                <a:solidFill>
                  <a:srgbClr val="990033"/>
                </a:solidFill>
              </a:rPr>
              <a:pPr eaLnBrk="1" hangingPunct="1"/>
              <a:t>16</a:t>
            </a:fld>
            <a:endParaRPr lang="en-CA" altLang="en-US" sz="1400">
              <a:solidFill>
                <a:srgbClr val="990033"/>
              </a:solidFill>
            </a:endParaRPr>
          </a:p>
        </p:txBody>
      </p:sp>
      <p:sp>
        <p:nvSpPr>
          <p:cNvPr id="15363" name="Rectangle 4">
            <a:extLst>
              <a:ext uri="{FF2B5EF4-FFF2-40B4-BE49-F238E27FC236}">
                <a16:creationId xmlns:a16="http://schemas.microsoft.com/office/drawing/2014/main" id="{836DBC25-7C89-4378-BF88-CACBCAD112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sz="3200"/>
              <a:t>Unary Relational Operations: PROJECT</a:t>
            </a:r>
          </a:p>
        </p:txBody>
      </p:sp>
      <p:sp>
        <p:nvSpPr>
          <p:cNvPr id="15364" name="Rectangle 5">
            <a:extLst>
              <a:ext uri="{FF2B5EF4-FFF2-40B4-BE49-F238E27FC236}">
                <a16:creationId xmlns:a16="http://schemas.microsoft.com/office/drawing/2014/main" id="{ECF53CF9-A9CB-4BC6-9875-EEAB868096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/>
              <a:t>PROJECT Operation is denoted by </a:t>
            </a:r>
            <a:r>
              <a:rPr lang="en-US" altLang="en-US" b="1" dirty="0">
                <a:latin typeface="Symbol" panose="05050102010706020507" pitchFamily="18" charset="2"/>
              </a:rPr>
              <a:t></a:t>
            </a:r>
            <a:r>
              <a:rPr lang="en-US" altLang="en-US" dirty="0">
                <a:latin typeface="Symbol" panose="05050102010706020507" pitchFamily="18" charset="2"/>
              </a:rPr>
              <a:t> </a:t>
            </a:r>
            <a:r>
              <a:rPr lang="en-US" altLang="en-US" dirty="0"/>
              <a:t>(pi)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This operation keeps certain </a:t>
            </a:r>
            <a:r>
              <a:rPr lang="en-US" altLang="en-US" i="1" dirty="0"/>
              <a:t>columns</a:t>
            </a:r>
            <a:r>
              <a:rPr lang="en-US" altLang="en-US" dirty="0"/>
              <a:t> (attributes) from a relation and discards the other columns.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PROJECT creates a vertical partitioning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dirty="0"/>
              <a:t>The list of specified columns (attributes) is kept in each tuple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dirty="0"/>
              <a:t>The other attributes in each tuple are discarded</a:t>
            </a:r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DD769-7ED2-4F1D-9932-883D7CD05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/>
              <a:t>Example: To list each employee’s first and last name and salary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A385FF-2C15-402C-B206-5008162D00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>
                <a:latin typeface="Symbol" panose="05050102010706020507" pitchFamily="18" charset="2"/>
              </a:rPr>
              <a:t></a:t>
            </a:r>
            <a:r>
              <a:rPr lang="en-US" altLang="en-US" baseline="-25000" dirty="0"/>
              <a:t>LNAME, FNAME,SALARY</a:t>
            </a:r>
            <a:r>
              <a:rPr lang="en-US" altLang="en-US" dirty="0"/>
              <a:t>(EMPLOYEE)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EFA824-1F2E-4AA4-9903-6B421CD904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Slide 6- </a:t>
            </a:r>
            <a:fld id="{FEB8EDCB-4292-4ED5-8B00-20E21538EECC}" type="slidenum">
              <a:rPr lang="en-US" altLang="en-US" smtClean="0"/>
              <a:pPr/>
              <a:t>17</a:t>
            </a:fld>
            <a:endParaRPr lang="en-CA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957E37-10A8-4A19-8306-7378B5A3AF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058" y="2209800"/>
            <a:ext cx="8096250" cy="5438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721804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Number Placeholder 3">
            <a:extLst>
              <a:ext uri="{FF2B5EF4-FFF2-40B4-BE49-F238E27FC236}">
                <a16:creationId xmlns:a16="http://schemas.microsoft.com/office/drawing/2014/main" id="{94122A36-DE79-4ECC-AD53-5A83E9012F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solidFill>
                  <a:srgbClr val="990033"/>
                </a:solidFill>
              </a:rPr>
              <a:t>Slide 6- </a:t>
            </a:r>
            <a:fld id="{FA2C7E3E-86F9-4A32-9BA2-24D4E6F41499}" type="slidenum">
              <a:rPr lang="en-US" altLang="en-US" sz="1400">
                <a:solidFill>
                  <a:srgbClr val="990033"/>
                </a:solidFill>
              </a:rPr>
              <a:pPr eaLnBrk="1" hangingPunct="1"/>
              <a:t>18</a:t>
            </a:fld>
            <a:endParaRPr lang="en-CA" altLang="en-US" sz="1400">
              <a:solidFill>
                <a:srgbClr val="990033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3AA31CFA-3BA3-4032-9238-E242A57364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sz="3200"/>
              <a:t>Unary Relational Operations: PROJECT (cont.)</a:t>
            </a: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F3687C13-07EF-40B7-ABB5-B9628E3485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endParaRPr lang="en-US" altLang="en-US" dirty="0"/>
          </a:p>
          <a:p>
            <a:pPr eaLnBrk="1" hangingPunct="1">
              <a:lnSpc>
                <a:spcPct val="80000"/>
              </a:lnSpc>
            </a:pPr>
            <a:r>
              <a:rPr lang="en-US" altLang="en-US" dirty="0"/>
              <a:t>The general form of the </a:t>
            </a:r>
            <a:r>
              <a:rPr lang="en-US" altLang="en-US" i="1" dirty="0"/>
              <a:t>project</a:t>
            </a:r>
            <a:r>
              <a:rPr lang="en-US" altLang="en-US" dirty="0"/>
              <a:t> operation is:</a:t>
            </a:r>
          </a:p>
          <a:p>
            <a:pPr algn="ctr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dirty="0">
                <a:latin typeface="Symbol" panose="05050102010706020507" pitchFamily="18" charset="2"/>
              </a:rPr>
              <a:t></a:t>
            </a:r>
            <a:r>
              <a:rPr lang="en-US" altLang="en-US" baseline="-25000" dirty="0"/>
              <a:t>&lt;attribute list&gt;</a:t>
            </a:r>
            <a:r>
              <a:rPr lang="en-US" altLang="en-US" dirty="0"/>
              <a:t>(R)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>
                <a:latin typeface="Symbol" panose="05050102010706020507" pitchFamily="18" charset="2"/>
              </a:rPr>
              <a:t></a:t>
            </a:r>
            <a:r>
              <a:rPr lang="en-US" altLang="en-US" dirty="0"/>
              <a:t> (pi) is the symbol used to represent the </a:t>
            </a:r>
            <a:r>
              <a:rPr lang="en-US" altLang="en-US" i="1" dirty="0"/>
              <a:t>project</a:t>
            </a:r>
            <a:r>
              <a:rPr lang="en-US" altLang="en-US" dirty="0"/>
              <a:t> operation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&lt;attribute list&gt; is the desired list of attributes from relation R.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dirty="0"/>
              <a:t>The project operation </a:t>
            </a:r>
            <a:r>
              <a:rPr lang="en-US" altLang="en-US" i="1" dirty="0"/>
              <a:t>removes any duplicate tuples</a:t>
            </a:r>
            <a:endParaRPr lang="en-US" altLang="en-US" dirty="0"/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This is because the result of the </a:t>
            </a:r>
            <a:r>
              <a:rPr lang="en-US" altLang="en-US" i="1" dirty="0"/>
              <a:t>project</a:t>
            </a:r>
            <a:r>
              <a:rPr lang="en-US" altLang="en-US" dirty="0"/>
              <a:t> operation must be a </a:t>
            </a:r>
            <a:r>
              <a:rPr lang="en-US" altLang="en-US" i="1" dirty="0"/>
              <a:t>set of tuples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dirty="0"/>
              <a:t>Mathematical sets </a:t>
            </a:r>
            <a:r>
              <a:rPr lang="en-US" altLang="en-US" i="1" dirty="0"/>
              <a:t>do not allow</a:t>
            </a:r>
            <a:r>
              <a:rPr lang="en-US" altLang="en-US" dirty="0"/>
              <a:t> duplicate elements.</a:t>
            </a:r>
          </a:p>
          <a:p>
            <a:pPr eaLnBrk="1" hangingPunct="1">
              <a:lnSpc>
                <a:spcPct val="80000"/>
              </a:lnSpc>
            </a:pPr>
            <a:endParaRPr lang="en-US" altLang="en-US" dirty="0"/>
          </a:p>
          <a:p>
            <a:pPr eaLnBrk="1" hangingPunct="1">
              <a:lnSpc>
                <a:spcPct val="80000"/>
              </a:lnSpc>
            </a:pPr>
            <a:endParaRPr lang="en-US" altLang="en-US" dirty="0"/>
          </a:p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Number Placeholder 3">
            <a:extLst>
              <a:ext uri="{FF2B5EF4-FFF2-40B4-BE49-F238E27FC236}">
                <a16:creationId xmlns:a16="http://schemas.microsoft.com/office/drawing/2014/main" id="{4BC11F4C-181E-4293-B3EA-1FE7B9D7BD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solidFill>
                  <a:srgbClr val="990033"/>
                </a:solidFill>
              </a:rPr>
              <a:t>Slide 6- </a:t>
            </a:r>
            <a:fld id="{C0D85EAD-C187-4FDD-A782-48C77AD384A1}" type="slidenum">
              <a:rPr lang="en-US" altLang="en-US" sz="1400">
                <a:solidFill>
                  <a:srgbClr val="990033"/>
                </a:solidFill>
              </a:rPr>
              <a:pPr eaLnBrk="1" hangingPunct="1"/>
              <a:t>19</a:t>
            </a:fld>
            <a:endParaRPr lang="en-CA" altLang="en-US" sz="1400">
              <a:solidFill>
                <a:srgbClr val="990033"/>
              </a:solidFill>
            </a:endParaRPr>
          </a:p>
        </p:txBody>
      </p:sp>
      <p:sp>
        <p:nvSpPr>
          <p:cNvPr id="17411" name="Rectangle 4">
            <a:extLst>
              <a:ext uri="{FF2B5EF4-FFF2-40B4-BE49-F238E27FC236}">
                <a16:creationId xmlns:a16="http://schemas.microsoft.com/office/drawing/2014/main" id="{5BCBCFA8-1433-403D-82DB-B50E6FE57D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sz="3200"/>
              <a:t>Unary Relational Operations: PROJECT (contd.)</a:t>
            </a:r>
          </a:p>
        </p:txBody>
      </p:sp>
      <p:sp>
        <p:nvSpPr>
          <p:cNvPr id="17412" name="Rectangle 5">
            <a:extLst>
              <a:ext uri="{FF2B5EF4-FFF2-40B4-BE49-F238E27FC236}">
                <a16:creationId xmlns:a16="http://schemas.microsoft.com/office/drawing/2014/main" id="{03FEDCEA-46C2-468F-AD68-9607C6FA41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PROJECT Operation Properties</a:t>
            </a:r>
          </a:p>
          <a:p>
            <a:pPr lvl="1" eaLnBrk="1" hangingPunct="1"/>
            <a:r>
              <a:rPr lang="en-US" altLang="en-US" dirty="0"/>
              <a:t>The number of tuples in the result of projection </a:t>
            </a:r>
            <a:r>
              <a:rPr lang="en-US" altLang="en-US" dirty="0">
                <a:latin typeface="Symbol" panose="05050102010706020507" pitchFamily="18" charset="2"/>
              </a:rPr>
              <a:t></a:t>
            </a:r>
            <a:r>
              <a:rPr lang="en-US" altLang="en-US" baseline="-25000" dirty="0"/>
              <a:t>&lt;list&gt;</a:t>
            </a:r>
            <a:r>
              <a:rPr lang="en-US" altLang="en-US" dirty="0"/>
              <a:t>(R) is always less or equal to the number of tuples in R</a:t>
            </a:r>
          </a:p>
          <a:p>
            <a:pPr lvl="2" eaLnBrk="1" hangingPunct="1"/>
            <a:r>
              <a:rPr lang="en-US" altLang="en-US" dirty="0"/>
              <a:t>If the list of attributes includes a </a:t>
            </a:r>
            <a:r>
              <a:rPr lang="en-US" altLang="en-US" i="1" dirty="0"/>
              <a:t>key</a:t>
            </a:r>
            <a:r>
              <a:rPr lang="en-US" altLang="en-US" dirty="0"/>
              <a:t> of R, then the number of tuples in the result of PROJECT is </a:t>
            </a:r>
            <a:r>
              <a:rPr lang="en-US" altLang="en-US" i="1" dirty="0"/>
              <a:t>equal</a:t>
            </a:r>
            <a:r>
              <a:rPr lang="en-US" altLang="en-US" dirty="0"/>
              <a:t> to the number of tuples in R</a:t>
            </a:r>
          </a:p>
          <a:p>
            <a:pPr lvl="1" eaLnBrk="1" hangingPunct="1"/>
            <a:r>
              <a:rPr lang="en-US" altLang="en-US" dirty="0"/>
              <a:t>PROJECT is </a:t>
            </a:r>
            <a:r>
              <a:rPr lang="en-US" altLang="en-US" i="1" dirty="0"/>
              <a:t>not</a:t>
            </a:r>
            <a:r>
              <a:rPr lang="en-US" altLang="en-US" dirty="0"/>
              <a:t> commutative</a:t>
            </a:r>
          </a:p>
          <a:p>
            <a:pPr lvl="2" eaLnBrk="1" hangingPunct="1"/>
            <a:r>
              <a:rPr lang="en-US" altLang="en-US" dirty="0">
                <a:latin typeface="Symbol" panose="05050102010706020507" pitchFamily="18" charset="2"/>
              </a:rPr>
              <a:t></a:t>
            </a:r>
            <a:r>
              <a:rPr lang="en-US" altLang="en-US" dirty="0"/>
              <a:t> </a:t>
            </a:r>
            <a:r>
              <a:rPr lang="en-US" altLang="en-US" baseline="-25000" dirty="0"/>
              <a:t>&lt;list1&gt;</a:t>
            </a:r>
            <a:r>
              <a:rPr lang="en-US" altLang="en-US" dirty="0"/>
              <a:t> (</a:t>
            </a:r>
            <a:r>
              <a:rPr lang="en-US" altLang="en-US" dirty="0">
                <a:latin typeface="Symbol" panose="05050102010706020507" pitchFamily="18" charset="2"/>
              </a:rPr>
              <a:t></a:t>
            </a:r>
            <a:r>
              <a:rPr lang="en-US" altLang="en-US" dirty="0"/>
              <a:t> </a:t>
            </a:r>
            <a:r>
              <a:rPr lang="en-US" altLang="en-US" baseline="-25000" dirty="0"/>
              <a:t>&lt;list2&gt;</a:t>
            </a:r>
            <a:r>
              <a:rPr lang="en-US" altLang="en-US" dirty="0"/>
              <a:t> (R) ) = </a:t>
            </a:r>
            <a:r>
              <a:rPr lang="en-US" altLang="en-US" dirty="0">
                <a:latin typeface="Symbol" panose="05050102010706020507" pitchFamily="18" charset="2"/>
              </a:rPr>
              <a:t></a:t>
            </a:r>
            <a:r>
              <a:rPr lang="en-US" altLang="en-US" dirty="0"/>
              <a:t> </a:t>
            </a:r>
            <a:r>
              <a:rPr lang="en-US" altLang="en-US" baseline="-25000" dirty="0"/>
              <a:t>&lt;list1&gt;</a:t>
            </a:r>
            <a:r>
              <a:rPr lang="en-US" altLang="en-US" dirty="0"/>
              <a:t> (R) as long as &lt;list2&gt; contains the attributes in &lt;list1&gt; </a:t>
            </a:r>
          </a:p>
        </p:txBody>
      </p:sp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2">
            <a:extLst>
              <a:ext uri="{FF2B5EF4-FFF2-40B4-BE49-F238E27FC236}">
                <a16:creationId xmlns:a16="http://schemas.microsoft.com/office/drawing/2014/main" id="{0E5C533B-0EE1-4F3E-999E-69418D1644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solidFill>
                  <a:srgbClr val="990033"/>
                </a:solidFill>
              </a:rPr>
              <a:t>Slide 6- </a:t>
            </a:r>
            <a:fld id="{7FB102D0-D820-46BD-AEA1-401F8B0183DC}" type="slidenum">
              <a:rPr lang="en-US" altLang="en-US" sz="1400">
                <a:solidFill>
                  <a:srgbClr val="990033"/>
                </a:solidFill>
              </a:rPr>
              <a:pPr eaLnBrk="1" hangingPunct="1"/>
              <a:t>20</a:t>
            </a:fld>
            <a:endParaRPr lang="en-CA" altLang="en-US" sz="1400">
              <a:solidFill>
                <a:srgbClr val="990033"/>
              </a:solidFill>
            </a:endParaRPr>
          </a:p>
        </p:txBody>
      </p:sp>
      <p:sp>
        <p:nvSpPr>
          <p:cNvPr id="18435" name="Rectangle 4">
            <a:extLst>
              <a:ext uri="{FF2B5EF4-FFF2-40B4-BE49-F238E27FC236}">
                <a16:creationId xmlns:a16="http://schemas.microsoft.com/office/drawing/2014/main" id="{A6691BD0-E7A6-4EE8-88A1-2FE737A815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sz="3200"/>
              <a:t>Examples of applying SELECT and PROJECT operations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D530CD9-EDF8-4E4F-8282-27FA14D302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2306" y="3740944"/>
            <a:ext cx="2085975" cy="4381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A3A0ECA-3306-4C18-929C-256F81822B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337" y="2097881"/>
            <a:ext cx="8315325" cy="372427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3">
            <a:extLst>
              <a:ext uri="{FF2B5EF4-FFF2-40B4-BE49-F238E27FC236}">
                <a16:creationId xmlns:a16="http://schemas.microsoft.com/office/drawing/2014/main" id="{A109DDA1-0772-4771-95D6-B3F03EDC97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solidFill>
                  <a:srgbClr val="990033"/>
                </a:solidFill>
              </a:rPr>
              <a:t>Slide 6- </a:t>
            </a:r>
            <a:fld id="{C7AE0749-815F-4747-AA90-267693B647C2}" type="slidenum">
              <a:rPr lang="en-US" altLang="en-US" sz="1400">
                <a:solidFill>
                  <a:srgbClr val="990033"/>
                </a:solidFill>
              </a:rPr>
              <a:pPr eaLnBrk="1" hangingPunct="1"/>
              <a:t>21</a:t>
            </a:fld>
            <a:endParaRPr lang="en-CA" altLang="en-US" sz="1400">
              <a:solidFill>
                <a:srgbClr val="990033"/>
              </a:solidFill>
            </a:endParaRPr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C52172F3-A63E-47AB-B621-87EFF099BE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Relational Algebra Expressions</a:t>
            </a:r>
          </a:p>
        </p:txBody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7DF03BFC-8B87-47A5-A5AE-DEF46DA8ED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We may want to apply several relational algebra operations one after the other</a:t>
            </a:r>
          </a:p>
          <a:p>
            <a:pPr lvl="1" eaLnBrk="1" hangingPunct="1"/>
            <a:r>
              <a:rPr lang="en-US" altLang="en-US"/>
              <a:t>Either we can write the operations as a single </a:t>
            </a:r>
            <a:r>
              <a:rPr lang="en-US" altLang="en-US" b="1"/>
              <a:t>relational algebra expression</a:t>
            </a:r>
            <a:r>
              <a:rPr lang="en-US" altLang="en-US"/>
              <a:t> by nesting the operations, or</a:t>
            </a:r>
          </a:p>
          <a:p>
            <a:pPr lvl="1" eaLnBrk="1" hangingPunct="1"/>
            <a:r>
              <a:rPr lang="en-US" altLang="en-US"/>
              <a:t>We can apply one operation at a time and create </a:t>
            </a:r>
            <a:r>
              <a:rPr lang="en-US" altLang="en-US" b="1"/>
              <a:t>intermediate result relations</a:t>
            </a:r>
            <a:r>
              <a:rPr lang="en-US" altLang="en-US"/>
              <a:t>.</a:t>
            </a:r>
          </a:p>
          <a:p>
            <a:pPr eaLnBrk="1" hangingPunct="1"/>
            <a:r>
              <a:rPr lang="en-US" altLang="en-US" sz="3000"/>
              <a:t>In the latter case, we must give names to the relations that hold the intermediate results. </a:t>
            </a:r>
            <a:r>
              <a:rPr lang="en-US" altLang="en-US" sz="3100"/>
              <a:t>	</a:t>
            </a:r>
          </a:p>
        </p:txBody>
      </p:sp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Number Placeholder 3">
            <a:extLst>
              <a:ext uri="{FF2B5EF4-FFF2-40B4-BE49-F238E27FC236}">
                <a16:creationId xmlns:a16="http://schemas.microsoft.com/office/drawing/2014/main" id="{9595E0A0-039E-4D0F-B335-56FE4E55BA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solidFill>
                  <a:srgbClr val="990033"/>
                </a:solidFill>
              </a:rPr>
              <a:t>Slide 6- </a:t>
            </a:r>
            <a:fld id="{0BB2E74C-1D22-42CA-AA73-5128DF46891E}" type="slidenum">
              <a:rPr lang="en-US" altLang="en-US" sz="1400">
                <a:solidFill>
                  <a:srgbClr val="990033"/>
                </a:solidFill>
              </a:rPr>
              <a:pPr eaLnBrk="1" hangingPunct="1"/>
              <a:t>22</a:t>
            </a:fld>
            <a:endParaRPr lang="en-CA" altLang="en-US" sz="1400">
              <a:solidFill>
                <a:srgbClr val="990033"/>
              </a:solidFill>
            </a:endParaRPr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A75BE47A-6ADA-4E8F-81FD-F2E6805068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sz="3200"/>
              <a:t>Single expression versus sequence of relational operations (Example)</a:t>
            </a:r>
          </a:p>
        </p:txBody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B399719A-1FA9-46BF-A56A-C47420346D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400" dirty="0"/>
              <a:t>To retrieve the first name, last name, and salary of all employees who work in department number 5, we must apply a select and a project operation</a:t>
            </a:r>
          </a:p>
          <a:p>
            <a:pPr eaLnBrk="1" hangingPunct="1"/>
            <a:r>
              <a:rPr lang="en-US" altLang="en-US" sz="2400" dirty="0"/>
              <a:t>We can write a </a:t>
            </a:r>
            <a:r>
              <a:rPr lang="en-US" altLang="en-US" sz="2400" i="1" dirty="0">
                <a:solidFill>
                  <a:srgbClr val="FF0000"/>
                </a:solidFill>
              </a:rPr>
              <a:t>single</a:t>
            </a:r>
            <a:r>
              <a:rPr lang="en-US" altLang="en-US" sz="2400" i="1" dirty="0"/>
              <a:t> relational algebra expression</a:t>
            </a:r>
            <a:r>
              <a:rPr lang="en-US" altLang="en-US" sz="2400" dirty="0"/>
              <a:t> as follows: </a:t>
            </a:r>
          </a:p>
          <a:p>
            <a:pPr lvl="1" eaLnBrk="1" hangingPunct="1"/>
            <a:r>
              <a:rPr lang="en-US" altLang="en-US" sz="2800" b="1" dirty="0">
                <a:latin typeface="Symbol" panose="05050102010706020507" pitchFamily="18" charset="2"/>
              </a:rPr>
              <a:t></a:t>
            </a:r>
            <a:r>
              <a:rPr lang="en-US" altLang="en-US" sz="2800" baseline="-25000" dirty="0"/>
              <a:t>FNAME, LNAME, SALARY</a:t>
            </a:r>
            <a:r>
              <a:rPr lang="en-US" altLang="en-US" sz="2400" dirty="0"/>
              <a:t>(</a:t>
            </a:r>
            <a:r>
              <a:rPr lang="en-US" altLang="en-US" sz="2400" b="1" dirty="0">
                <a:latin typeface="Symbol" panose="05050102010706020507" pitchFamily="18" charset="2"/>
              </a:rPr>
              <a:t></a:t>
            </a:r>
            <a:r>
              <a:rPr lang="en-US" altLang="en-US" sz="2400" dirty="0"/>
              <a:t> </a:t>
            </a:r>
            <a:r>
              <a:rPr lang="en-US" altLang="en-US" sz="2400" baseline="-25000" dirty="0"/>
              <a:t>DNO=5</a:t>
            </a:r>
            <a:r>
              <a:rPr lang="en-US" altLang="en-US" sz="2400" dirty="0"/>
              <a:t>(EMPLOYEE))</a:t>
            </a:r>
          </a:p>
          <a:p>
            <a:pPr eaLnBrk="1" hangingPunct="1"/>
            <a:r>
              <a:rPr lang="en-US" altLang="en-US" sz="2400" u="sng" dirty="0"/>
              <a:t>OR</a:t>
            </a:r>
            <a:r>
              <a:rPr lang="en-US" altLang="en-US" sz="2400" dirty="0"/>
              <a:t> We can explicitly show the </a:t>
            </a:r>
            <a:r>
              <a:rPr lang="en-US" altLang="en-US" sz="2400" i="1" dirty="0">
                <a:solidFill>
                  <a:srgbClr val="FF0000"/>
                </a:solidFill>
              </a:rPr>
              <a:t>sequence of operations</a:t>
            </a:r>
            <a:r>
              <a:rPr lang="en-US" altLang="en-US" sz="2400" dirty="0"/>
              <a:t>, giving a name to each intermediate relation:</a:t>
            </a:r>
          </a:p>
          <a:p>
            <a:pPr lvl="1" eaLnBrk="1" hangingPunct="1"/>
            <a:r>
              <a:rPr lang="en-US" altLang="en-US" sz="2400" dirty="0"/>
              <a:t>DEP5_EMPS </a:t>
            </a:r>
            <a:r>
              <a:rPr lang="en-US" altLang="en-US" sz="2400" dirty="0">
                <a:sym typeface="Symbol" panose="05050102010706020507" pitchFamily="18" charset="2"/>
              </a:rPr>
              <a:t> </a:t>
            </a:r>
            <a:r>
              <a:rPr lang="en-US" altLang="en-US" sz="2400" b="1" dirty="0">
                <a:latin typeface="Symbol" panose="05050102010706020507" pitchFamily="18" charset="2"/>
              </a:rPr>
              <a:t></a:t>
            </a:r>
            <a:r>
              <a:rPr lang="en-US" altLang="en-US" sz="2400" dirty="0"/>
              <a:t> </a:t>
            </a:r>
            <a:r>
              <a:rPr lang="en-US" altLang="en-US" sz="2400" baseline="-25000" dirty="0"/>
              <a:t>DNO=5</a:t>
            </a:r>
            <a:r>
              <a:rPr lang="en-US" altLang="en-US" sz="2400" dirty="0"/>
              <a:t>(EMPLOYEE)</a:t>
            </a:r>
          </a:p>
          <a:p>
            <a:pPr lvl="1" eaLnBrk="1" hangingPunct="1"/>
            <a:r>
              <a:rPr lang="en-US" altLang="en-US" sz="2400" dirty="0"/>
              <a:t>RESULT </a:t>
            </a:r>
            <a:r>
              <a:rPr lang="en-US" altLang="en-US" sz="2400" dirty="0">
                <a:sym typeface="Symbol" panose="05050102010706020507" pitchFamily="18" charset="2"/>
              </a:rPr>
              <a:t> </a:t>
            </a:r>
            <a:r>
              <a:rPr lang="en-US" altLang="en-US" sz="2400" b="1" dirty="0">
                <a:latin typeface="Symbol" panose="05050102010706020507" pitchFamily="18" charset="2"/>
              </a:rPr>
              <a:t></a:t>
            </a:r>
            <a:r>
              <a:rPr lang="en-US" altLang="en-US" sz="2400" dirty="0"/>
              <a:t> </a:t>
            </a:r>
            <a:r>
              <a:rPr lang="en-US" altLang="en-US" sz="2400" baseline="-25000" dirty="0"/>
              <a:t>FNAME, LNAME, SALARY</a:t>
            </a:r>
            <a:r>
              <a:rPr lang="en-US" altLang="en-US" sz="2400" dirty="0"/>
              <a:t> (DEP5_EMPS)	</a:t>
            </a:r>
          </a:p>
        </p:txBody>
      </p:sp>
      <p:sp>
        <p:nvSpPr>
          <p:cNvPr id="20485" name="Rectangle 4">
            <a:extLst>
              <a:ext uri="{FF2B5EF4-FFF2-40B4-BE49-F238E27FC236}">
                <a16:creationId xmlns:a16="http://schemas.microsoft.com/office/drawing/2014/main" id="{272F6A20-D0D6-4FC4-9DE2-12C69B1B33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4914900"/>
            <a:ext cx="2057400" cy="381000"/>
          </a:xfrm>
          <a:prstGeom prst="rect">
            <a:avLst/>
          </a:prstGeom>
          <a:solidFill>
            <a:srgbClr val="FFFF00">
              <a:alpha val="25098"/>
            </a:srgbClr>
          </a:solidFill>
          <a:ln w="9525">
            <a:solidFill>
              <a:srgbClr val="008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 dirty="0"/>
          </a:p>
        </p:txBody>
      </p:sp>
      <p:sp>
        <p:nvSpPr>
          <p:cNvPr id="20486" name="Rectangle 5">
            <a:extLst>
              <a:ext uri="{FF2B5EF4-FFF2-40B4-BE49-F238E27FC236}">
                <a16:creationId xmlns:a16="http://schemas.microsoft.com/office/drawing/2014/main" id="{863442CF-74B0-4C3C-8B75-88DD525592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92763" y="5295900"/>
            <a:ext cx="1951037" cy="419100"/>
          </a:xfrm>
          <a:prstGeom prst="rect">
            <a:avLst/>
          </a:prstGeom>
          <a:solidFill>
            <a:srgbClr val="FFFF00">
              <a:alpha val="25098"/>
            </a:srgbClr>
          </a:solidFill>
          <a:ln w="9525">
            <a:solidFill>
              <a:srgbClr val="008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  <p:transition spd="med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CA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CA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Designs\Blends.pot</Template>
  <TotalTime>4792</TotalTime>
  <Words>1333</Words>
  <Application>Microsoft Office PowerPoint</Application>
  <PresentationFormat>Letter Paper (8.5x11 in)</PresentationFormat>
  <Paragraphs>151</Paragraphs>
  <Slides>22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Symbol</vt:lpstr>
      <vt:lpstr>Tahoma</vt:lpstr>
      <vt:lpstr>Wingdings</vt:lpstr>
      <vt:lpstr>Blends</vt:lpstr>
      <vt:lpstr>PowerPoint Presentation</vt:lpstr>
      <vt:lpstr>Chapter 6</vt:lpstr>
      <vt:lpstr>Chapter Outline</vt:lpstr>
      <vt:lpstr>Relational Algebra Overview</vt:lpstr>
      <vt:lpstr>Relational Algebra Overview (continued)</vt:lpstr>
      <vt:lpstr>Relational Algebra Overview</vt:lpstr>
      <vt:lpstr>Database State for COMPANY</vt:lpstr>
      <vt:lpstr>PowerPoint Presentation</vt:lpstr>
      <vt:lpstr>Unary Relational Operations: SELECT</vt:lpstr>
      <vt:lpstr>PowerPoint Presentation</vt:lpstr>
      <vt:lpstr>PowerPoint Presentation</vt:lpstr>
      <vt:lpstr>Unary Relational Operations: SELECT</vt:lpstr>
      <vt:lpstr>Unary Relational Operations: SELECT- Example</vt:lpstr>
      <vt:lpstr>Unary Relational Operations: SELECT- Example</vt:lpstr>
      <vt:lpstr>Unary Relational Operations: SELECT (contd.)</vt:lpstr>
      <vt:lpstr>Unary Relational Operations: PROJECT</vt:lpstr>
      <vt:lpstr>Example: To list each employee’s first and last name and salary</vt:lpstr>
      <vt:lpstr>Unary Relational Operations: PROJECT (cont.)</vt:lpstr>
      <vt:lpstr>Unary Relational Operations: PROJECT (contd.)</vt:lpstr>
      <vt:lpstr>Examples of applying SELECT and PROJECT operations</vt:lpstr>
      <vt:lpstr>Relational Algebra Expressions</vt:lpstr>
      <vt:lpstr>Single expression versus sequence of relational operations (Example)</vt:lpstr>
    </vt:vector>
  </TitlesOfParts>
  <Company>Copyright © 2007 Ramez Elmasri and Shamkant B. Navathe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6</dc:title>
  <dc:subject>The Relational Algebra and Calculus</dc:subject>
  <dc:creator>Elmasri/Navathe</dc:creator>
  <cp:lastModifiedBy>Mahmoud Samad</cp:lastModifiedBy>
  <cp:revision>102</cp:revision>
  <cp:lastPrinted>2001-11-04T00:51:13Z</cp:lastPrinted>
  <dcterms:created xsi:type="dcterms:W3CDTF">2005-02-25T19:46:41Z</dcterms:created>
  <dcterms:modified xsi:type="dcterms:W3CDTF">2021-03-03T14:53:38Z</dcterms:modified>
</cp:coreProperties>
</file>